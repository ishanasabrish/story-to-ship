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F63"/>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5C518"/>
          </a:solidFill>
          <a:ln/>
        </p:spPr>
      </p:sp>
      <p:sp>
        <p:nvSpPr>
          <p:cNvPr id="3" name="Shape 1"/>
          <p:cNvSpPr/>
          <p:nvPr/>
        </p:nvSpPr>
        <p:spPr>
          <a:xfrm>
            <a:off x="0" y="6693408"/>
            <a:ext cx="12191695" cy="164592"/>
          </a:xfrm>
          <a:prstGeom prst="rect">
            <a:avLst/>
          </a:prstGeom>
          <a:solidFill>
            <a:srgbClr val="F5C518"/>
          </a:solidFill>
          <a:ln/>
        </p:spPr>
      </p:sp>
      <p:pic>
        <p:nvPicPr>
          <p:cNvPr id="4" name="Image 0" descr="/home/claude/ppt_nexus_style/assets/logopage-000.png">    </p:cNvPr>
          <p:cNvPicPr>
            <a:picLocks noChangeAspect="1"/>
          </p:cNvPicPr>
          <p:nvPr/>
        </p:nvPicPr>
        <p:blipFill>
          <a:blip r:embed="rId1"/>
          <a:stretch>
            <a:fillRect/>
          </a:stretch>
        </p:blipFill>
        <p:spPr>
          <a:xfrm>
            <a:off x="9692640" y="457200"/>
            <a:ext cx="1920240" cy="914400"/>
          </a:xfrm>
          <a:prstGeom prst="rect">
            <a:avLst/>
          </a:prstGeom>
        </p:spPr>
      </p:pic>
      <p:sp>
        <p:nvSpPr>
          <p:cNvPr id="5" name="Text 2"/>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300" b="1" spc="150" kern="0" dirty="0">
                <a:solidFill>
                  <a:srgbClr val="F5C518"/>
                </a:solidFill>
                <a:latin typeface="Calibri" pitchFamily="34" charset="0"/>
                <a:ea typeface="Calibri" pitchFamily="34" charset="-122"/>
                <a:cs typeface="Calibri" pitchFamily="34" charset="-120"/>
              </a:rPr>
              <a:t>RAJALAKSHMI ENGINEERING COLLEGE</a:t>
            </a:r>
            <a:endParaRPr lang="en-US" sz="1300" dirty="0"/>
          </a:p>
        </p:txBody>
      </p:sp>
      <p:sp>
        <p:nvSpPr>
          <p:cNvPr id="6" name="Text 3"/>
          <p:cNvSpPr txBox="1"/>
          <p:nvPr/>
        </p:nvSpPr>
        <p:spPr>
          <a:xfrm>
            <a:off x="640080" y="822960"/>
            <a:ext cx="7315200" cy="320040"/>
          </a:xfrm>
          <a:prstGeom prst="rect">
            <a:avLst/>
          </a:prstGeom>
          <a:noFill/>
          <a:ln/>
        </p:spPr>
        <p:txBody>
          <a:bodyPr wrap="square" lIns="0" tIns="0" rIns="0" bIns="0" rtlCol="0" anchor="ctr"/>
          <a:lstStyle/>
          <a:p>
            <a:pPr indent="0" marL="0">
              <a:buNone/>
            </a:pPr>
            <a:r>
              <a:rPr lang="en-US" sz="1200" dirty="0">
                <a:solidFill>
                  <a:srgbClr val="C9B8E0"/>
                </a:solidFill>
                <a:latin typeface="Calibri" pitchFamily="34" charset="0"/>
                <a:ea typeface="Calibri" pitchFamily="34" charset="-122"/>
                <a:cs typeface="Calibri" pitchFamily="34" charset="-120"/>
              </a:rPr>
              <a:t>Department of Artificial Intelligence and Machine Learning</a:t>
            </a:r>
            <a:endParaRPr lang="en-US" sz="1200" dirty="0"/>
          </a:p>
        </p:txBody>
      </p:sp>
      <p:sp>
        <p:nvSpPr>
          <p:cNvPr id="7" name="Shape 4"/>
          <p:cNvSpPr/>
          <p:nvPr/>
        </p:nvSpPr>
        <p:spPr>
          <a:xfrm>
            <a:off x="640080" y="1417320"/>
            <a:ext cx="3840480" cy="0"/>
          </a:xfrm>
          <a:prstGeom prst="line">
            <a:avLst/>
          </a:prstGeom>
          <a:noFill/>
          <a:ln w="38100">
            <a:solidFill>
              <a:srgbClr val="F5C518"/>
            </a:solidFill>
            <a:prstDash val="solid"/>
          </a:ln>
        </p:spPr>
      </p:sp>
      <p:sp>
        <p:nvSpPr>
          <p:cNvPr id="8" name="Text 5"/>
          <p:cNvSpPr txBox="1"/>
          <p:nvPr/>
        </p:nvSpPr>
        <p:spPr>
          <a:xfrm>
            <a:off x="640080" y="1691640"/>
            <a:ext cx="10058400" cy="365760"/>
          </a:xfrm>
          <a:prstGeom prst="rect">
            <a:avLst/>
          </a:prstGeom>
          <a:noFill/>
          <a:ln/>
        </p:spPr>
        <p:txBody>
          <a:bodyPr wrap="square" lIns="0" tIns="0" rIns="0" bIns="0" rtlCol="0" anchor="ctr"/>
          <a:lstStyle/>
          <a:p>
            <a:pPr indent="0" marL="0">
              <a:buNone/>
            </a:pPr>
            <a:r>
              <a:rPr lang="en-US" sz="1300" b="1" spc="200" kern="0" dirty="0">
                <a:solidFill>
                  <a:srgbClr val="F5C518"/>
                </a:solidFill>
                <a:latin typeface="Calibri" pitchFamily="34" charset="0"/>
                <a:ea typeface="Calibri" pitchFamily="34" charset="-122"/>
                <a:cs typeface="Calibri" pitchFamily="34" charset="-120"/>
              </a:rPr>
              <a:t>FINAL PROJECT REPORT  ·  AD23731 FOUNDATIONS OF AGENTIC AI</a:t>
            </a:r>
            <a:endParaRPr lang="en-US" sz="1300" dirty="0"/>
          </a:p>
        </p:txBody>
      </p:sp>
      <p:sp>
        <p:nvSpPr>
          <p:cNvPr id="9" name="Text 6"/>
          <p:cNvSpPr txBox="1"/>
          <p:nvPr/>
        </p:nvSpPr>
        <p:spPr>
          <a:xfrm>
            <a:off x="621792" y="2057400"/>
            <a:ext cx="10058400" cy="1188720"/>
          </a:xfrm>
          <a:prstGeom prst="rect">
            <a:avLst/>
          </a:prstGeom>
          <a:noFill/>
          <a:ln/>
        </p:spPr>
        <p:txBody>
          <a:bodyPr wrap="square" lIns="0" tIns="0" rIns="0" bIns="0"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AgentFlow</a:t>
            </a:r>
            <a:endParaRPr lang="en-US" sz="6200" dirty="0"/>
          </a:p>
        </p:txBody>
      </p:sp>
      <p:sp>
        <p:nvSpPr>
          <p:cNvPr id="10" name="Text 7"/>
          <p:cNvSpPr txBox="1"/>
          <p:nvPr/>
        </p:nvSpPr>
        <p:spPr>
          <a:xfrm>
            <a:off x="640080" y="3200400"/>
            <a:ext cx="8778240" cy="822960"/>
          </a:xfrm>
          <a:prstGeom prst="rect">
            <a:avLst/>
          </a:prstGeom>
          <a:noFill/>
          <a:ln/>
        </p:spPr>
        <p:txBody>
          <a:bodyPr wrap="square" lIns="0" tIns="0" rIns="0" bIns="0" rtlCol="0" anchor="ctr"/>
          <a:lstStyle/>
          <a:p>
            <a:pPr indent="0" marL="0">
              <a:buNone/>
            </a:pPr>
            <a:r>
              <a:rPr lang="en-US" sz="1600" i="1" dirty="0">
                <a:solidFill>
                  <a:srgbClr val="D9CCEC"/>
                </a:solidFill>
                <a:latin typeface="Calibri" pitchFamily="34" charset="0"/>
                <a:ea typeface="Calibri" pitchFamily="34" charset="-122"/>
                <a:cs typeface="Calibri" pitchFamily="34" charset="-120"/>
              </a:rPr>
              <a:t>A Multi-Agent System that Runs a Feature Request Through the Software Development Lifecycle, with Human Approval at Every Gate</a:t>
            </a:r>
            <a:endParaRPr lang="en-US" sz="1600" dirty="0"/>
          </a:p>
        </p:txBody>
      </p:sp>
      <p:sp>
        <p:nvSpPr>
          <p:cNvPr id="11" name="Shape 8"/>
          <p:cNvSpPr/>
          <p:nvPr/>
        </p:nvSpPr>
        <p:spPr>
          <a:xfrm>
            <a:off x="640080" y="4297680"/>
            <a:ext cx="1371600" cy="868680"/>
          </a:xfrm>
          <a:prstGeom prst="roundRect">
            <a:avLst>
              <a:gd name="adj" fmla="val 12632"/>
            </a:avLst>
          </a:prstGeom>
          <a:solidFill>
            <a:srgbClr val="F5C518"/>
          </a:solidFill>
          <a:ln/>
          <a:effectLst>
            <a:outerShdw sx="100000" sy="100000" kx="0" ky="0" algn="bl" rotWithShape="0" blurRad="76200" dist="25400" dir="5400000">
              <a:srgbClr val="444444">
                <a:alpha val="18000"/>
              </a:srgbClr>
            </a:outerShdw>
          </a:effectLst>
        </p:spPr>
      </p:sp>
      <p:sp>
        <p:nvSpPr>
          <p:cNvPr id="12" name="Text 9"/>
          <p:cNvSpPr txBox="1"/>
          <p:nvPr/>
        </p:nvSpPr>
        <p:spPr>
          <a:xfrm>
            <a:off x="640080" y="4370832"/>
            <a:ext cx="1371600" cy="457200"/>
          </a:xfrm>
          <a:prstGeom prst="rect">
            <a:avLst/>
          </a:prstGeom>
          <a:noFill/>
          <a:ln/>
        </p:spPr>
        <p:txBody>
          <a:bodyPr wrap="square" lIns="0" tIns="0" rIns="0" bIns="0" rtlCol="0" anchor="ctr"/>
          <a:lstStyle/>
          <a:p>
            <a:pPr algn="ctr" indent="0" marL="0">
              <a:buNone/>
            </a:pPr>
            <a:r>
              <a:rPr lang="en-US" sz="1800" b="1" dirty="0">
                <a:solidFill>
                  <a:srgbClr val="3D1F63"/>
                </a:solidFill>
                <a:latin typeface="Calibri" pitchFamily="34" charset="0"/>
                <a:ea typeface="Calibri" pitchFamily="34" charset="-122"/>
                <a:cs typeface="Calibri" pitchFamily="34" charset="-120"/>
              </a:rPr>
              <a:t>RA</a:t>
            </a:r>
            <a:endParaRPr lang="en-US" sz="1800" dirty="0"/>
          </a:p>
        </p:txBody>
      </p:sp>
      <p:sp>
        <p:nvSpPr>
          <p:cNvPr id="13" name="Text 10"/>
          <p:cNvSpPr txBox="1"/>
          <p:nvPr/>
        </p:nvSpPr>
        <p:spPr>
          <a:xfrm>
            <a:off x="640080" y="4828032"/>
            <a:ext cx="1371600" cy="274320"/>
          </a:xfrm>
          <a:prstGeom prst="rect">
            <a:avLst/>
          </a:prstGeom>
          <a:noFill/>
          <a:ln/>
        </p:spPr>
        <p:txBody>
          <a:bodyPr wrap="square" lIns="0" tIns="0" rIns="0" bIns="0" rtlCol="0" anchor="ctr"/>
          <a:lstStyle/>
          <a:p>
            <a:pPr algn="ctr" indent="0" marL="0">
              <a:buNone/>
            </a:pPr>
            <a:r>
              <a:rPr lang="en-US" sz="950" b="1" dirty="0">
                <a:solidFill>
                  <a:srgbClr val="3D1F63"/>
                </a:solidFill>
                <a:latin typeface="Calibri" pitchFamily="34" charset="0"/>
                <a:ea typeface="Calibri" pitchFamily="34" charset="-122"/>
                <a:cs typeface="Calibri" pitchFamily="34" charset="-120"/>
              </a:rPr>
              <a:t>Requirement</a:t>
            </a:r>
            <a:endParaRPr lang="en-US" sz="950" dirty="0"/>
          </a:p>
        </p:txBody>
      </p:sp>
      <p:sp>
        <p:nvSpPr>
          <p:cNvPr id="14" name="Text 11"/>
          <p:cNvSpPr txBox="1"/>
          <p:nvPr/>
        </p:nvSpPr>
        <p:spPr>
          <a:xfrm>
            <a:off x="2011680" y="4480560"/>
            <a:ext cx="201168" cy="548640"/>
          </a:xfrm>
          <a:prstGeom prst="rect">
            <a:avLst/>
          </a:prstGeom>
          <a:noFill/>
          <a:ln/>
        </p:spPr>
        <p:txBody>
          <a:bodyPr wrap="square" lIns="0" tIns="0" rIns="0" bIns="0" rtlCol="0" anchor="ctr"/>
          <a:lstStyle/>
          <a:p>
            <a:pPr algn="ctr" indent="0" marL="0">
              <a:buNone/>
            </a:pPr>
            <a:r>
              <a:rPr lang="en-US" sz="1600" b="1" dirty="0">
                <a:solidFill>
                  <a:srgbClr val="F5C518"/>
                </a:solidFill>
                <a:latin typeface="Calibri" pitchFamily="34" charset="0"/>
                <a:ea typeface="Calibri" pitchFamily="34" charset="-122"/>
                <a:cs typeface="Calibri" pitchFamily="34" charset="-120"/>
              </a:rPr>
              <a:t>→</a:t>
            </a:r>
            <a:endParaRPr lang="en-US" sz="1600" dirty="0"/>
          </a:p>
        </p:txBody>
      </p:sp>
      <p:sp>
        <p:nvSpPr>
          <p:cNvPr id="15" name="Shape 12"/>
          <p:cNvSpPr/>
          <p:nvPr/>
        </p:nvSpPr>
        <p:spPr>
          <a:xfrm>
            <a:off x="2212848" y="4297680"/>
            <a:ext cx="1371600" cy="868680"/>
          </a:xfrm>
          <a:prstGeom prst="roundRect">
            <a:avLst>
              <a:gd name="adj" fmla="val 12632"/>
            </a:avLst>
          </a:prstGeom>
          <a:solidFill>
            <a:srgbClr val="FFFFFF"/>
          </a:solidFill>
          <a:ln/>
          <a:effectLst>
            <a:outerShdw sx="100000" sy="100000" kx="0" ky="0" algn="bl" rotWithShape="0" blurRad="967740000" dist="322580000" dir="324000000000">
              <a:srgbClr val="444444">
                <a:alpha val="1800000000"/>
              </a:srgbClr>
            </a:outerShdw>
          </a:effectLst>
        </p:spPr>
      </p:sp>
      <p:sp>
        <p:nvSpPr>
          <p:cNvPr id="16" name="Text 13"/>
          <p:cNvSpPr txBox="1"/>
          <p:nvPr/>
        </p:nvSpPr>
        <p:spPr>
          <a:xfrm>
            <a:off x="2212848" y="4370832"/>
            <a:ext cx="1371600" cy="457200"/>
          </a:xfrm>
          <a:prstGeom prst="rect">
            <a:avLst/>
          </a:prstGeom>
          <a:noFill/>
          <a:ln/>
        </p:spPr>
        <p:txBody>
          <a:bodyPr wrap="square" lIns="0" tIns="0" rIns="0" bIns="0" rtlCol="0" anchor="ctr"/>
          <a:lstStyle/>
          <a:p>
            <a:pPr algn="ctr" indent="0" marL="0">
              <a:buNone/>
            </a:pPr>
            <a:r>
              <a:rPr lang="en-US" sz="1800" b="1" dirty="0">
                <a:solidFill>
                  <a:srgbClr val="3D1F63"/>
                </a:solidFill>
                <a:latin typeface="Calibri" pitchFamily="34" charset="0"/>
                <a:ea typeface="Calibri" pitchFamily="34" charset="-122"/>
                <a:cs typeface="Calibri" pitchFamily="34" charset="-120"/>
              </a:rPr>
              <a:t>DA</a:t>
            </a:r>
            <a:endParaRPr lang="en-US" sz="1800" dirty="0"/>
          </a:p>
        </p:txBody>
      </p:sp>
      <p:sp>
        <p:nvSpPr>
          <p:cNvPr id="17" name="Text 14"/>
          <p:cNvSpPr txBox="1"/>
          <p:nvPr/>
        </p:nvSpPr>
        <p:spPr>
          <a:xfrm>
            <a:off x="2212848" y="4828032"/>
            <a:ext cx="1371600" cy="274320"/>
          </a:xfrm>
          <a:prstGeom prst="rect">
            <a:avLst/>
          </a:prstGeom>
          <a:noFill/>
          <a:ln/>
        </p:spPr>
        <p:txBody>
          <a:bodyPr wrap="square" lIns="0" tIns="0" rIns="0" bIns="0" rtlCol="0" anchor="ctr"/>
          <a:lstStyle/>
          <a:p>
            <a:pPr algn="ctr" indent="0" marL="0">
              <a:buNone/>
            </a:pPr>
            <a:r>
              <a:rPr lang="en-US" sz="950" b="1" dirty="0">
                <a:solidFill>
                  <a:srgbClr val="3D1F63"/>
                </a:solidFill>
                <a:latin typeface="Calibri" pitchFamily="34" charset="0"/>
                <a:ea typeface="Calibri" pitchFamily="34" charset="-122"/>
                <a:cs typeface="Calibri" pitchFamily="34" charset="-120"/>
              </a:rPr>
              <a:t>Design</a:t>
            </a:r>
            <a:endParaRPr lang="en-US" sz="950" dirty="0"/>
          </a:p>
        </p:txBody>
      </p:sp>
      <p:sp>
        <p:nvSpPr>
          <p:cNvPr id="18" name="Text 15"/>
          <p:cNvSpPr txBox="1"/>
          <p:nvPr/>
        </p:nvSpPr>
        <p:spPr>
          <a:xfrm>
            <a:off x="3584448" y="4480560"/>
            <a:ext cx="201168" cy="548640"/>
          </a:xfrm>
          <a:prstGeom prst="rect">
            <a:avLst/>
          </a:prstGeom>
          <a:noFill/>
          <a:ln/>
        </p:spPr>
        <p:txBody>
          <a:bodyPr wrap="square" lIns="0" tIns="0" rIns="0" bIns="0" rtlCol="0" anchor="ctr"/>
          <a:lstStyle/>
          <a:p>
            <a:pPr algn="ctr" indent="0" marL="0">
              <a:buNone/>
            </a:pPr>
            <a:r>
              <a:rPr lang="en-US" sz="1600" b="1" dirty="0">
                <a:solidFill>
                  <a:srgbClr val="F5C518"/>
                </a:solidFill>
                <a:latin typeface="Calibri" pitchFamily="34" charset="0"/>
                <a:ea typeface="Calibri" pitchFamily="34" charset="-122"/>
                <a:cs typeface="Calibri" pitchFamily="34" charset="-120"/>
              </a:rPr>
              <a:t>→</a:t>
            </a:r>
            <a:endParaRPr lang="en-US" sz="1600" dirty="0"/>
          </a:p>
        </p:txBody>
      </p:sp>
      <p:sp>
        <p:nvSpPr>
          <p:cNvPr id="19" name="Shape 16"/>
          <p:cNvSpPr/>
          <p:nvPr/>
        </p:nvSpPr>
        <p:spPr>
          <a:xfrm>
            <a:off x="3785616" y="4297680"/>
            <a:ext cx="1371600" cy="868680"/>
          </a:xfrm>
          <a:prstGeom prst="roundRect">
            <a:avLst>
              <a:gd name="adj" fmla="val 12632"/>
            </a:avLst>
          </a:prstGeom>
          <a:solidFill>
            <a:srgbClr val="F5C518"/>
          </a:solidFill>
          <a:ln/>
          <a:effectLst>
            <a:outerShdw sx="100000" sy="100000" kx="0" ky="0" algn="bl" rotWithShape="0" blurRad="12290298000000" dist="4096766000000" dir="19440000000000000">
              <a:srgbClr val="444444">
                <a:alpha val="180000000000000"/>
              </a:srgbClr>
            </a:outerShdw>
          </a:effectLst>
        </p:spPr>
      </p:sp>
      <p:sp>
        <p:nvSpPr>
          <p:cNvPr id="20" name="Text 17"/>
          <p:cNvSpPr txBox="1"/>
          <p:nvPr/>
        </p:nvSpPr>
        <p:spPr>
          <a:xfrm>
            <a:off x="3785616" y="4370832"/>
            <a:ext cx="1371600" cy="457200"/>
          </a:xfrm>
          <a:prstGeom prst="rect">
            <a:avLst/>
          </a:prstGeom>
          <a:noFill/>
          <a:ln/>
        </p:spPr>
        <p:txBody>
          <a:bodyPr wrap="square" lIns="0" tIns="0" rIns="0" bIns="0" rtlCol="0" anchor="ctr"/>
          <a:lstStyle/>
          <a:p>
            <a:pPr algn="ctr" indent="0" marL="0">
              <a:buNone/>
            </a:pPr>
            <a:r>
              <a:rPr lang="en-US" sz="1800" b="1" dirty="0">
                <a:solidFill>
                  <a:srgbClr val="3D1F63"/>
                </a:solidFill>
                <a:latin typeface="Calibri" pitchFamily="34" charset="0"/>
                <a:ea typeface="Calibri" pitchFamily="34" charset="-122"/>
                <a:cs typeface="Calibri" pitchFamily="34" charset="-120"/>
              </a:rPr>
              <a:t>CA</a:t>
            </a:r>
            <a:endParaRPr lang="en-US" sz="1800" dirty="0"/>
          </a:p>
        </p:txBody>
      </p:sp>
      <p:sp>
        <p:nvSpPr>
          <p:cNvPr id="21" name="Text 18"/>
          <p:cNvSpPr txBox="1"/>
          <p:nvPr/>
        </p:nvSpPr>
        <p:spPr>
          <a:xfrm>
            <a:off x="3785616" y="4828032"/>
            <a:ext cx="1371600" cy="274320"/>
          </a:xfrm>
          <a:prstGeom prst="rect">
            <a:avLst/>
          </a:prstGeom>
          <a:noFill/>
          <a:ln/>
        </p:spPr>
        <p:txBody>
          <a:bodyPr wrap="square" lIns="0" tIns="0" rIns="0" bIns="0" rtlCol="0" anchor="ctr"/>
          <a:lstStyle/>
          <a:p>
            <a:pPr algn="ctr" indent="0" marL="0">
              <a:buNone/>
            </a:pPr>
            <a:r>
              <a:rPr lang="en-US" sz="950" b="1" dirty="0">
                <a:solidFill>
                  <a:srgbClr val="3D1F63"/>
                </a:solidFill>
                <a:latin typeface="Calibri" pitchFamily="34" charset="0"/>
                <a:ea typeface="Calibri" pitchFamily="34" charset="-122"/>
                <a:cs typeface="Calibri" pitchFamily="34" charset="-120"/>
              </a:rPr>
              <a:t>Code</a:t>
            </a:r>
            <a:endParaRPr lang="en-US" sz="950" dirty="0"/>
          </a:p>
        </p:txBody>
      </p:sp>
      <p:sp>
        <p:nvSpPr>
          <p:cNvPr id="22" name="Text 19"/>
          <p:cNvSpPr txBox="1"/>
          <p:nvPr/>
        </p:nvSpPr>
        <p:spPr>
          <a:xfrm>
            <a:off x="5157216" y="4480560"/>
            <a:ext cx="201168" cy="548640"/>
          </a:xfrm>
          <a:prstGeom prst="rect">
            <a:avLst/>
          </a:prstGeom>
          <a:noFill/>
          <a:ln/>
        </p:spPr>
        <p:txBody>
          <a:bodyPr wrap="square" lIns="0" tIns="0" rIns="0" bIns="0" rtlCol="0" anchor="ctr"/>
          <a:lstStyle/>
          <a:p>
            <a:pPr algn="ctr" indent="0" marL="0">
              <a:buNone/>
            </a:pPr>
            <a:r>
              <a:rPr lang="en-US" sz="1600" b="1" dirty="0">
                <a:solidFill>
                  <a:srgbClr val="F5C518"/>
                </a:solidFill>
                <a:latin typeface="Calibri" pitchFamily="34" charset="0"/>
                <a:ea typeface="Calibri" pitchFamily="34" charset="-122"/>
                <a:cs typeface="Calibri" pitchFamily="34" charset="-120"/>
              </a:rPr>
              <a:t>→</a:t>
            </a:r>
            <a:endParaRPr lang="en-US" sz="1600" dirty="0"/>
          </a:p>
        </p:txBody>
      </p:sp>
      <p:sp>
        <p:nvSpPr>
          <p:cNvPr id="23" name="Shape 20"/>
          <p:cNvSpPr/>
          <p:nvPr/>
        </p:nvSpPr>
        <p:spPr>
          <a:xfrm>
            <a:off x="5358384" y="4297680"/>
            <a:ext cx="1371600" cy="868680"/>
          </a:xfrm>
          <a:prstGeom prst="roundRect">
            <a:avLst>
              <a:gd name="adj" fmla="val 12632"/>
            </a:avLst>
          </a:prstGeom>
          <a:solidFill>
            <a:srgbClr val="FFFFFF"/>
          </a:solidFill>
          <a:ln/>
          <a:effectLst>
            <a:outerShdw sx="100000" sy="100000" kx="0" ky="0" algn="bl" rotWithShape="0" blurRad="156086784600000000" dist="52028928200000000" dir="1.1664e+21">
              <a:srgbClr val="444444">
                <a:alpha val="18000000000000000000"/>
              </a:srgbClr>
            </a:outerShdw>
          </a:effectLst>
        </p:spPr>
      </p:sp>
      <p:sp>
        <p:nvSpPr>
          <p:cNvPr id="24" name="Text 21"/>
          <p:cNvSpPr txBox="1"/>
          <p:nvPr/>
        </p:nvSpPr>
        <p:spPr>
          <a:xfrm>
            <a:off x="5358384" y="4370832"/>
            <a:ext cx="1371600" cy="457200"/>
          </a:xfrm>
          <a:prstGeom prst="rect">
            <a:avLst/>
          </a:prstGeom>
          <a:noFill/>
          <a:ln/>
        </p:spPr>
        <p:txBody>
          <a:bodyPr wrap="square" lIns="0" tIns="0" rIns="0" bIns="0" rtlCol="0" anchor="ctr"/>
          <a:lstStyle/>
          <a:p>
            <a:pPr algn="ctr" indent="0" marL="0">
              <a:buNone/>
            </a:pPr>
            <a:r>
              <a:rPr lang="en-US" sz="1800" b="1" dirty="0">
                <a:solidFill>
                  <a:srgbClr val="3D1F63"/>
                </a:solidFill>
                <a:latin typeface="Calibri" pitchFamily="34" charset="0"/>
                <a:ea typeface="Calibri" pitchFamily="34" charset="-122"/>
                <a:cs typeface="Calibri" pitchFamily="34" charset="-120"/>
              </a:rPr>
              <a:t>TA</a:t>
            </a:r>
            <a:endParaRPr lang="en-US" sz="1800" dirty="0"/>
          </a:p>
        </p:txBody>
      </p:sp>
      <p:sp>
        <p:nvSpPr>
          <p:cNvPr id="25" name="Text 22"/>
          <p:cNvSpPr txBox="1"/>
          <p:nvPr/>
        </p:nvSpPr>
        <p:spPr>
          <a:xfrm>
            <a:off x="5358384" y="4828032"/>
            <a:ext cx="1371600" cy="274320"/>
          </a:xfrm>
          <a:prstGeom prst="rect">
            <a:avLst/>
          </a:prstGeom>
          <a:noFill/>
          <a:ln/>
        </p:spPr>
        <p:txBody>
          <a:bodyPr wrap="square" lIns="0" tIns="0" rIns="0" bIns="0" rtlCol="0" anchor="ctr"/>
          <a:lstStyle/>
          <a:p>
            <a:pPr algn="ctr" indent="0" marL="0">
              <a:buNone/>
            </a:pPr>
            <a:r>
              <a:rPr lang="en-US" sz="950" b="1" dirty="0">
                <a:solidFill>
                  <a:srgbClr val="3D1F63"/>
                </a:solidFill>
                <a:latin typeface="Calibri" pitchFamily="34" charset="0"/>
                <a:ea typeface="Calibri" pitchFamily="34" charset="-122"/>
                <a:cs typeface="Calibri" pitchFamily="34" charset="-120"/>
              </a:rPr>
              <a:t>Test</a:t>
            </a:r>
            <a:endParaRPr lang="en-US" sz="950" dirty="0"/>
          </a:p>
        </p:txBody>
      </p:sp>
      <p:sp>
        <p:nvSpPr>
          <p:cNvPr id="26" name="Text 23"/>
          <p:cNvSpPr txBox="1"/>
          <p:nvPr/>
        </p:nvSpPr>
        <p:spPr>
          <a:xfrm>
            <a:off x="6729984" y="4480560"/>
            <a:ext cx="201168" cy="548640"/>
          </a:xfrm>
          <a:prstGeom prst="rect">
            <a:avLst/>
          </a:prstGeom>
          <a:noFill/>
          <a:ln/>
        </p:spPr>
        <p:txBody>
          <a:bodyPr wrap="square" lIns="0" tIns="0" rIns="0" bIns="0" rtlCol="0" anchor="ctr"/>
          <a:lstStyle/>
          <a:p>
            <a:pPr algn="ctr" indent="0" marL="0">
              <a:buNone/>
            </a:pPr>
            <a:r>
              <a:rPr lang="en-US" sz="1600" b="1" dirty="0">
                <a:solidFill>
                  <a:srgbClr val="F5C518"/>
                </a:solidFill>
                <a:latin typeface="Calibri" pitchFamily="34" charset="0"/>
                <a:ea typeface="Calibri" pitchFamily="34" charset="-122"/>
                <a:cs typeface="Calibri" pitchFamily="34" charset="-120"/>
              </a:rPr>
              <a:t>→</a:t>
            </a:r>
            <a:endParaRPr lang="en-US" sz="1600" dirty="0"/>
          </a:p>
        </p:txBody>
      </p:sp>
      <p:sp>
        <p:nvSpPr>
          <p:cNvPr id="27" name="Shape 24"/>
          <p:cNvSpPr/>
          <p:nvPr/>
        </p:nvSpPr>
        <p:spPr>
          <a:xfrm>
            <a:off x="6931152" y="4297680"/>
            <a:ext cx="1371600" cy="868680"/>
          </a:xfrm>
          <a:prstGeom prst="roundRect">
            <a:avLst>
              <a:gd name="adj" fmla="val 12632"/>
            </a:avLst>
          </a:prstGeom>
          <a:solidFill>
            <a:srgbClr val="F5C518"/>
          </a:solidFill>
          <a:ln/>
          <a:effectLst>
            <a:outerShdw sx="100000" sy="100000" kx="0" ky="0" algn="bl" rotWithShape="0" blurRad="1.98230216442e+21" dist="660767388140000000000" dir="6.9984e+25">
              <a:srgbClr val="444444">
                <a:alpha val="1.8e+24"/>
              </a:srgbClr>
            </a:outerShdw>
          </a:effectLst>
        </p:spPr>
      </p:sp>
      <p:sp>
        <p:nvSpPr>
          <p:cNvPr id="28" name="Text 25"/>
          <p:cNvSpPr txBox="1"/>
          <p:nvPr/>
        </p:nvSpPr>
        <p:spPr>
          <a:xfrm>
            <a:off x="6931152" y="4370832"/>
            <a:ext cx="1371600" cy="457200"/>
          </a:xfrm>
          <a:prstGeom prst="rect">
            <a:avLst/>
          </a:prstGeom>
          <a:noFill/>
          <a:ln/>
        </p:spPr>
        <p:txBody>
          <a:bodyPr wrap="square" lIns="0" tIns="0" rIns="0" bIns="0" rtlCol="0" anchor="ctr"/>
          <a:lstStyle/>
          <a:p>
            <a:pPr algn="ctr" indent="0" marL="0">
              <a:buNone/>
            </a:pPr>
            <a:r>
              <a:rPr lang="en-US" sz="1800" b="1" dirty="0">
                <a:solidFill>
                  <a:srgbClr val="3D1F63"/>
                </a:solidFill>
                <a:latin typeface="Calibri" pitchFamily="34" charset="0"/>
                <a:ea typeface="Calibri" pitchFamily="34" charset="-122"/>
                <a:cs typeface="Calibri" pitchFamily="34" charset="-120"/>
              </a:rPr>
              <a:t>RV</a:t>
            </a:r>
            <a:endParaRPr lang="en-US" sz="1800" dirty="0"/>
          </a:p>
        </p:txBody>
      </p:sp>
      <p:sp>
        <p:nvSpPr>
          <p:cNvPr id="29" name="Text 26"/>
          <p:cNvSpPr txBox="1"/>
          <p:nvPr/>
        </p:nvSpPr>
        <p:spPr>
          <a:xfrm>
            <a:off x="6931152" y="4828032"/>
            <a:ext cx="1371600" cy="274320"/>
          </a:xfrm>
          <a:prstGeom prst="rect">
            <a:avLst/>
          </a:prstGeom>
          <a:noFill/>
          <a:ln/>
        </p:spPr>
        <p:txBody>
          <a:bodyPr wrap="square" lIns="0" tIns="0" rIns="0" bIns="0" rtlCol="0" anchor="ctr"/>
          <a:lstStyle/>
          <a:p>
            <a:pPr algn="ctr" indent="0" marL="0">
              <a:buNone/>
            </a:pPr>
            <a:r>
              <a:rPr lang="en-US" sz="950" b="1" dirty="0">
                <a:solidFill>
                  <a:srgbClr val="3D1F63"/>
                </a:solidFill>
                <a:latin typeface="Calibri" pitchFamily="34" charset="0"/>
                <a:ea typeface="Calibri" pitchFamily="34" charset="-122"/>
                <a:cs typeface="Calibri" pitchFamily="34" charset="-120"/>
              </a:rPr>
              <a:t>Review</a:t>
            </a:r>
            <a:endParaRPr lang="en-US" sz="950" dirty="0"/>
          </a:p>
        </p:txBody>
      </p:sp>
      <p:sp>
        <p:nvSpPr>
          <p:cNvPr id="30" name="Text 27"/>
          <p:cNvSpPr txBox="1"/>
          <p:nvPr/>
        </p:nvSpPr>
        <p:spPr>
          <a:xfrm>
            <a:off x="8302752" y="4480560"/>
            <a:ext cx="201168" cy="548640"/>
          </a:xfrm>
          <a:prstGeom prst="rect">
            <a:avLst/>
          </a:prstGeom>
          <a:noFill/>
          <a:ln/>
        </p:spPr>
        <p:txBody>
          <a:bodyPr wrap="square" lIns="0" tIns="0" rIns="0" bIns="0" rtlCol="0" anchor="ctr"/>
          <a:lstStyle/>
          <a:p>
            <a:pPr algn="ctr" indent="0" marL="0">
              <a:buNone/>
            </a:pPr>
            <a:r>
              <a:rPr lang="en-US" sz="1600" b="1" dirty="0">
                <a:solidFill>
                  <a:srgbClr val="F5C518"/>
                </a:solidFill>
                <a:latin typeface="Calibri" pitchFamily="34" charset="0"/>
                <a:ea typeface="Calibri" pitchFamily="34" charset="-122"/>
                <a:cs typeface="Calibri" pitchFamily="34" charset="-120"/>
              </a:rPr>
              <a:t>→</a:t>
            </a:r>
            <a:endParaRPr lang="en-US" sz="1600" dirty="0"/>
          </a:p>
        </p:txBody>
      </p:sp>
      <p:sp>
        <p:nvSpPr>
          <p:cNvPr id="31" name="Shape 28"/>
          <p:cNvSpPr/>
          <p:nvPr/>
        </p:nvSpPr>
        <p:spPr>
          <a:xfrm>
            <a:off x="8503920" y="4297680"/>
            <a:ext cx="1371600" cy="868680"/>
          </a:xfrm>
          <a:prstGeom prst="roundRect">
            <a:avLst>
              <a:gd name="adj" fmla="val 12632"/>
            </a:avLst>
          </a:prstGeom>
          <a:solidFill>
            <a:srgbClr val="FFFFFF"/>
          </a:solidFill>
          <a:ln/>
          <a:effectLst>
            <a:outerShdw sx="100000" sy="100000" kx="0" ky="0" algn="bl" rotWithShape="0" blurRad="2.5175237488134e+25" dist="8.391745829378e+24" dir="4.19904e+30">
              <a:srgbClr val="444444">
                <a:alpha val="1.8e+29"/>
              </a:srgbClr>
            </a:outerShdw>
          </a:effectLst>
        </p:spPr>
      </p:sp>
      <p:sp>
        <p:nvSpPr>
          <p:cNvPr id="32" name="Text 29"/>
          <p:cNvSpPr txBox="1"/>
          <p:nvPr/>
        </p:nvSpPr>
        <p:spPr>
          <a:xfrm>
            <a:off x="8503920" y="4370832"/>
            <a:ext cx="1371600" cy="457200"/>
          </a:xfrm>
          <a:prstGeom prst="rect">
            <a:avLst/>
          </a:prstGeom>
          <a:noFill/>
          <a:ln/>
        </p:spPr>
        <p:txBody>
          <a:bodyPr wrap="square" lIns="0" tIns="0" rIns="0" bIns="0" rtlCol="0" anchor="ctr"/>
          <a:lstStyle/>
          <a:p>
            <a:pPr algn="ctr" indent="0" marL="0">
              <a:buNone/>
            </a:pPr>
            <a:r>
              <a:rPr lang="en-US" sz="1800" b="1" dirty="0">
                <a:solidFill>
                  <a:srgbClr val="3D1F63"/>
                </a:solidFill>
                <a:latin typeface="Calibri" pitchFamily="34" charset="0"/>
                <a:ea typeface="Calibri" pitchFamily="34" charset="-122"/>
                <a:cs typeface="Calibri" pitchFamily="34" charset="-120"/>
              </a:rPr>
              <a:t>DO</a:t>
            </a:r>
            <a:endParaRPr lang="en-US" sz="1800" dirty="0"/>
          </a:p>
        </p:txBody>
      </p:sp>
      <p:sp>
        <p:nvSpPr>
          <p:cNvPr id="33" name="Text 30"/>
          <p:cNvSpPr txBox="1"/>
          <p:nvPr/>
        </p:nvSpPr>
        <p:spPr>
          <a:xfrm>
            <a:off x="8503920" y="4828032"/>
            <a:ext cx="1371600" cy="274320"/>
          </a:xfrm>
          <a:prstGeom prst="rect">
            <a:avLst/>
          </a:prstGeom>
          <a:noFill/>
          <a:ln/>
        </p:spPr>
        <p:txBody>
          <a:bodyPr wrap="square" lIns="0" tIns="0" rIns="0" bIns="0" rtlCol="0" anchor="ctr"/>
          <a:lstStyle/>
          <a:p>
            <a:pPr algn="ctr" indent="0" marL="0">
              <a:buNone/>
            </a:pPr>
            <a:r>
              <a:rPr lang="en-US" sz="950" b="1" dirty="0">
                <a:solidFill>
                  <a:srgbClr val="3D1F63"/>
                </a:solidFill>
                <a:latin typeface="Calibri" pitchFamily="34" charset="0"/>
                <a:ea typeface="Calibri" pitchFamily="34" charset="-122"/>
                <a:cs typeface="Calibri" pitchFamily="34" charset="-120"/>
              </a:rPr>
              <a:t>Deploy</a:t>
            </a:r>
            <a:endParaRPr lang="en-US" sz="950" dirty="0"/>
          </a:p>
        </p:txBody>
      </p:sp>
      <p:sp>
        <p:nvSpPr>
          <p:cNvPr id="34" name="Shape 31"/>
          <p:cNvSpPr/>
          <p:nvPr/>
        </p:nvSpPr>
        <p:spPr>
          <a:xfrm>
            <a:off x="640080" y="5486400"/>
            <a:ext cx="6675120" cy="960120"/>
          </a:xfrm>
          <a:prstGeom prst="roundRect">
            <a:avLst>
              <a:gd name="adj" fmla="val 9524"/>
            </a:avLst>
          </a:prstGeom>
          <a:solidFill>
            <a:srgbClr val="4A2873"/>
          </a:solidFill>
          <a:ln w="12700">
            <a:solidFill>
              <a:srgbClr val="E3DCEF"/>
            </a:solidFill>
            <a:prstDash val="solid"/>
          </a:ln>
        </p:spPr>
      </p:sp>
      <p:sp>
        <p:nvSpPr>
          <p:cNvPr id="35" name="Text 32"/>
          <p:cNvSpPr txBox="1"/>
          <p:nvPr/>
        </p:nvSpPr>
        <p:spPr>
          <a:xfrm>
            <a:off x="868680" y="5596128"/>
            <a:ext cx="45720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ISHANA SABRISH</a:t>
            </a:r>
            <a:endParaRPr lang="en-US" sz="1500" dirty="0"/>
          </a:p>
        </p:txBody>
      </p:sp>
      <p:sp>
        <p:nvSpPr>
          <p:cNvPr id="36" name="Text 33"/>
          <p:cNvSpPr txBox="1"/>
          <p:nvPr/>
        </p:nvSpPr>
        <p:spPr>
          <a:xfrm>
            <a:off x="868680" y="5943600"/>
            <a:ext cx="6217920" cy="365760"/>
          </a:xfrm>
          <a:prstGeom prst="rect">
            <a:avLst/>
          </a:prstGeom>
          <a:noFill/>
          <a:ln/>
        </p:spPr>
        <p:txBody>
          <a:bodyPr wrap="square" lIns="0" tIns="0" rIns="0" bIns="0" rtlCol="0" anchor="ctr"/>
          <a:lstStyle/>
          <a:p>
            <a:pPr indent="0" marL="0">
              <a:buNone/>
            </a:pPr>
            <a:r>
              <a:rPr lang="en-US" sz="1150" dirty="0">
                <a:solidFill>
                  <a:srgbClr val="D9CCEC"/>
                </a:solidFill>
                <a:latin typeface="Calibri" pitchFamily="34" charset="0"/>
                <a:ea typeface="Calibri" pitchFamily="34" charset="-122"/>
                <a:cs typeface="Calibri" pitchFamily="34" charset="-120"/>
              </a:rPr>
              <a:t>Register No. 231501063  ·  B.Tech Artificial Intelligence and Machine Learning</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320040"/>
            <a:ext cx="914400" cy="914400"/>
          </a:xfrm>
          <a:prstGeom prst="ellipse">
            <a:avLst/>
          </a:prstGeom>
          <a:solidFill>
            <a:srgbClr val="F5C518"/>
          </a:solidFill>
          <a:ln/>
        </p:spPr>
      </p:sp>
      <p:sp>
        <p:nvSpPr>
          <p:cNvPr id="3" name="Text 1"/>
          <p:cNvSpPr txBox="1"/>
          <p:nvPr/>
        </p:nvSpPr>
        <p:spPr>
          <a:xfrm>
            <a:off x="411480" y="320040"/>
            <a:ext cx="914400" cy="914400"/>
          </a:xfrm>
          <a:prstGeom prst="rect">
            <a:avLst/>
          </a:prstGeom>
          <a:noFill/>
          <a:ln/>
        </p:spPr>
        <p:txBody>
          <a:bodyPr wrap="square" lIns="0" tIns="0" rIns="0" bIns="0" rtlCol="0" anchor="ctr"/>
          <a:lstStyle/>
          <a:p>
            <a:pPr algn="ctr" indent="0" marL="0">
              <a:buNone/>
            </a:pPr>
            <a:r>
              <a:rPr lang="en-US" sz="3000" b="1" dirty="0">
                <a:solidFill>
                  <a:srgbClr val="1A1A1A"/>
                </a:solidFill>
                <a:latin typeface="Calibri" pitchFamily="34" charset="0"/>
                <a:ea typeface="Calibri" pitchFamily="34" charset="-122"/>
                <a:cs typeface="Calibri" pitchFamily="34" charset="-120"/>
              </a:rPr>
              <a:t>1</a:t>
            </a:r>
            <a:endParaRPr lang="en-US" sz="3000" dirty="0"/>
          </a:p>
        </p:txBody>
      </p:sp>
      <p:sp>
        <p:nvSpPr>
          <p:cNvPr id="4" name="Text 2"/>
          <p:cNvSpPr txBox="1"/>
          <p:nvPr/>
        </p:nvSpPr>
        <p:spPr>
          <a:xfrm>
            <a:off x="1508760" y="301752"/>
            <a:ext cx="8503920" cy="685800"/>
          </a:xfrm>
          <a:prstGeom prst="rect">
            <a:avLst/>
          </a:prstGeom>
          <a:noFill/>
          <a:ln/>
        </p:spPr>
        <p:txBody>
          <a:bodyPr wrap="square" lIns="0" tIns="0" rIns="0" bIns="0" rtlCol="0" anchor="ctr"/>
          <a:lstStyle/>
          <a:p>
            <a:pPr indent="0" marL="0">
              <a:buNone/>
            </a:pPr>
            <a:r>
              <a:rPr lang="en-US" sz="2800" b="1" dirty="0">
                <a:solidFill>
                  <a:srgbClr val="5B2D8E"/>
                </a:solidFill>
                <a:latin typeface="Cambria" pitchFamily="34" charset="0"/>
                <a:ea typeface="Cambria" pitchFamily="34" charset="-122"/>
                <a:cs typeface="Cambria" pitchFamily="34" charset="-120"/>
              </a:rPr>
              <a:t>INTRODUCTION</a:t>
            </a:r>
            <a:endParaRPr lang="en-US" sz="2800" dirty="0"/>
          </a:p>
        </p:txBody>
      </p:sp>
      <p:sp>
        <p:nvSpPr>
          <p:cNvPr id="5" name="Shape 3"/>
          <p:cNvSpPr/>
          <p:nvPr/>
        </p:nvSpPr>
        <p:spPr>
          <a:xfrm>
            <a:off x="1536192" y="987552"/>
            <a:ext cx="1920240" cy="0"/>
          </a:xfrm>
          <a:prstGeom prst="line">
            <a:avLst/>
          </a:prstGeom>
          <a:noFill/>
          <a:ln w="38100">
            <a:solidFill>
              <a:srgbClr val="F5C518"/>
            </a:solidFill>
            <a:prstDash val="solid"/>
          </a:ln>
        </p:spPr>
      </p:sp>
      <p:pic>
        <p:nvPicPr>
          <p:cNvPr id="6" name="Image 0" descr="/home/claude/ppt_nexus_style/assets/logopage-000.png">    </p:cNvPr>
          <p:cNvPicPr>
            <a:picLocks noChangeAspect="1"/>
          </p:cNvPicPr>
          <p:nvPr/>
        </p:nvPicPr>
        <p:blipFill>
          <a:blip r:embed="rId1"/>
          <a:stretch>
            <a:fillRect/>
          </a:stretch>
        </p:blipFill>
        <p:spPr>
          <a:xfrm>
            <a:off x="10149840" y="256032"/>
            <a:ext cx="1600200" cy="768096"/>
          </a:xfrm>
          <a:prstGeom prst="rect">
            <a:avLst/>
          </a:prstGeom>
        </p:spPr>
      </p:pic>
      <p:sp>
        <p:nvSpPr>
          <p:cNvPr id="7" name="Text 4"/>
          <p:cNvSpPr txBox="1"/>
          <p:nvPr/>
        </p:nvSpPr>
        <p:spPr>
          <a:xfrm>
            <a:off x="457200" y="6492240"/>
            <a:ext cx="2743200" cy="2743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Final review</a:t>
            </a:r>
            <a:endParaRPr lang="en-US" sz="1100" dirty="0"/>
          </a:p>
        </p:txBody>
      </p:sp>
      <p:sp>
        <p:nvSpPr>
          <p:cNvPr id="8" name="Text 5"/>
          <p:cNvSpPr txBox="1"/>
          <p:nvPr/>
        </p:nvSpPr>
        <p:spPr>
          <a:xfrm>
            <a:off x="6400800" y="6492240"/>
            <a:ext cx="5349240" cy="274320"/>
          </a:xfrm>
          <a:prstGeom prst="rect">
            <a:avLst/>
          </a:prstGeom>
          <a:noFill/>
          <a:ln/>
        </p:spPr>
        <p:txBody>
          <a:bodyPr wrap="square" lIns="0" tIns="0" rIns="0" bIns="0" rtlCol="0" anchor="ctr"/>
          <a:lstStyle/>
          <a:p>
            <a:pPr algn="r" indent="0" marL="0">
              <a:buNone/>
            </a:pPr>
            <a:r>
              <a:rPr lang="en-US" sz="1100" dirty="0">
                <a:solidFill>
                  <a:srgbClr val="1A1A1A"/>
                </a:solidFill>
                <a:latin typeface="Calibri" pitchFamily="34" charset="0"/>
                <a:ea typeface="Calibri" pitchFamily="34" charset="-122"/>
                <a:cs typeface="Calibri" pitchFamily="34" charset="-120"/>
              </a:rPr>
              <a:t>Department of Artificial Intelligence and Machine Learning</a:t>
            </a:r>
            <a:endParaRPr lang="en-US" sz="1100" dirty="0"/>
          </a:p>
        </p:txBody>
      </p:sp>
      <p:sp>
        <p:nvSpPr>
          <p:cNvPr id="9" name="Shape 6"/>
          <p:cNvSpPr/>
          <p:nvPr/>
        </p:nvSpPr>
        <p:spPr>
          <a:xfrm>
            <a:off x="548640" y="1600200"/>
            <a:ext cx="11064240" cy="4526280"/>
          </a:xfrm>
          <a:prstGeom prst="roundRect">
            <a:avLst>
              <a:gd name="adj" fmla="val 2020"/>
            </a:avLst>
          </a:prstGeom>
          <a:solidFill>
            <a:srgbClr val="F4F1F8"/>
          </a:solidFill>
          <a:ln w="12700">
            <a:solidFill>
              <a:srgbClr val="E3DCEF"/>
            </a:solidFill>
            <a:prstDash val="solid"/>
          </a:ln>
        </p:spPr>
      </p:sp>
      <p:sp>
        <p:nvSpPr>
          <p:cNvPr id="10" name="Shape 7"/>
          <p:cNvSpPr/>
          <p:nvPr/>
        </p:nvSpPr>
        <p:spPr>
          <a:xfrm>
            <a:off x="868680" y="1920240"/>
            <a:ext cx="10424160" cy="1828800"/>
          </a:xfrm>
          <a:prstGeom prst="roundRect">
            <a:avLst>
              <a:gd name="adj" fmla="val 6000"/>
            </a:avLst>
          </a:prstGeom>
          <a:solidFill>
            <a:srgbClr val="FFFFFF"/>
          </a:solidFill>
          <a:ln/>
          <a:effectLst>
            <a:outerShdw sx="100000" sy="100000" kx="0" ky="0" algn="bl" rotWithShape="0" blurRad="3.197255160993018e+29" dist="1.0657517203310059e+29" dir="2.519424e+35">
              <a:srgbClr val="444444">
                <a:alpha val="1.7999999999999998e+34"/>
              </a:srgbClr>
            </a:outerShdw>
          </a:effectLst>
        </p:spPr>
      </p:sp>
      <p:sp>
        <p:nvSpPr>
          <p:cNvPr id="11" name="Text 8"/>
          <p:cNvSpPr txBox="1"/>
          <p:nvPr/>
        </p:nvSpPr>
        <p:spPr>
          <a:xfrm>
            <a:off x="1097280" y="2103120"/>
            <a:ext cx="9875520" cy="411480"/>
          </a:xfrm>
          <a:prstGeom prst="rect">
            <a:avLst/>
          </a:prstGeom>
          <a:noFill/>
          <a:ln/>
        </p:spPr>
        <p:txBody>
          <a:bodyPr wrap="square" lIns="0" tIns="0" rIns="0" bIns="0" rtlCol="0" anchor="ctr"/>
          <a:lstStyle/>
          <a:p>
            <a:pPr indent="0" marL="0">
              <a:buNone/>
            </a:pPr>
            <a:r>
              <a:rPr lang="en-US" sz="1600" b="1" dirty="0">
                <a:solidFill>
                  <a:srgbClr val="5B2D8E"/>
                </a:solidFill>
                <a:latin typeface="Calibri" pitchFamily="34" charset="0"/>
                <a:ea typeface="Calibri" pitchFamily="34" charset="-122"/>
                <a:cs typeface="Calibri" pitchFamily="34" charset="-120"/>
              </a:rPr>
              <a:t>Background and Motivation</a:t>
            </a:r>
            <a:endParaRPr lang="en-US" sz="1600" dirty="0"/>
          </a:p>
        </p:txBody>
      </p:sp>
      <p:sp>
        <p:nvSpPr>
          <p:cNvPr id="12" name="Text 9"/>
          <p:cNvSpPr txBox="1"/>
          <p:nvPr/>
        </p:nvSpPr>
        <p:spPr>
          <a:xfrm>
            <a:off x="1097280" y="2542032"/>
            <a:ext cx="9875520" cy="1143000"/>
          </a:xfrm>
          <a:prstGeom prst="rect">
            <a:avLst/>
          </a:prstGeom>
          <a:noFill/>
          <a:ln/>
        </p:spPr>
        <p:txBody>
          <a:bodyPr wrap="square" lIns="0" tIns="0" rIns="0" bIns="0" rtlCol="0" anchor="t"/>
          <a:lstStyle/>
          <a:p>
            <a:pPr indent="0" marL="0">
              <a:lnSpc>
                <a:spcPct val="130000"/>
              </a:lnSpc>
              <a:buNone/>
            </a:pPr>
            <a:r>
              <a:rPr lang="en-US" sz="1300" dirty="0">
                <a:solidFill>
                  <a:srgbClr val="2A2A2A"/>
                </a:solidFill>
                <a:latin typeface="Calibri" pitchFamily="34" charset="0"/>
                <a:ea typeface="Calibri" pitchFamily="34" charset="-122"/>
                <a:cs typeface="Calibri" pitchFamily="34" charset="-120"/>
              </a:rPr>
              <a:t>Software delivery today is linear and human-mediated: requirements, design, code, tests and deployment pass between different people and tools, and context leaks at every hand-off. Large language models can already draft each of these artefacts individually, but a single chatbot has no persistent context, no defined roles, and no accountability trail from requirement to release.</a:t>
            </a:r>
            <a:endParaRPr lang="en-US" sz="1300" dirty="0"/>
          </a:p>
        </p:txBody>
      </p:sp>
      <p:sp>
        <p:nvSpPr>
          <p:cNvPr id="13" name="Shape 10"/>
          <p:cNvSpPr/>
          <p:nvPr/>
        </p:nvSpPr>
        <p:spPr>
          <a:xfrm>
            <a:off x="868680" y="3931920"/>
            <a:ext cx="10424160" cy="2057400"/>
          </a:xfrm>
          <a:prstGeom prst="roundRect">
            <a:avLst>
              <a:gd name="adj" fmla="val 5333"/>
            </a:avLst>
          </a:prstGeom>
          <a:solidFill>
            <a:srgbClr val="FFFFFF"/>
          </a:solidFill>
          <a:ln/>
          <a:effectLst>
            <a:outerShdw sx="100000" sy="100000" kx="0" ky="0" algn="bl" rotWithShape="0" blurRad="4.0605140544611325e+33" dist="1.3535046848203775e+33" dir="1.5116544e+40">
              <a:srgbClr val="444444">
                <a:alpha val="1.8e+39"/>
              </a:srgbClr>
            </a:outerShdw>
          </a:effectLst>
        </p:spPr>
      </p:sp>
      <p:sp>
        <p:nvSpPr>
          <p:cNvPr id="14" name="Text 11"/>
          <p:cNvSpPr txBox="1"/>
          <p:nvPr/>
        </p:nvSpPr>
        <p:spPr>
          <a:xfrm>
            <a:off x="1097280" y="4114800"/>
            <a:ext cx="9875520" cy="411480"/>
          </a:xfrm>
          <a:prstGeom prst="rect">
            <a:avLst/>
          </a:prstGeom>
          <a:noFill/>
          <a:ln/>
        </p:spPr>
        <p:txBody>
          <a:bodyPr wrap="square" lIns="0" tIns="0" rIns="0" bIns="0" rtlCol="0" anchor="ctr"/>
          <a:lstStyle/>
          <a:p>
            <a:pPr indent="0" marL="0">
              <a:buNone/>
            </a:pPr>
            <a:r>
              <a:rPr lang="en-US" sz="1600" b="1" dirty="0">
                <a:solidFill>
                  <a:srgbClr val="5B2D8E"/>
                </a:solidFill>
                <a:latin typeface="Calibri" pitchFamily="34" charset="0"/>
                <a:ea typeface="Calibri" pitchFamily="34" charset="-122"/>
                <a:cs typeface="Calibri" pitchFamily="34" charset="-120"/>
              </a:rPr>
              <a:t>The Agentic Approach</a:t>
            </a:r>
            <a:endParaRPr lang="en-US" sz="1600" dirty="0"/>
          </a:p>
        </p:txBody>
      </p:sp>
      <p:sp>
        <p:nvSpPr>
          <p:cNvPr id="15" name="Text 12"/>
          <p:cNvSpPr txBox="1"/>
          <p:nvPr/>
        </p:nvSpPr>
        <p:spPr>
          <a:xfrm>
            <a:off x="1097280" y="4553712"/>
            <a:ext cx="9875520" cy="1325880"/>
          </a:xfrm>
          <a:prstGeom prst="rect">
            <a:avLst/>
          </a:prstGeom>
          <a:noFill/>
          <a:ln/>
        </p:spPr>
        <p:txBody>
          <a:bodyPr wrap="square" lIns="0" tIns="0" rIns="0" bIns="0" rtlCol="0" anchor="t"/>
          <a:lstStyle/>
          <a:p>
            <a:pPr indent="0" marL="0">
              <a:lnSpc>
                <a:spcPct val="130000"/>
              </a:lnSpc>
              <a:buNone/>
            </a:pPr>
            <a:r>
              <a:rPr lang="en-US" sz="1300" dirty="0">
                <a:solidFill>
                  <a:srgbClr val="2A2A2A"/>
                </a:solidFill>
                <a:latin typeface="Calibri" pitchFamily="34" charset="0"/>
                <a:ea typeface="Calibri" pitchFamily="34" charset="-122"/>
                <a:cs typeface="Calibri" pitchFamily="34" charset="-120"/>
              </a:rPr>
              <a:t>AgentFlow mirrors the Software Development Life Cycle itself: specialised agents, one per phase, coordinated by an orchestrator, sharing memory across the whole run. A plain-English feature request is carried through Requirement, Design, Coding, Testing, Review and DevOps stages, pausing for human sign-off at three approval gates, so every output stays traceable to the decision that produced 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320040"/>
            <a:ext cx="914400" cy="914400"/>
          </a:xfrm>
          <a:prstGeom prst="ellipse">
            <a:avLst/>
          </a:prstGeom>
          <a:solidFill>
            <a:srgbClr val="F5C518"/>
          </a:solidFill>
          <a:ln/>
        </p:spPr>
      </p:sp>
      <p:sp>
        <p:nvSpPr>
          <p:cNvPr id="3" name="Text 1"/>
          <p:cNvSpPr txBox="1"/>
          <p:nvPr/>
        </p:nvSpPr>
        <p:spPr>
          <a:xfrm>
            <a:off x="411480" y="320040"/>
            <a:ext cx="914400" cy="914400"/>
          </a:xfrm>
          <a:prstGeom prst="rect">
            <a:avLst/>
          </a:prstGeom>
          <a:noFill/>
          <a:ln/>
        </p:spPr>
        <p:txBody>
          <a:bodyPr wrap="square" lIns="0" tIns="0" rIns="0" bIns="0" rtlCol="0" anchor="ctr"/>
          <a:lstStyle/>
          <a:p>
            <a:pPr algn="ctr" indent="0" marL="0">
              <a:buNone/>
            </a:pPr>
            <a:r>
              <a:rPr lang="en-US" sz="3000" b="1" dirty="0">
                <a:solidFill>
                  <a:srgbClr val="1A1A1A"/>
                </a:solidFill>
                <a:latin typeface="Calibri" pitchFamily="34" charset="0"/>
                <a:ea typeface="Calibri" pitchFamily="34" charset="-122"/>
                <a:cs typeface="Calibri" pitchFamily="34" charset="-120"/>
              </a:rPr>
              <a:t>2</a:t>
            </a:r>
            <a:endParaRPr lang="en-US" sz="3000" dirty="0"/>
          </a:p>
        </p:txBody>
      </p:sp>
      <p:sp>
        <p:nvSpPr>
          <p:cNvPr id="4" name="Text 2"/>
          <p:cNvSpPr txBox="1"/>
          <p:nvPr/>
        </p:nvSpPr>
        <p:spPr>
          <a:xfrm>
            <a:off x="1508760" y="301752"/>
            <a:ext cx="8503920" cy="685800"/>
          </a:xfrm>
          <a:prstGeom prst="rect">
            <a:avLst/>
          </a:prstGeom>
          <a:noFill/>
          <a:ln/>
        </p:spPr>
        <p:txBody>
          <a:bodyPr wrap="square" lIns="0" tIns="0" rIns="0" bIns="0" rtlCol="0" anchor="ctr"/>
          <a:lstStyle/>
          <a:p>
            <a:pPr indent="0" marL="0">
              <a:buNone/>
            </a:pPr>
            <a:r>
              <a:rPr lang="en-US" sz="2800" b="1" dirty="0">
                <a:solidFill>
                  <a:srgbClr val="5B2D8E"/>
                </a:solidFill>
                <a:latin typeface="Cambria" pitchFamily="34" charset="0"/>
                <a:ea typeface="Cambria" pitchFamily="34" charset="-122"/>
                <a:cs typeface="Cambria" pitchFamily="34" charset="-120"/>
              </a:rPr>
              <a:t>PROBLEM STATEMENT AND BUSINESS CASE</a:t>
            </a:r>
            <a:endParaRPr lang="en-US" sz="2800" dirty="0"/>
          </a:p>
        </p:txBody>
      </p:sp>
      <p:sp>
        <p:nvSpPr>
          <p:cNvPr id="5" name="Shape 3"/>
          <p:cNvSpPr/>
          <p:nvPr/>
        </p:nvSpPr>
        <p:spPr>
          <a:xfrm>
            <a:off x="1536192" y="987552"/>
            <a:ext cx="1920240" cy="0"/>
          </a:xfrm>
          <a:prstGeom prst="line">
            <a:avLst/>
          </a:prstGeom>
          <a:noFill/>
          <a:ln w="38100">
            <a:solidFill>
              <a:srgbClr val="F5C518"/>
            </a:solidFill>
            <a:prstDash val="solid"/>
          </a:ln>
        </p:spPr>
      </p:sp>
      <p:pic>
        <p:nvPicPr>
          <p:cNvPr id="6" name="Image 0" descr="/home/claude/ppt_nexus_style/assets/logopage-000.png">    </p:cNvPr>
          <p:cNvPicPr>
            <a:picLocks noChangeAspect="1"/>
          </p:cNvPicPr>
          <p:nvPr/>
        </p:nvPicPr>
        <p:blipFill>
          <a:blip r:embed="rId1"/>
          <a:stretch>
            <a:fillRect/>
          </a:stretch>
        </p:blipFill>
        <p:spPr>
          <a:xfrm>
            <a:off x="10149840" y="256032"/>
            <a:ext cx="1600200" cy="768096"/>
          </a:xfrm>
          <a:prstGeom prst="rect">
            <a:avLst/>
          </a:prstGeom>
        </p:spPr>
      </p:pic>
      <p:sp>
        <p:nvSpPr>
          <p:cNvPr id="7" name="Text 4"/>
          <p:cNvSpPr txBox="1"/>
          <p:nvPr/>
        </p:nvSpPr>
        <p:spPr>
          <a:xfrm>
            <a:off x="457200" y="6492240"/>
            <a:ext cx="2743200" cy="2743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Final review</a:t>
            </a:r>
            <a:endParaRPr lang="en-US" sz="1100" dirty="0"/>
          </a:p>
        </p:txBody>
      </p:sp>
      <p:sp>
        <p:nvSpPr>
          <p:cNvPr id="8" name="Text 5"/>
          <p:cNvSpPr txBox="1"/>
          <p:nvPr/>
        </p:nvSpPr>
        <p:spPr>
          <a:xfrm>
            <a:off x="6400800" y="6492240"/>
            <a:ext cx="5349240" cy="274320"/>
          </a:xfrm>
          <a:prstGeom prst="rect">
            <a:avLst/>
          </a:prstGeom>
          <a:noFill/>
          <a:ln/>
        </p:spPr>
        <p:txBody>
          <a:bodyPr wrap="square" lIns="0" tIns="0" rIns="0" bIns="0" rtlCol="0" anchor="ctr"/>
          <a:lstStyle/>
          <a:p>
            <a:pPr algn="r" indent="0" marL="0">
              <a:buNone/>
            </a:pPr>
            <a:r>
              <a:rPr lang="en-US" sz="1100" dirty="0">
                <a:solidFill>
                  <a:srgbClr val="1A1A1A"/>
                </a:solidFill>
                <a:latin typeface="Calibri" pitchFamily="34" charset="0"/>
                <a:ea typeface="Calibri" pitchFamily="34" charset="-122"/>
                <a:cs typeface="Calibri" pitchFamily="34" charset="-120"/>
              </a:rPr>
              <a:t>Department of Artificial Intelligence and Machine Learning</a:t>
            </a:r>
            <a:endParaRPr lang="en-US" sz="1100" dirty="0"/>
          </a:p>
        </p:txBody>
      </p:sp>
      <p:sp>
        <p:nvSpPr>
          <p:cNvPr id="9" name="Shape 6"/>
          <p:cNvSpPr/>
          <p:nvPr/>
        </p:nvSpPr>
        <p:spPr>
          <a:xfrm>
            <a:off x="548640" y="1600200"/>
            <a:ext cx="11064240" cy="4526280"/>
          </a:xfrm>
          <a:prstGeom prst="roundRect">
            <a:avLst>
              <a:gd name="adj" fmla="val 2020"/>
            </a:avLst>
          </a:prstGeom>
          <a:solidFill>
            <a:srgbClr val="F4F1F8"/>
          </a:solidFill>
          <a:ln w="12700">
            <a:solidFill>
              <a:srgbClr val="E3DCEF"/>
            </a:solidFill>
            <a:prstDash val="solid"/>
          </a:ln>
        </p:spPr>
      </p:sp>
      <p:sp>
        <p:nvSpPr>
          <p:cNvPr id="10" name="Shape 7"/>
          <p:cNvSpPr/>
          <p:nvPr/>
        </p:nvSpPr>
        <p:spPr>
          <a:xfrm>
            <a:off x="1005840" y="1874520"/>
            <a:ext cx="457200" cy="457200"/>
          </a:xfrm>
          <a:prstGeom prst="ellipse">
            <a:avLst/>
          </a:prstGeom>
          <a:solidFill>
            <a:srgbClr val="F5C518"/>
          </a:solidFill>
          <a:ln/>
        </p:spPr>
      </p:sp>
      <p:sp>
        <p:nvSpPr>
          <p:cNvPr id="11" name="Text 8"/>
          <p:cNvSpPr txBox="1"/>
          <p:nvPr/>
        </p:nvSpPr>
        <p:spPr>
          <a:xfrm>
            <a:off x="1005840" y="1874520"/>
            <a:ext cx="45720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1</a:t>
            </a:r>
            <a:endParaRPr lang="en-US" sz="1500" dirty="0"/>
          </a:p>
        </p:txBody>
      </p:sp>
      <p:sp>
        <p:nvSpPr>
          <p:cNvPr id="12" name="Text 9"/>
          <p:cNvSpPr txBox="1"/>
          <p:nvPr/>
        </p:nvSpPr>
        <p:spPr>
          <a:xfrm>
            <a:off x="1005840" y="2441448"/>
            <a:ext cx="3291840" cy="411480"/>
          </a:xfrm>
          <a:prstGeom prst="rect">
            <a:avLst/>
          </a:prstGeom>
          <a:noFill/>
          <a:ln/>
        </p:spPr>
        <p:txBody>
          <a:bodyPr wrap="square" lIns="0" tIns="0" rIns="0" bIns="0" rtlCol="0" anchor="ctr"/>
          <a:lstStyle/>
          <a:p>
            <a:pPr indent="0" marL="0">
              <a:buNone/>
            </a:pPr>
            <a:r>
              <a:rPr lang="en-US" sz="1250" b="1" dirty="0">
                <a:solidFill>
                  <a:srgbClr val="5B2D8E"/>
                </a:solidFill>
                <a:latin typeface="Calibri" pitchFamily="34" charset="0"/>
                <a:ea typeface="Calibri" pitchFamily="34" charset="-122"/>
                <a:cs typeface="Calibri" pitchFamily="34" charset="-120"/>
              </a:rPr>
              <a:t>Requirements ambiguity</a:t>
            </a:r>
            <a:endParaRPr lang="en-US" sz="1250" dirty="0"/>
          </a:p>
        </p:txBody>
      </p:sp>
      <p:sp>
        <p:nvSpPr>
          <p:cNvPr id="13" name="Text 10"/>
          <p:cNvSpPr txBox="1"/>
          <p:nvPr/>
        </p:nvSpPr>
        <p:spPr>
          <a:xfrm>
            <a:off x="1005840" y="2834640"/>
            <a:ext cx="3291840" cy="1463040"/>
          </a:xfrm>
          <a:prstGeom prst="rect">
            <a:avLst/>
          </a:prstGeom>
          <a:noFill/>
          <a:ln/>
        </p:spPr>
        <p:txBody>
          <a:bodyPr wrap="square" lIns="0" tIns="0" rIns="0" bIns="0" rtlCol="0" anchor="t"/>
          <a:lstStyle/>
          <a:p>
            <a:pPr indent="0" marL="0">
              <a:lnSpc>
                <a:spcPct val="120000"/>
              </a:lnSpc>
              <a:buNone/>
            </a:pPr>
            <a:r>
              <a:rPr lang="en-US" sz="1050" dirty="0">
                <a:solidFill>
                  <a:srgbClr val="2A2A2A"/>
                </a:solidFill>
                <a:latin typeface="Calibri" pitchFamily="34" charset="0"/>
                <a:ea typeface="Calibri" pitchFamily="34" charset="-122"/>
                <a:cs typeface="Calibri" pitchFamily="34" charset="-120"/>
              </a:rPr>
              <a:t>Lost in translation from stakeholder language into engineering language.</a:t>
            </a:r>
            <a:endParaRPr lang="en-US" sz="1050" dirty="0"/>
          </a:p>
        </p:txBody>
      </p:sp>
      <p:sp>
        <p:nvSpPr>
          <p:cNvPr id="14" name="Shape 11"/>
          <p:cNvSpPr/>
          <p:nvPr/>
        </p:nvSpPr>
        <p:spPr>
          <a:xfrm>
            <a:off x="4572000" y="1874520"/>
            <a:ext cx="457200" cy="457200"/>
          </a:xfrm>
          <a:prstGeom prst="ellipse">
            <a:avLst/>
          </a:prstGeom>
          <a:solidFill>
            <a:srgbClr val="F5C518"/>
          </a:solidFill>
          <a:ln/>
        </p:spPr>
      </p:sp>
      <p:sp>
        <p:nvSpPr>
          <p:cNvPr id="15" name="Text 12"/>
          <p:cNvSpPr txBox="1"/>
          <p:nvPr/>
        </p:nvSpPr>
        <p:spPr>
          <a:xfrm>
            <a:off x="4572000" y="1874520"/>
            <a:ext cx="45720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2</a:t>
            </a:r>
            <a:endParaRPr lang="en-US" sz="1500" dirty="0"/>
          </a:p>
        </p:txBody>
      </p:sp>
      <p:sp>
        <p:nvSpPr>
          <p:cNvPr id="16" name="Text 13"/>
          <p:cNvSpPr txBox="1"/>
          <p:nvPr/>
        </p:nvSpPr>
        <p:spPr>
          <a:xfrm>
            <a:off x="4572000" y="2441448"/>
            <a:ext cx="3291840" cy="411480"/>
          </a:xfrm>
          <a:prstGeom prst="rect">
            <a:avLst/>
          </a:prstGeom>
          <a:noFill/>
          <a:ln/>
        </p:spPr>
        <p:txBody>
          <a:bodyPr wrap="square" lIns="0" tIns="0" rIns="0" bIns="0" rtlCol="0" anchor="ctr"/>
          <a:lstStyle/>
          <a:p>
            <a:pPr indent="0" marL="0">
              <a:buNone/>
            </a:pPr>
            <a:r>
              <a:rPr lang="en-US" sz="1250" b="1" dirty="0">
                <a:solidFill>
                  <a:srgbClr val="5B2D8E"/>
                </a:solidFill>
                <a:latin typeface="Calibri" pitchFamily="34" charset="0"/>
                <a:ea typeface="Calibri" pitchFamily="34" charset="-122"/>
                <a:cs typeface="Calibri" pitchFamily="34" charset="-120"/>
              </a:rPr>
              <a:t>Design rationale lost</a:t>
            </a:r>
            <a:endParaRPr lang="en-US" sz="1250" dirty="0"/>
          </a:p>
        </p:txBody>
      </p:sp>
      <p:sp>
        <p:nvSpPr>
          <p:cNvPr id="17" name="Text 14"/>
          <p:cNvSpPr txBox="1"/>
          <p:nvPr/>
        </p:nvSpPr>
        <p:spPr>
          <a:xfrm>
            <a:off x="4572000" y="2834640"/>
            <a:ext cx="3291840" cy="1463040"/>
          </a:xfrm>
          <a:prstGeom prst="rect">
            <a:avLst/>
          </a:prstGeom>
          <a:noFill/>
          <a:ln/>
        </p:spPr>
        <p:txBody>
          <a:bodyPr wrap="square" lIns="0" tIns="0" rIns="0" bIns="0" rtlCol="0" anchor="t"/>
          <a:lstStyle/>
          <a:p>
            <a:pPr indent="0" marL="0">
              <a:lnSpc>
                <a:spcPct val="120000"/>
              </a:lnSpc>
              <a:buNone/>
            </a:pPr>
            <a:r>
              <a:rPr lang="en-US" sz="1050" dirty="0">
                <a:solidFill>
                  <a:srgbClr val="2A2A2A"/>
                </a:solidFill>
                <a:latin typeface="Calibri" pitchFamily="34" charset="0"/>
                <a:ea typeface="Calibri" pitchFamily="34" charset="-122"/>
                <a:cs typeface="Calibri" pitchFamily="34" charset="-120"/>
              </a:rPr>
              <a:t>Decisions made by a designer are rarely explainable once code and tests are written.</a:t>
            </a:r>
            <a:endParaRPr lang="en-US" sz="1050" dirty="0"/>
          </a:p>
        </p:txBody>
      </p:sp>
      <p:sp>
        <p:nvSpPr>
          <p:cNvPr id="18" name="Shape 15"/>
          <p:cNvSpPr/>
          <p:nvPr/>
        </p:nvSpPr>
        <p:spPr>
          <a:xfrm>
            <a:off x="8138160" y="1874520"/>
            <a:ext cx="457200" cy="457200"/>
          </a:xfrm>
          <a:prstGeom prst="ellipse">
            <a:avLst/>
          </a:prstGeom>
          <a:solidFill>
            <a:srgbClr val="F5C518"/>
          </a:solidFill>
          <a:ln/>
        </p:spPr>
      </p:sp>
      <p:sp>
        <p:nvSpPr>
          <p:cNvPr id="19" name="Text 16"/>
          <p:cNvSpPr txBox="1"/>
          <p:nvPr/>
        </p:nvSpPr>
        <p:spPr>
          <a:xfrm>
            <a:off x="8138160" y="1874520"/>
            <a:ext cx="45720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3</a:t>
            </a:r>
            <a:endParaRPr lang="en-US" sz="1500" dirty="0"/>
          </a:p>
        </p:txBody>
      </p:sp>
      <p:sp>
        <p:nvSpPr>
          <p:cNvPr id="20" name="Text 17"/>
          <p:cNvSpPr txBox="1"/>
          <p:nvPr/>
        </p:nvSpPr>
        <p:spPr>
          <a:xfrm>
            <a:off x="8138160" y="2441448"/>
            <a:ext cx="3291840" cy="411480"/>
          </a:xfrm>
          <a:prstGeom prst="rect">
            <a:avLst/>
          </a:prstGeom>
          <a:noFill/>
          <a:ln/>
        </p:spPr>
        <p:txBody>
          <a:bodyPr wrap="square" lIns="0" tIns="0" rIns="0" bIns="0" rtlCol="0" anchor="ctr"/>
          <a:lstStyle/>
          <a:p>
            <a:pPr indent="0" marL="0">
              <a:buNone/>
            </a:pPr>
            <a:r>
              <a:rPr lang="en-US" sz="1250" b="1" dirty="0">
                <a:solidFill>
                  <a:srgbClr val="5B2D8E"/>
                </a:solidFill>
                <a:latin typeface="Calibri" pitchFamily="34" charset="0"/>
                <a:ea typeface="Calibri" pitchFamily="34" charset="-122"/>
                <a:cs typeface="Calibri" pitchFamily="34" charset="-120"/>
              </a:rPr>
              <a:t>Manual traceability</a:t>
            </a:r>
            <a:endParaRPr lang="en-US" sz="1250" dirty="0"/>
          </a:p>
        </p:txBody>
      </p:sp>
      <p:sp>
        <p:nvSpPr>
          <p:cNvPr id="21" name="Text 18"/>
          <p:cNvSpPr txBox="1"/>
          <p:nvPr/>
        </p:nvSpPr>
        <p:spPr>
          <a:xfrm>
            <a:off x="8138160" y="2834640"/>
            <a:ext cx="3291840" cy="1463040"/>
          </a:xfrm>
          <a:prstGeom prst="rect">
            <a:avLst/>
          </a:prstGeom>
          <a:noFill/>
          <a:ln/>
        </p:spPr>
        <p:txBody>
          <a:bodyPr wrap="square" lIns="0" tIns="0" rIns="0" bIns="0" rtlCol="0" anchor="t"/>
          <a:lstStyle/>
          <a:p>
            <a:pPr indent="0" marL="0">
              <a:lnSpc>
                <a:spcPct val="120000"/>
              </a:lnSpc>
              <a:buNone/>
            </a:pPr>
            <a:r>
              <a:rPr lang="en-US" sz="1050" dirty="0">
                <a:solidFill>
                  <a:srgbClr val="2A2A2A"/>
                </a:solidFill>
                <a:latin typeface="Calibri" pitchFamily="34" charset="0"/>
                <a:ea typeface="Calibri" pitchFamily="34" charset="-122"/>
                <a:cs typeface="Calibri" pitchFamily="34" charset="-120"/>
              </a:rPr>
              <a:t>Linking a shipped feature back to its requirement is still a spreadsheet-driven job.</a:t>
            </a:r>
            <a:endParaRPr lang="en-US" sz="1050" dirty="0"/>
          </a:p>
        </p:txBody>
      </p:sp>
      <p:sp>
        <p:nvSpPr>
          <p:cNvPr id="22" name="Shape 19"/>
          <p:cNvSpPr/>
          <p:nvPr/>
        </p:nvSpPr>
        <p:spPr>
          <a:xfrm>
            <a:off x="868680" y="3749040"/>
            <a:ext cx="10424160" cy="2194560"/>
          </a:xfrm>
          <a:prstGeom prst="roundRect">
            <a:avLst>
              <a:gd name="adj" fmla="val 5000"/>
            </a:avLst>
          </a:prstGeom>
          <a:solidFill>
            <a:srgbClr val="FFFFFF"/>
          </a:solidFill>
          <a:ln/>
          <a:effectLst>
            <a:outerShdw sx="100000" sy="100000" kx="0" ky="0" algn="bl" rotWithShape="0" blurRad="5.156852849165638e+37" dist="1.7189509497218795e+37" dir="9.069926400000001e+44">
              <a:srgbClr val="444444">
                <a:alpha val="1.8e+44"/>
              </a:srgbClr>
            </a:outerShdw>
          </a:effectLst>
        </p:spPr>
      </p:sp>
      <p:sp>
        <p:nvSpPr>
          <p:cNvPr id="23" name="Text 20"/>
          <p:cNvSpPr txBox="1"/>
          <p:nvPr/>
        </p:nvSpPr>
        <p:spPr>
          <a:xfrm>
            <a:off x="1097280" y="3931920"/>
            <a:ext cx="9875520" cy="411480"/>
          </a:xfrm>
          <a:prstGeom prst="rect">
            <a:avLst/>
          </a:prstGeom>
          <a:noFill/>
          <a:ln/>
        </p:spPr>
        <p:txBody>
          <a:bodyPr wrap="square" lIns="0" tIns="0" rIns="0" bIns="0" rtlCol="0" anchor="ctr"/>
          <a:lstStyle/>
          <a:p>
            <a:pPr indent="0" marL="0">
              <a:buNone/>
            </a:pPr>
            <a:r>
              <a:rPr lang="en-US" sz="1600" b="1" dirty="0">
                <a:solidFill>
                  <a:srgbClr val="5B2D8E"/>
                </a:solidFill>
                <a:latin typeface="Calibri" pitchFamily="34" charset="0"/>
                <a:ea typeface="Calibri" pitchFamily="34" charset="-122"/>
                <a:cs typeface="Calibri" pitchFamily="34" charset="-120"/>
              </a:rPr>
              <a:t>Business Case</a:t>
            </a:r>
            <a:endParaRPr lang="en-US" sz="1600" dirty="0"/>
          </a:p>
        </p:txBody>
      </p:sp>
      <p:sp>
        <p:nvSpPr>
          <p:cNvPr id="24" name="Text 21"/>
          <p:cNvSpPr txBox="1"/>
          <p:nvPr/>
        </p:nvSpPr>
        <p:spPr>
          <a:xfrm>
            <a:off x="1097280" y="4370832"/>
            <a:ext cx="9875520" cy="1463040"/>
          </a:xfrm>
          <a:prstGeom prst="rect">
            <a:avLst/>
          </a:prstGeom>
          <a:noFill/>
          <a:ln/>
        </p:spPr>
        <p:txBody>
          <a:bodyPr wrap="square" lIns="0" tIns="0" rIns="0" bIns="0" rtlCol="0" anchor="t"/>
          <a:lstStyle/>
          <a:p>
            <a:pPr indent="0" marL="0">
              <a:lnSpc>
                <a:spcPct val="130000"/>
              </a:lnSpc>
              <a:buNone/>
            </a:pPr>
            <a:r>
              <a:rPr lang="en-US" sz="1300" dirty="0">
                <a:solidFill>
                  <a:srgbClr val="2A2A2A"/>
                </a:solidFill>
                <a:latin typeface="Calibri" pitchFamily="34" charset="0"/>
                <a:ea typeface="Calibri" pitchFamily="34" charset="-122"/>
                <a:cs typeface="Calibri" pitchFamily="34" charset="-120"/>
              </a:rPr>
              <a:t>Most AI-assisted teams bolt a code-generation assistant onto an otherwise unchanged process: the requirement, the design decision and the tests behind a piece of code live in separate, disconnected systems. AgentFlow's case is a single system of record — one pipeline, one traceable history — while keeping approval rights with the Product Owner, Developer and SRE at the three points that matter most.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320040"/>
            <a:ext cx="914400" cy="914400"/>
          </a:xfrm>
          <a:prstGeom prst="ellipse">
            <a:avLst/>
          </a:prstGeom>
          <a:solidFill>
            <a:srgbClr val="F5C518"/>
          </a:solidFill>
          <a:ln/>
        </p:spPr>
      </p:sp>
      <p:sp>
        <p:nvSpPr>
          <p:cNvPr id="3" name="Text 1"/>
          <p:cNvSpPr txBox="1"/>
          <p:nvPr/>
        </p:nvSpPr>
        <p:spPr>
          <a:xfrm>
            <a:off x="411480" y="320040"/>
            <a:ext cx="914400" cy="914400"/>
          </a:xfrm>
          <a:prstGeom prst="rect">
            <a:avLst/>
          </a:prstGeom>
          <a:noFill/>
          <a:ln/>
        </p:spPr>
        <p:txBody>
          <a:bodyPr wrap="square" lIns="0" tIns="0" rIns="0" bIns="0" rtlCol="0" anchor="ctr"/>
          <a:lstStyle/>
          <a:p>
            <a:pPr algn="ctr" indent="0" marL="0">
              <a:buNone/>
            </a:pPr>
            <a:r>
              <a:rPr lang="en-US" sz="3000" b="1" dirty="0">
                <a:solidFill>
                  <a:srgbClr val="1A1A1A"/>
                </a:solidFill>
                <a:latin typeface="Calibri" pitchFamily="34" charset="0"/>
                <a:ea typeface="Calibri" pitchFamily="34" charset="-122"/>
                <a:cs typeface="Calibri" pitchFamily="34" charset="-120"/>
              </a:rPr>
              <a:t>3</a:t>
            </a:r>
            <a:endParaRPr lang="en-US" sz="3000" dirty="0"/>
          </a:p>
        </p:txBody>
      </p:sp>
      <p:sp>
        <p:nvSpPr>
          <p:cNvPr id="4" name="Text 2"/>
          <p:cNvSpPr txBox="1"/>
          <p:nvPr/>
        </p:nvSpPr>
        <p:spPr>
          <a:xfrm>
            <a:off x="1508760" y="301752"/>
            <a:ext cx="8503920" cy="685800"/>
          </a:xfrm>
          <a:prstGeom prst="rect">
            <a:avLst/>
          </a:prstGeom>
          <a:noFill/>
          <a:ln/>
        </p:spPr>
        <p:txBody>
          <a:bodyPr wrap="square" lIns="0" tIns="0" rIns="0" bIns="0" rtlCol="0" anchor="ctr"/>
          <a:lstStyle/>
          <a:p>
            <a:pPr indent="0" marL="0">
              <a:buNone/>
            </a:pPr>
            <a:r>
              <a:rPr lang="en-US" sz="2800" b="1" dirty="0">
                <a:solidFill>
                  <a:srgbClr val="5B2D8E"/>
                </a:solidFill>
                <a:latin typeface="Cambria" pitchFamily="34" charset="0"/>
                <a:ea typeface="Cambria" pitchFamily="34" charset="-122"/>
                <a:cs typeface="Cambria" pitchFamily="34" charset="-120"/>
              </a:rPr>
              <a:t>USER AND STAKEHOLDER ANALYSIS</a:t>
            </a:r>
            <a:endParaRPr lang="en-US" sz="2800" dirty="0"/>
          </a:p>
        </p:txBody>
      </p:sp>
      <p:sp>
        <p:nvSpPr>
          <p:cNvPr id="5" name="Shape 3"/>
          <p:cNvSpPr/>
          <p:nvPr/>
        </p:nvSpPr>
        <p:spPr>
          <a:xfrm>
            <a:off x="1536192" y="987552"/>
            <a:ext cx="1920240" cy="0"/>
          </a:xfrm>
          <a:prstGeom prst="line">
            <a:avLst/>
          </a:prstGeom>
          <a:noFill/>
          <a:ln w="38100">
            <a:solidFill>
              <a:srgbClr val="F5C518"/>
            </a:solidFill>
            <a:prstDash val="solid"/>
          </a:ln>
        </p:spPr>
      </p:sp>
      <p:pic>
        <p:nvPicPr>
          <p:cNvPr id="6" name="Image 0" descr="/home/claude/ppt_nexus_style/assets/logopage-000.png">    </p:cNvPr>
          <p:cNvPicPr>
            <a:picLocks noChangeAspect="1"/>
          </p:cNvPicPr>
          <p:nvPr/>
        </p:nvPicPr>
        <p:blipFill>
          <a:blip r:embed="rId1"/>
          <a:stretch>
            <a:fillRect/>
          </a:stretch>
        </p:blipFill>
        <p:spPr>
          <a:xfrm>
            <a:off x="10149840" y="256032"/>
            <a:ext cx="1600200" cy="768096"/>
          </a:xfrm>
          <a:prstGeom prst="rect">
            <a:avLst/>
          </a:prstGeom>
        </p:spPr>
      </p:pic>
      <p:sp>
        <p:nvSpPr>
          <p:cNvPr id="7" name="Text 4"/>
          <p:cNvSpPr txBox="1"/>
          <p:nvPr/>
        </p:nvSpPr>
        <p:spPr>
          <a:xfrm>
            <a:off x="457200" y="6492240"/>
            <a:ext cx="2743200" cy="2743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Final review</a:t>
            </a:r>
            <a:endParaRPr lang="en-US" sz="1100" dirty="0"/>
          </a:p>
        </p:txBody>
      </p:sp>
      <p:sp>
        <p:nvSpPr>
          <p:cNvPr id="8" name="Text 5"/>
          <p:cNvSpPr txBox="1"/>
          <p:nvPr/>
        </p:nvSpPr>
        <p:spPr>
          <a:xfrm>
            <a:off x="6400800" y="6492240"/>
            <a:ext cx="5349240" cy="274320"/>
          </a:xfrm>
          <a:prstGeom prst="rect">
            <a:avLst/>
          </a:prstGeom>
          <a:noFill/>
          <a:ln/>
        </p:spPr>
        <p:txBody>
          <a:bodyPr wrap="square" lIns="0" tIns="0" rIns="0" bIns="0" rtlCol="0" anchor="ctr"/>
          <a:lstStyle/>
          <a:p>
            <a:pPr algn="r" indent="0" marL="0">
              <a:buNone/>
            </a:pPr>
            <a:r>
              <a:rPr lang="en-US" sz="1100" dirty="0">
                <a:solidFill>
                  <a:srgbClr val="1A1A1A"/>
                </a:solidFill>
                <a:latin typeface="Calibri" pitchFamily="34" charset="0"/>
                <a:ea typeface="Calibri" pitchFamily="34" charset="-122"/>
                <a:cs typeface="Calibri" pitchFamily="34" charset="-120"/>
              </a:rPr>
              <a:t>Department of Artificial Intelligence and Machine Learning</a:t>
            </a:r>
            <a:endParaRPr lang="en-US" sz="1100" dirty="0"/>
          </a:p>
        </p:txBody>
      </p:sp>
      <p:sp>
        <p:nvSpPr>
          <p:cNvPr id="9" name="Shape 6"/>
          <p:cNvSpPr/>
          <p:nvPr/>
        </p:nvSpPr>
        <p:spPr>
          <a:xfrm>
            <a:off x="548640" y="1600200"/>
            <a:ext cx="11064240" cy="4526280"/>
          </a:xfrm>
          <a:prstGeom prst="roundRect">
            <a:avLst>
              <a:gd name="adj" fmla="val 2020"/>
            </a:avLst>
          </a:prstGeom>
          <a:solidFill>
            <a:srgbClr val="F4F1F8"/>
          </a:solidFill>
          <a:ln w="12700">
            <a:solidFill>
              <a:srgbClr val="E3DCEF"/>
            </a:solidFill>
            <a:prstDash val="solid"/>
          </a:ln>
        </p:spPr>
      </p:sp>
      <p:sp>
        <p:nvSpPr>
          <p:cNvPr id="10" name="Text 7"/>
          <p:cNvSpPr txBox="1"/>
          <p:nvPr/>
        </p:nvSpPr>
        <p:spPr>
          <a:xfrm>
            <a:off x="868680" y="1783080"/>
            <a:ext cx="3291840" cy="411480"/>
          </a:xfrm>
          <a:prstGeom prst="rect">
            <a:avLst/>
          </a:prstGeom>
          <a:noFill/>
          <a:ln/>
        </p:spPr>
        <p:txBody>
          <a:bodyPr wrap="square" lIns="0" tIns="0" rIns="0" bIns="0" rtlCol="0" anchor="ctr"/>
          <a:lstStyle/>
          <a:p>
            <a:pPr indent="0" marL="0">
              <a:buNone/>
            </a:pPr>
            <a:r>
              <a:rPr lang="en-US" sz="1600" b="1" dirty="0">
                <a:solidFill>
                  <a:srgbClr val="5B2D8E"/>
                </a:solidFill>
                <a:latin typeface="Calibri" pitchFamily="34" charset="0"/>
                <a:ea typeface="Calibri" pitchFamily="34" charset="-122"/>
                <a:cs typeface="Calibri" pitchFamily="34" charset="-120"/>
              </a:rPr>
              <a:t>Target Users</a:t>
            </a:r>
            <a:endParaRPr lang="en-US" sz="1600" dirty="0"/>
          </a:p>
        </p:txBody>
      </p:sp>
      <p:sp>
        <p:nvSpPr>
          <p:cNvPr id="11" name="Shape 8"/>
          <p:cNvSpPr/>
          <p:nvPr/>
        </p:nvSpPr>
        <p:spPr>
          <a:xfrm>
            <a:off x="868680" y="2194560"/>
            <a:ext cx="3291840" cy="3749040"/>
          </a:xfrm>
          <a:prstGeom prst="roundRect">
            <a:avLst>
              <a:gd name="adj" fmla="val 3333"/>
            </a:avLst>
          </a:prstGeom>
          <a:solidFill>
            <a:srgbClr val="FFFFFF"/>
          </a:solidFill>
          <a:ln/>
          <a:effectLst>
            <a:outerShdw sx="100000" sy="100000" kx="0" ky="0" algn="bl" rotWithShape="0" blurRad="6.549203118440361e+41" dist="2.183067706146787e+41" dir="5.44195584e+49">
              <a:srgbClr val="444444">
                <a:alpha val="1.8e+49"/>
              </a:srgbClr>
            </a:outerShdw>
          </a:effectLst>
        </p:spPr>
      </p:sp>
      <p:sp>
        <p:nvSpPr>
          <p:cNvPr id="12" name="Text 9"/>
          <p:cNvSpPr txBox="1"/>
          <p:nvPr/>
        </p:nvSpPr>
        <p:spPr>
          <a:xfrm>
            <a:off x="1097280" y="2377440"/>
            <a:ext cx="2834640" cy="3383280"/>
          </a:xfrm>
          <a:prstGeom prst="rect">
            <a:avLst/>
          </a:prstGeom>
          <a:noFill/>
          <a:ln/>
        </p:spPr>
        <p:txBody>
          <a:bodyPr wrap="square" lIns="0" tIns="0" rIns="0" bIns="0" rtlCol="0" anchor="t"/>
          <a:lstStyle/>
          <a:p>
            <a:pPr marL="342900" indent="-342900">
              <a:lnSpc>
                <a:spcPct val="130000"/>
              </a:lnSpc>
              <a:spcAft>
                <a:spcPts val="1600"/>
              </a:spcAft>
              <a:buSzPct val="100000"/>
              <a:buChar char="•"/>
            </a:pPr>
            <a:r>
              <a:rPr lang="en-US" sz="1400" dirty="0">
                <a:solidFill>
                  <a:srgbClr val="2A2A2A"/>
                </a:solidFill>
                <a:latin typeface="Calibri" pitchFamily="34" charset="0"/>
                <a:ea typeface="Calibri" pitchFamily="34" charset="-122"/>
                <a:cs typeface="Calibri" pitchFamily="34" charset="-120"/>
              </a:rPr>
              <a:t>Product Owners</a:t>
            </a:r>
            <a:endParaRPr lang="en-US" sz="1400" dirty="0"/>
          </a:p>
          <a:p>
            <a:pPr marL="342900" indent="-342900">
              <a:lnSpc>
                <a:spcPct val="130000"/>
              </a:lnSpc>
              <a:spcAft>
                <a:spcPts val="1600"/>
              </a:spcAft>
              <a:buSzPct val="100000"/>
              <a:buChar char="•"/>
            </a:pPr>
            <a:r>
              <a:rPr lang="en-US" sz="1400" dirty="0">
                <a:solidFill>
                  <a:srgbClr val="2A2A2A"/>
                </a:solidFill>
                <a:latin typeface="Calibri" pitchFamily="34" charset="0"/>
                <a:ea typeface="Calibri" pitchFamily="34" charset="-122"/>
                <a:cs typeface="Calibri" pitchFamily="34" charset="-120"/>
              </a:rPr>
              <a:t>Project Managers</a:t>
            </a:r>
            <a:endParaRPr lang="en-US" sz="1400" dirty="0"/>
          </a:p>
          <a:p>
            <a:pPr marL="342900" indent="-342900">
              <a:lnSpc>
                <a:spcPct val="130000"/>
              </a:lnSpc>
              <a:spcAft>
                <a:spcPts val="1600"/>
              </a:spcAft>
              <a:buSzPct val="100000"/>
              <a:buChar char="•"/>
            </a:pPr>
            <a:r>
              <a:rPr lang="en-US" sz="1400" dirty="0">
                <a:solidFill>
                  <a:srgbClr val="2A2A2A"/>
                </a:solidFill>
                <a:latin typeface="Calibri" pitchFamily="34" charset="0"/>
                <a:ea typeface="Calibri" pitchFamily="34" charset="-122"/>
                <a:cs typeface="Calibri" pitchFamily="34" charset="-120"/>
              </a:rPr>
              <a:t>Developers</a:t>
            </a:r>
            <a:endParaRPr lang="en-US" sz="1400" dirty="0"/>
          </a:p>
          <a:p>
            <a:pPr marL="342900" indent="-342900">
              <a:lnSpc>
                <a:spcPct val="130000"/>
              </a:lnSpc>
              <a:spcAft>
                <a:spcPts val="1600"/>
              </a:spcAft>
              <a:buSzPct val="100000"/>
              <a:buChar char="•"/>
            </a:pPr>
            <a:r>
              <a:rPr lang="en-US" sz="1400" dirty="0">
                <a:solidFill>
                  <a:srgbClr val="2A2A2A"/>
                </a:solidFill>
                <a:latin typeface="Calibri" pitchFamily="34" charset="0"/>
                <a:ea typeface="Calibri" pitchFamily="34" charset="-122"/>
                <a:cs typeface="Calibri" pitchFamily="34" charset="-120"/>
              </a:rPr>
              <a:t>QA Engineers</a:t>
            </a:r>
            <a:endParaRPr lang="en-US" sz="1400" dirty="0"/>
          </a:p>
          <a:p>
            <a:pPr marL="342900" indent="-342900">
              <a:lnSpc>
                <a:spcPct val="130000"/>
              </a:lnSpc>
              <a:spcAft>
                <a:spcPts val="1600"/>
              </a:spcAft>
              <a:buSzPct val="100000"/>
              <a:buChar char="•"/>
            </a:pPr>
            <a:r>
              <a:rPr lang="en-US" sz="1400" dirty="0">
                <a:solidFill>
                  <a:srgbClr val="2A2A2A"/>
                </a:solidFill>
                <a:latin typeface="Calibri" pitchFamily="34" charset="0"/>
                <a:ea typeface="Calibri" pitchFamily="34" charset="-122"/>
                <a:cs typeface="Calibri" pitchFamily="34" charset="-120"/>
              </a:rPr>
              <a:t>DevOps / SRE</a:t>
            </a:r>
            <a:endParaRPr lang="en-US" sz="1400" dirty="0"/>
          </a:p>
          <a:p>
            <a:pPr marL="342900" indent="-342900">
              <a:lnSpc>
                <a:spcPct val="130000"/>
              </a:lnSpc>
              <a:spcAft>
                <a:spcPts val="1600"/>
              </a:spcAft>
              <a:buSzPct val="100000"/>
              <a:buChar char="•"/>
            </a:pPr>
            <a:r>
              <a:rPr lang="en-US" sz="1400" dirty="0">
                <a:solidFill>
                  <a:srgbClr val="2A2A2A"/>
                </a:solidFill>
                <a:latin typeface="Calibri" pitchFamily="34" charset="0"/>
                <a:ea typeface="Calibri" pitchFamily="34" charset="-122"/>
                <a:cs typeface="Calibri" pitchFamily="34" charset="-120"/>
              </a:rPr>
              <a:t>End Users</a:t>
            </a:r>
            <a:endParaRPr lang="en-US" sz="1400" dirty="0"/>
          </a:p>
        </p:txBody>
      </p:sp>
      <p:sp>
        <p:nvSpPr>
          <p:cNvPr id="13" name="Text 10"/>
          <p:cNvSpPr txBox="1"/>
          <p:nvPr/>
        </p:nvSpPr>
        <p:spPr>
          <a:xfrm>
            <a:off x="4434840" y="1783080"/>
            <a:ext cx="6949440" cy="411480"/>
          </a:xfrm>
          <a:prstGeom prst="rect">
            <a:avLst/>
          </a:prstGeom>
          <a:noFill/>
          <a:ln/>
        </p:spPr>
        <p:txBody>
          <a:bodyPr wrap="square" lIns="0" tIns="0" rIns="0" bIns="0" rtlCol="0" anchor="ctr"/>
          <a:lstStyle/>
          <a:p>
            <a:pPr indent="0" marL="0">
              <a:buNone/>
            </a:pPr>
            <a:r>
              <a:rPr lang="en-US" sz="1600" b="1" dirty="0">
                <a:solidFill>
                  <a:srgbClr val="5B2D8E"/>
                </a:solidFill>
                <a:latin typeface="Calibri" pitchFamily="34" charset="0"/>
                <a:ea typeface="Calibri" pitchFamily="34" charset="-122"/>
                <a:cs typeface="Calibri" pitchFamily="34" charset="-120"/>
              </a:rPr>
              <a:t>Stakeholder Identification</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434840" y="2194560"/>
          <a:ext cx="7040880" cy="914400"/>
        </p:xfrm>
        <a:graphic>
          <a:graphicData uri="http://schemas.openxmlformats.org/drawingml/2006/table">
            <a:tbl>
              <a:tblPr/>
              <a:tblGrid>
                <a:gridCol w="2103120"/>
                <a:gridCol w="2743200"/>
                <a:gridCol w="2194560"/>
              </a:tblGrid>
              <a:tr h="530352">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Stakeholder</a:t>
                      </a:r>
                      <a:endParaRPr lang="en-US" sz="110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DAD7DD"/>
                    </a:solidFill>
                  </a:tcPr>
                </a:tc>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Need</a:t>
                      </a:r>
                      <a:endParaRPr lang="en-US" sz="110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DAD7DD"/>
                    </a:solidFill>
                  </a:tcPr>
                </a:tc>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Touchpoint</a:t>
                      </a:r>
                      <a:endParaRPr lang="en-US" sz="110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DAD7DD"/>
                    </a:solidFill>
                  </a:tcPr>
                </a:tc>
              </a:tr>
              <a:tr h="530352">
                <a:tc>
                  <a:txBody>
                    <a:bodyPr/>
                    <a:lstStyle/>
                    <a:p>
                      <a:pPr indent="0" marL="0">
                        <a:buNone/>
                      </a:pPr>
                      <a:r>
                        <a:rPr lang="en-US" sz="1100" dirty="0">
                          <a:solidFill>
                            <a:srgbClr val="2A2A2A"/>
                          </a:solidFill>
                          <a:latin typeface="Calibri" pitchFamily="34" charset="0"/>
                          <a:ea typeface="Calibri" pitchFamily="34" charset="-122"/>
                          <a:cs typeface="Calibri" pitchFamily="34" charset="-120"/>
                        </a:rPr>
                        <a:t>Client / Product Owner</a:t>
                      </a:r>
                      <a:endParaRPr lang="en-US" sz="110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4F1F8"/>
                    </a:solidFill>
                  </a:tcPr>
                </a:tc>
                <a:tc>
                  <a:txBody>
                    <a:bodyPr/>
                    <a:lstStyle/>
                    <a:p>
                      <a:pPr indent="0" marL="0">
                        <a:buNone/>
                      </a:pPr>
                      <a:r>
                        <a:rPr lang="en-US" sz="1100" dirty="0">
                          <a:solidFill>
                            <a:srgbClr val="2A2A2A"/>
                          </a:solidFill>
                          <a:latin typeface="Calibri" pitchFamily="34" charset="0"/>
                          <a:ea typeface="Calibri" pitchFamily="34" charset="-122"/>
                          <a:cs typeface="Calibri" pitchFamily="34" charset="-120"/>
                        </a:rPr>
                        <a:t>Features delivered as described</a:t>
                      </a:r>
                      <a:endParaRPr lang="en-US" sz="110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4F1F8"/>
                    </a:solidFill>
                  </a:tcPr>
                </a:tc>
                <a:tc>
                  <a:txBody>
                    <a:bodyPr/>
                    <a:lstStyle/>
                    <a:p>
                      <a:pPr indent="0" marL="0">
                        <a:buNone/>
                      </a:pPr>
                      <a:r>
                        <a:rPr lang="en-US" sz="1100" dirty="0">
                          <a:solidFill>
                            <a:srgbClr val="2A2A2A"/>
                          </a:solidFill>
                          <a:latin typeface="Calibri" pitchFamily="34" charset="0"/>
                          <a:ea typeface="Calibri" pitchFamily="34" charset="-122"/>
                          <a:cs typeface="Calibri" pitchFamily="34" charset="-120"/>
                        </a:rPr>
                        <a:t>Approves stories at Gate 1</a:t>
                      </a:r>
                      <a:endParaRPr lang="en-US" sz="110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4F1F8"/>
                    </a:solidFill>
                  </a:tcPr>
                </a:tc>
              </a:tr>
              <a:tr h="530352">
                <a:tc>
                  <a:txBody>
                    <a:bodyPr/>
                    <a:lstStyle/>
                    <a:p>
                      <a:pPr indent="0" marL="0">
                        <a:buNone/>
                      </a:pPr>
                      <a:r>
                        <a:rPr lang="en-US" sz="1100" dirty="0">
                          <a:solidFill>
                            <a:srgbClr val="2A2A2A"/>
                          </a:solidFill>
                          <a:latin typeface="Calibri" pitchFamily="34" charset="0"/>
                          <a:ea typeface="Calibri" pitchFamily="34" charset="-122"/>
                          <a:cs typeface="Calibri" pitchFamily="34" charset="-120"/>
                        </a:rPr>
                        <a:t>Project Manager</a:t>
                      </a:r>
                      <a:endParaRPr lang="en-US" sz="110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BFAFD"/>
                    </a:solidFill>
                  </a:tcPr>
                </a:tc>
                <a:tc>
                  <a:txBody>
                    <a:bodyPr/>
                    <a:lstStyle/>
                    <a:p>
                      <a:pPr indent="0" marL="0">
                        <a:buNone/>
                      </a:pPr>
                      <a:r>
                        <a:rPr lang="en-US" sz="1100" dirty="0">
                          <a:solidFill>
                            <a:srgbClr val="2A2A2A"/>
                          </a:solidFill>
                          <a:latin typeface="Calibri" pitchFamily="34" charset="0"/>
                          <a:ea typeface="Calibri" pitchFamily="34" charset="-122"/>
                          <a:cs typeface="Calibri" pitchFamily="34" charset="-120"/>
                        </a:rPr>
                        <a:t>Visible status, realistic estimates</a:t>
                      </a:r>
                      <a:endParaRPr lang="en-US" sz="110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BFAFD"/>
                    </a:solidFill>
                  </a:tcPr>
                </a:tc>
                <a:tc>
                  <a:txBody>
                    <a:bodyPr/>
                    <a:lstStyle/>
                    <a:p>
                      <a:pPr indent="0" marL="0">
                        <a:buNone/>
                      </a:pPr>
                      <a:r>
                        <a:rPr lang="en-US" sz="1100" dirty="0">
                          <a:solidFill>
                            <a:srgbClr val="2A2A2A"/>
                          </a:solidFill>
                          <a:latin typeface="Calibri" pitchFamily="34" charset="0"/>
                          <a:ea typeface="Calibri" pitchFamily="34" charset="-122"/>
                          <a:cs typeface="Calibri" pitchFamily="34" charset="-120"/>
                        </a:rPr>
                        <a:t>Reads live activity log &amp; blockers</a:t>
                      </a:r>
                      <a:endParaRPr lang="en-US" sz="110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BFAFD"/>
                    </a:solidFill>
                  </a:tcPr>
                </a:tc>
              </a:tr>
              <a:tr h="530352">
                <a:tc>
                  <a:txBody>
                    <a:bodyPr/>
                    <a:lstStyle/>
                    <a:p>
                      <a:pPr indent="0" marL="0">
                        <a:buNone/>
                      </a:pPr>
                      <a:r>
                        <a:rPr lang="en-US" sz="1100" dirty="0">
                          <a:solidFill>
                            <a:srgbClr val="2A2A2A"/>
                          </a:solidFill>
                          <a:latin typeface="Calibri" pitchFamily="34" charset="0"/>
                          <a:ea typeface="Calibri" pitchFamily="34" charset="-122"/>
                          <a:cs typeface="Calibri" pitchFamily="34" charset="-120"/>
                        </a:rPr>
                        <a:t>Developer</a:t>
                      </a:r>
                      <a:endParaRPr lang="en-US" sz="110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4F1F8"/>
                    </a:solidFill>
                  </a:tcPr>
                </a:tc>
                <a:tc>
                  <a:txBody>
                    <a:bodyPr/>
                    <a:lstStyle/>
                    <a:p>
                      <a:pPr indent="0" marL="0">
                        <a:buNone/>
                      </a:pPr>
                      <a:r>
                        <a:rPr lang="en-US" sz="1100" dirty="0">
                          <a:solidFill>
                            <a:srgbClr val="2A2A2A"/>
                          </a:solidFill>
                          <a:latin typeface="Calibri" pitchFamily="34" charset="0"/>
                          <a:ea typeface="Calibri" pitchFamily="34" charset="-122"/>
                          <a:cs typeface="Calibri" pitchFamily="34" charset="-120"/>
                        </a:rPr>
                        <a:t>Owns the final code</a:t>
                      </a:r>
                      <a:endParaRPr lang="en-US" sz="110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4F1F8"/>
                    </a:solidFill>
                  </a:tcPr>
                </a:tc>
                <a:tc>
                  <a:txBody>
                    <a:bodyPr/>
                    <a:lstStyle/>
                    <a:p>
                      <a:pPr indent="0" marL="0">
                        <a:buNone/>
                      </a:pPr>
                      <a:r>
                        <a:rPr lang="en-US" sz="1100" dirty="0">
                          <a:solidFill>
                            <a:srgbClr val="2A2A2A"/>
                          </a:solidFill>
                          <a:latin typeface="Calibri" pitchFamily="34" charset="0"/>
                          <a:ea typeface="Calibri" pitchFamily="34" charset="-122"/>
                          <a:cs typeface="Calibri" pitchFamily="34" charset="-120"/>
                        </a:rPr>
                        <a:t>Approves code &amp; review at Gate 2</a:t>
                      </a:r>
                      <a:endParaRPr lang="en-US" sz="110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4F1F8"/>
                    </a:solidFill>
                  </a:tcPr>
                </a:tc>
              </a:tr>
              <a:tr h="530352">
                <a:tc>
                  <a:txBody>
                    <a:bodyPr/>
                    <a:lstStyle/>
                    <a:p>
                      <a:pPr indent="0" marL="0">
                        <a:buNone/>
                      </a:pPr>
                      <a:r>
                        <a:rPr lang="en-US" sz="1100" dirty="0">
                          <a:solidFill>
                            <a:srgbClr val="2A2A2A"/>
                          </a:solidFill>
                          <a:latin typeface="Calibri" pitchFamily="34" charset="0"/>
                          <a:ea typeface="Calibri" pitchFamily="34" charset="-122"/>
                          <a:cs typeface="Calibri" pitchFamily="34" charset="-120"/>
                        </a:rPr>
                        <a:t>QA Engineer</a:t>
                      </a:r>
                      <a:endParaRPr lang="en-US" sz="110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BFAFD"/>
                    </a:solidFill>
                  </a:tcPr>
                </a:tc>
                <a:tc>
                  <a:txBody>
                    <a:bodyPr/>
                    <a:lstStyle/>
                    <a:p>
                      <a:pPr indent="0" marL="0">
                        <a:buNone/>
                      </a:pPr>
                      <a:r>
                        <a:rPr lang="en-US" sz="1100" dirty="0">
                          <a:solidFill>
                            <a:srgbClr val="2A2A2A"/>
                          </a:solidFill>
                          <a:latin typeface="Calibri" pitchFamily="34" charset="0"/>
                          <a:ea typeface="Calibri" pitchFamily="34" charset="-122"/>
                          <a:cs typeface="Calibri" pitchFamily="34" charset="-120"/>
                        </a:rPr>
                        <a:t>Coverage of real edge cases</a:t>
                      </a:r>
                      <a:endParaRPr lang="en-US" sz="110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BFAFD"/>
                    </a:solidFill>
                  </a:tcPr>
                </a:tc>
                <a:tc>
                  <a:txBody>
                    <a:bodyPr/>
                    <a:lstStyle/>
                    <a:p>
                      <a:pPr indent="0" marL="0">
                        <a:buNone/>
                      </a:pPr>
                      <a:r>
                        <a:rPr lang="en-US" sz="1100" dirty="0">
                          <a:solidFill>
                            <a:srgbClr val="2A2A2A"/>
                          </a:solidFill>
                          <a:latin typeface="Calibri" pitchFamily="34" charset="0"/>
                          <a:ea typeface="Calibri" pitchFamily="34" charset="-122"/>
                          <a:cs typeface="Calibri" pitchFamily="34" charset="-120"/>
                        </a:rPr>
                        <a:t>Curates Testing Agent's suites</a:t>
                      </a:r>
                      <a:endParaRPr lang="en-US" sz="110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BFAFD"/>
                    </a:solidFill>
                  </a:tcPr>
                </a:tc>
              </a:tr>
              <a:tr h="530352">
                <a:tc>
                  <a:txBody>
                    <a:bodyPr/>
                    <a:lstStyle/>
                    <a:p>
                      <a:pPr indent="0" marL="0">
                        <a:buNone/>
                      </a:pPr>
                      <a:r>
                        <a:rPr lang="en-US" sz="1100" dirty="0">
                          <a:solidFill>
                            <a:srgbClr val="2A2A2A"/>
                          </a:solidFill>
                          <a:latin typeface="Calibri" pitchFamily="34" charset="0"/>
                          <a:ea typeface="Calibri" pitchFamily="34" charset="-122"/>
                          <a:cs typeface="Calibri" pitchFamily="34" charset="-120"/>
                        </a:rPr>
                        <a:t>DevOps / SRE</a:t>
                      </a:r>
                      <a:endParaRPr lang="en-US" sz="110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4F1F8"/>
                    </a:solidFill>
                  </a:tcPr>
                </a:tc>
                <a:tc>
                  <a:txBody>
                    <a:bodyPr/>
                    <a:lstStyle/>
                    <a:p>
                      <a:pPr indent="0" marL="0">
                        <a:buNone/>
                      </a:pPr>
                      <a:r>
                        <a:rPr lang="en-US" sz="1100" dirty="0">
                          <a:solidFill>
                            <a:srgbClr val="2A2A2A"/>
                          </a:solidFill>
                          <a:latin typeface="Calibri" pitchFamily="34" charset="0"/>
                          <a:ea typeface="Calibri" pitchFamily="34" charset="-122"/>
                          <a:cs typeface="Calibri" pitchFamily="34" charset="-120"/>
                        </a:rPr>
                        <a:t>Safe, reversible releases</a:t>
                      </a:r>
                      <a:endParaRPr lang="en-US" sz="110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4F1F8"/>
                    </a:solidFill>
                  </a:tcPr>
                </a:tc>
                <a:tc>
                  <a:txBody>
                    <a:bodyPr/>
                    <a:lstStyle/>
                    <a:p>
                      <a:pPr indent="0" marL="0">
                        <a:buNone/>
                      </a:pPr>
                      <a:r>
                        <a:rPr lang="en-US" sz="1100" dirty="0">
                          <a:solidFill>
                            <a:srgbClr val="2A2A2A"/>
                          </a:solidFill>
                          <a:latin typeface="Calibri" pitchFamily="34" charset="0"/>
                          <a:ea typeface="Calibri" pitchFamily="34" charset="-122"/>
                          <a:cs typeface="Calibri" pitchFamily="34" charset="-120"/>
                        </a:rPr>
                        <a:t>Approves release at Gate 3</a:t>
                      </a:r>
                      <a:endParaRPr lang="en-US" sz="110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4F1F8"/>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320040"/>
            <a:ext cx="914400" cy="914400"/>
          </a:xfrm>
          <a:prstGeom prst="ellipse">
            <a:avLst/>
          </a:prstGeom>
          <a:solidFill>
            <a:srgbClr val="F5C518"/>
          </a:solidFill>
          <a:ln/>
        </p:spPr>
      </p:sp>
      <p:sp>
        <p:nvSpPr>
          <p:cNvPr id="3" name="Text 1"/>
          <p:cNvSpPr txBox="1"/>
          <p:nvPr/>
        </p:nvSpPr>
        <p:spPr>
          <a:xfrm>
            <a:off x="411480" y="320040"/>
            <a:ext cx="914400" cy="914400"/>
          </a:xfrm>
          <a:prstGeom prst="rect">
            <a:avLst/>
          </a:prstGeom>
          <a:noFill/>
          <a:ln/>
        </p:spPr>
        <p:txBody>
          <a:bodyPr wrap="square" lIns="0" tIns="0" rIns="0" bIns="0" rtlCol="0" anchor="ctr"/>
          <a:lstStyle/>
          <a:p>
            <a:pPr algn="ctr" indent="0" marL="0">
              <a:buNone/>
            </a:pPr>
            <a:r>
              <a:rPr lang="en-US" sz="3000" b="1" dirty="0">
                <a:solidFill>
                  <a:srgbClr val="1A1A1A"/>
                </a:solidFill>
                <a:latin typeface="Calibri" pitchFamily="34" charset="0"/>
                <a:ea typeface="Calibri" pitchFamily="34" charset="-122"/>
                <a:cs typeface="Calibri" pitchFamily="34" charset="-120"/>
              </a:rPr>
              <a:t>4</a:t>
            </a:r>
            <a:endParaRPr lang="en-US" sz="3000" dirty="0"/>
          </a:p>
        </p:txBody>
      </p:sp>
      <p:sp>
        <p:nvSpPr>
          <p:cNvPr id="4" name="Text 2"/>
          <p:cNvSpPr txBox="1"/>
          <p:nvPr/>
        </p:nvSpPr>
        <p:spPr>
          <a:xfrm>
            <a:off x="1508760" y="301752"/>
            <a:ext cx="8503920" cy="685800"/>
          </a:xfrm>
          <a:prstGeom prst="rect">
            <a:avLst/>
          </a:prstGeom>
          <a:noFill/>
          <a:ln/>
        </p:spPr>
        <p:txBody>
          <a:bodyPr wrap="square" lIns="0" tIns="0" rIns="0" bIns="0" rtlCol="0" anchor="ctr"/>
          <a:lstStyle/>
          <a:p>
            <a:pPr indent="0" marL="0">
              <a:buNone/>
            </a:pPr>
            <a:r>
              <a:rPr lang="en-US" sz="2800" b="1" dirty="0">
                <a:solidFill>
                  <a:srgbClr val="5B2D8E"/>
                </a:solidFill>
                <a:latin typeface="Cambria" pitchFamily="34" charset="0"/>
                <a:ea typeface="Cambria" pitchFamily="34" charset="-122"/>
                <a:cs typeface="Cambria" pitchFamily="34" charset="-120"/>
              </a:rPr>
              <a:t>PROPOSED AGENTIC AI SOLUTION</a:t>
            </a:r>
            <a:endParaRPr lang="en-US" sz="2800" dirty="0"/>
          </a:p>
        </p:txBody>
      </p:sp>
      <p:sp>
        <p:nvSpPr>
          <p:cNvPr id="5" name="Shape 3"/>
          <p:cNvSpPr/>
          <p:nvPr/>
        </p:nvSpPr>
        <p:spPr>
          <a:xfrm>
            <a:off x="1536192" y="987552"/>
            <a:ext cx="1920240" cy="0"/>
          </a:xfrm>
          <a:prstGeom prst="line">
            <a:avLst/>
          </a:prstGeom>
          <a:noFill/>
          <a:ln w="38100">
            <a:solidFill>
              <a:srgbClr val="F5C518"/>
            </a:solidFill>
            <a:prstDash val="solid"/>
          </a:ln>
        </p:spPr>
      </p:sp>
      <p:pic>
        <p:nvPicPr>
          <p:cNvPr id="6" name="Image 0" descr="/home/claude/ppt_nexus_style/assets/logopage-000.png">    </p:cNvPr>
          <p:cNvPicPr>
            <a:picLocks noChangeAspect="1"/>
          </p:cNvPicPr>
          <p:nvPr/>
        </p:nvPicPr>
        <p:blipFill>
          <a:blip r:embed="rId1"/>
          <a:stretch>
            <a:fillRect/>
          </a:stretch>
        </p:blipFill>
        <p:spPr>
          <a:xfrm>
            <a:off x="10149840" y="256032"/>
            <a:ext cx="1600200" cy="768096"/>
          </a:xfrm>
          <a:prstGeom prst="rect">
            <a:avLst/>
          </a:prstGeom>
        </p:spPr>
      </p:pic>
      <p:sp>
        <p:nvSpPr>
          <p:cNvPr id="7" name="Text 4"/>
          <p:cNvSpPr txBox="1"/>
          <p:nvPr/>
        </p:nvSpPr>
        <p:spPr>
          <a:xfrm>
            <a:off x="457200" y="6492240"/>
            <a:ext cx="2743200" cy="2743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Final review</a:t>
            </a:r>
            <a:endParaRPr lang="en-US" sz="1100" dirty="0"/>
          </a:p>
        </p:txBody>
      </p:sp>
      <p:sp>
        <p:nvSpPr>
          <p:cNvPr id="8" name="Text 5"/>
          <p:cNvSpPr txBox="1"/>
          <p:nvPr/>
        </p:nvSpPr>
        <p:spPr>
          <a:xfrm>
            <a:off x="6400800" y="6492240"/>
            <a:ext cx="5349240" cy="274320"/>
          </a:xfrm>
          <a:prstGeom prst="rect">
            <a:avLst/>
          </a:prstGeom>
          <a:noFill/>
          <a:ln/>
        </p:spPr>
        <p:txBody>
          <a:bodyPr wrap="square" lIns="0" tIns="0" rIns="0" bIns="0" rtlCol="0" anchor="ctr"/>
          <a:lstStyle/>
          <a:p>
            <a:pPr algn="r" indent="0" marL="0">
              <a:buNone/>
            </a:pPr>
            <a:r>
              <a:rPr lang="en-US" sz="1100" dirty="0">
                <a:solidFill>
                  <a:srgbClr val="1A1A1A"/>
                </a:solidFill>
                <a:latin typeface="Calibri" pitchFamily="34" charset="0"/>
                <a:ea typeface="Calibri" pitchFamily="34" charset="-122"/>
                <a:cs typeface="Calibri" pitchFamily="34" charset="-120"/>
              </a:rPr>
              <a:t>Department of Artificial Intelligence and Machine Learning</a:t>
            </a:r>
            <a:endParaRPr lang="en-US" sz="1100" dirty="0"/>
          </a:p>
        </p:txBody>
      </p:sp>
      <p:sp>
        <p:nvSpPr>
          <p:cNvPr id="9" name="Shape 6"/>
          <p:cNvSpPr/>
          <p:nvPr/>
        </p:nvSpPr>
        <p:spPr>
          <a:xfrm>
            <a:off x="548640" y="1600200"/>
            <a:ext cx="11064240" cy="4526280"/>
          </a:xfrm>
          <a:prstGeom prst="roundRect">
            <a:avLst>
              <a:gd name="adj" fmla="val 2020"/>
            </a:avLst>
          </a:prstGeom>
          <a:solidFill>
            <a:srgbClr val="F4F1F8"/>
          </a:solidFill>
          <a:ln w="12700">
            <a:solidFill>
              <a:srgbClr val="E3DCEF"/>
            </a:solidFill>
            <a:prstDash val="solid"/>
          </a:ln>
        </p:spPr>
      </p:sp>
      <p:sp>
        <p:nvSpPr>
          <p:cNvPr id="10" name="Shape 7"/>
          <p:cNvSpPr/>
          <p:nvPr/>
        </p:nvSpPr>
        <p:spPr>
          <a:xfrm>
            <a:off x="868680" y="1920240"/>
            <a:ext cx="5074920" cy="3931920"/>
          </a:xfrm>
          <a:prstGeom prst="roundRect">
            <a:avLst>
              <a:gd name="adj" fmla="val 2791"/>
            </a:avLst>
          </a:prstGeom>
          <a:solidFill>
            <a:srgbClr val="FFFFFF"/>
          </a:solidFill>
          <a:ln/>
          <a:effectLst>
            <a:outerShdw sx="100000" sy="100000" kx="0" ky="0" algn="bl" rotWithShape="0" blurRad="8.317487960419258e+45" dist="2.7724959868064195e+45" dir="3.2651735040000005e+54">
              <a:srgbClr val="444444">
                <a:alpha val="1.8e+54"/>
              </a:srgbClr>
            </a:outerShdw>
          </a:effectLst>
        </p:spPr>
      </p:sp>
      <p:sp>
        <p:nvSpPr>
          <p:cNvPr id="11" name="Text 8"/>
          <p:cNvSpPr txBox="1"/>
          <p:nvPr/>
        </p:nvSpPr>
        <p:spPr>
          <a:xfrm>
            <a:off x="1097280" y="2103120"/>
            <a:ext cx="4617720" cy="411480"/>
          </a:xfrm>
          <a:prstGeom prst="rect">
            <a:avLst/>
          </a:prstGeom>
          <a:noFill/>
          <a:ln/>
        </p:spPr>
        <p:txBody>
          <a:bodyPr wrap="square" lIns="0" tIns="0" rIns="0" bIns="0" rtlCol="0" anchor="ctr"/>
          <a:lstStyle/>
          <a:p>
            <a:pPr indent="0" marL="0">
              <a:buNone/>
            </a:pPr>
            <a:r>
              <a:rPr lang="en-US" sz="1600" b="1" dirty="0">
                <a:solidFill>
                  <a:srgbClr val="5B2D8E"/>
                </a:solidFill>
                <a:latin typeface="Calibri" pitchFamily="34" charset="0"/>
                <a:ea typeface="Calibri" pitchFamily="34" charset="-122"/>
                <a:cs typeface="Calibri" pitchFamily="34" charset="-120"/>
              </a:rPr>
              <a:t>Overall Solution</a:t>
            </a:r>
            <a:endParaRPr lang="en-US" sz="1600" dirty="0"/>
          </a:p>
        </p:txBody>
      </p:sp>
      <p:sp>
        <p:nvSpPr>
          <p:cNvPr id="12" name="Text 9"/>
          <p:cNvSpPr txBox="1"/>
          <p:nvPr/>
        </p:nvSpPr>
        <p:spPr>
          <a:xfrm>
            <a:off x="1097280" y="2542032"/>
            <a:ext cx="4617720" cy="3200400"/>
          </a:xfrm>
          <a:prstGeom prst="rect">
            <a:avLst/>
          </a:prstGeom>
          <a:noFill/>
          <a:ln/>
        </p:spPr>
        <p:txBody>
          <a:bodyPr wrap="square" lIns="0" tIns="0" rIns="0" bIns="0" rtlCol="0" anchor="t"/>
          <a:lstStyle/>
          <a:p>
            <a:pPr indent="0" marL="0">
              <a:lnSpc>
                <a:spcPct val="130000"/>
              </a:lnSpc>
              <a:buNone/>
            </a:pPr>
            <a:r>
              <a:rPr lang="en-US" sz="1250" dirty="0">
                <a:solidFill>
                  <a:srgbClr val="2A2A2A"/>
                </a:solidFill>
                <a:latin typeface="Calibri" pitchFamily="34" charset="0"/>
                <a:ea typeface="Calibri" pitchFamily="34" charset="-122"/>
                <a:cs typeface="Calibri" pitchFamily="34" charset="-120"/>
              </a:rPr>
              <a:t>A plain-English feature request is processed by an orchestrator that invokes six specialised agents in sequence, each a Supabase Edge Function calling the Lovable AI Gateway. Each agent receives every prior agent's output plus shared memory, and returns structured JSON the frontend renders. Three human gates pause the pipeline until a Product Owner, Developer or SRE records a decision.</a:t>
            </a:r>
            <a:endParaRPr lang="en-US" sz="1250" dirty="0"/>
          </a:p>
        </p:txBody>
      </p:sp>
      <p:sp>
        <p:nvSpPr>
          <p:cNvPr id="13" name="Shape 10"/>
          <p:cNvSpPr/>
          <p:nvPr/>
        </p:nvSpPr>
        <p:spPr>
          <a:xfrm>
            <a:off x="6217920" y="1920240"/>
            <a:ext cx="5394960" cy="3931920"/>
          </a:xfrm>
          <a:prstGeom prst="roundRect">
            <a:avLst>
              <a:gd name="adj" fmla="val 2791"/>
            </a:avLst>
          </a:prstGeom>
          <a:solidFill>
            <a:srgbClr val="5B2D8E"/>
          </a:solidFill>
          <a:ln/>
          <a:effectLst>
            <a:outerShdw sx="100000" sy="100000" kx="0" ky="0" algn="bl" rotWithShape="0" blurRad="1.0563209709732457e+50" dist="3.5210699032441527e+49" dir="1.9591041024000004e+59">
              <a:srgbClr val="444444">
                <a:alpha val="1.8000000000000001e+59"/>
              </a:srgbClr>
            </a:outerShdw>
          </a:effectLst>
        </p:spPr>
      </p:sp>
      <p:sp>
        <p:nvSpPr>
          <p:cNvPr id="14" name="Text 11"/>
          <p:cNvSpPr txBox="1"/>
          <p:nvPr/>
        </p:nvSpPr>
        <p:spPr>
          <a:xfrm>
            <a:off x="6492240" y="2103120"/>
            <a:ext cx="4846320" cy="365760"/>
          </a:xfrm>
          <a:prstGeom prst="rect">
            <a:avLst/>
          </a:prstGeom>
          <a:noFill/>
          <a:ln/>
        </p:spPr>
        <p:txBody>
          <a:bodyPr wrap="square" lIns="0" tIns="0" rIns="0" bIns="0" rtlCol="0" anchor="ctr"/>
          <a:lstStyle/>
          <a:p>
            <a:pPr indent="0" marL="0">
              <a:buNone/>
            </a:pPr>
            <a:r>
              <a:rPr lang="en-US" sz="1600" b="1" dirty="0">
                <a:solidFill>
                  <a:srgbClr val="F5C518"/>
                </a:solidFill>
                <a:latin typeface="Calibri" pitchFamily="34" charset="0"/>
                <a:ea typeface="Calibri" pitchFamily="34" charset="-122"/>
                <a:cs typeface="Calibri" pitchFamily="34" charset="-120"/>
              </a:rPr>
              <a:t>Key Features</a:t>
            </a:r>
            <a:endParaRPr lang="en-US" sz="1600" dirty="0"/>
          </a:p>
        </p:txBody>
      </p:sp>
      <p:sp>
        <p:nvSpPr>
          <p:cNvPr id="15" name="Text 12"/>
          <p:cNvSpPr txBox="1"/>
          <p:nvPr/>
        </p:nvSpPr>
        <p:spPr>
          <a:xfrm>
            <a:off x="6492240" y="2560320"/>
            <a:ext cx="4846320" cy="3200400"/>
          </a:xfrm>
          <a:prstGeom prst="rect">
            <a:avLst/>
          </a:prstGeom>
          <a:noFill/>
          <a:ln/>
        </p:spPr>
        <p:txBody>
          <a:bodyPr wrap="square" lIns="0" tIns="0" rIns="0" bIns="0" rtlCol="0" anchor="t"/>
          <a:lstStyle/>
          <a:p>
            <a:pPr marL="342900" indent="-342900">
              <a:lnSpc>
                <a:spcPct val="130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Dashboard for requests &amp; run history</a:t>
            </a:r>
            <a:endParaRPr lang="en-US" sz="1250" dirty="0"/>
          </a:p>
          <a:p>
            <a:pPr marL="342900" indent="-342900">
              <a:lnSpc>
                <a:spcPct val="130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Run View: six-agent pipeline with live status</a:t>
            </a:r>
            <a:endParaRPr lang="en-US" sz="1250" dirty="0"/>
          </a:p>
          <a:p>
            <a:pPr marL="342900" indent="-342900">
              <a:lnSpc>
                <a:spcPct val="130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Stakeholder View: role-filtered data &amp; gate controls</a:t>
            </a:r>
            <a:endParaRPr lang="en-US" sz="1250" dirty="0"/>
          </a:p>
          <a:p>
            <a:pPr marL="342900" indent="-342900">
              <a:lnSpc>
                <a:spcPct val="130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Traceability: requirement → design → code → test → deploy</a:t>
            </a:r>
            <a:endParaRPr lang="en-US" sz="1250" dirty="0"/>
          </a:p>
          <a:p>
            <a:pPr marL="342900" indent="-342900">
              <a:lnSpc>
                <a:spcPct val="130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Shared memory of past decisions</a:t>
            </a:r>
            <a:endParaRPr lang="en-US" sz="1250" dirty="0"/>
          </a:p>
          <a:p>
            <a:pPr marL="342900" indent="-342900">
              <a:lnSpc>
                <a:spcPct val="130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Safety panel: budgets, sign-off, audit log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320040"/>
            <a:ext cx="914400" cy="914400"/>
          </a:xfrm>
          <a:prstGeom prst="ellipse">
            <a:avLst/>
          </a:prstGeom>
          <a:solidFill>
            <a:srgbClr val="F5C518"/>
          </a:solidFill>
          <a:ln/>
        </p:spPr>
      </p:sp>
      <p:sp>
        <p:nvSpPr>
          <p:cNvPr id="3" name="Text 1"/>
          <p:cNvSpPr txBox="1"/>
          <p:nvPr/>
        </p:nvSpPr>
        <p:spPr>
          <a:xfrm>
            <a:off x="411480" y="320040"/>
            <a:ext cx="914400" cy="914400"/>
          </a:xfrm>
          <a:prstGeom prst="rect">
            <a:avLst/>
          </a:prstGeom>
          <a:noFill/>
          <a:ln/>
        </p:spPr>
        <p:txBody>
          <a:bodyPr wrap="square" lIns="0" tIns="0" rIns="0" bIns="0" rtlCol="0" anchor="ctr"/>
          <a:lstStyle/>
          <a:p>
            <a:pPr algn="ctr" indent="0" marL="0">
              <a:buNone/>
            </a:pPr>
            <a:r>
              <a:rPr lang="en-US" sz="3000" b="1" dirty="0">
                <a:solidFill>
                  <a:srgbClr val="1A1A1A"/>
                </a:solidFill>
                <a:latin typeface="Calibri" pitchFamily="34" charset="0"/>
                <a:ea typeface="Calibri" pitchFamily="34" charset="-122"/>
                <a:cs typeface="Calibri" pitchFamily="34" charset="-120"/>
              </a:rPr>
              <a:t>5</a:t>
            </a:r>
            <a:endParaRPr lang="en-US" sz="3000" dirty="0"/>
          </a:p>
        </p:txBody>
      </p:sp>
      <p:sp>
        <p:nvSpPr>
          <p:cNvPr id="4" name="Text 2"/>
          <p:cNvSpPr txBox="1"/>
          <p:nvPr/>
        </p:nvSpPr>
        <p:spPr>
          <a:xfrm>
            <a:off x="1508760" y="301752"/>
            <a:ext cx="8503920" cy="685800"/>
          </a:xfrm>
          <a:prstGeom prst="rect">
            <a:avLst/>
          </a:prstGeom>
          <a:noFill/>
          <a:ln/>
        </p:spPr>
        <p:txBody>
          <a:bodyPr wrap="square" lIns="0" tIns="0" rIns="0" bIns="0" rtlCol="0" anchor="ctr"/>
          <a:lstStyle/>
          <a:p>
            <a:pPr indent="0" marL="0">
              <a:buNone/>
            </a:pPr>
            <a:r>
              <a:rPr lang="en-US" sz="2800" b="1" dirty="0">
                <a:solidFill>
                  <a:srgbClr val="5B2D8E"/>
                </a:solidFill>
                <a:latin typeface="Cambria" pitchFamily="34" charset="0"/>
                <a:ea typeface="Cambria" pitchFamily="34" charset="-122"/>
                <a:cs typeface="Cambria" pitchFamily="34" charset="-120"/>
              </a:rPr>
              <a:t>DATASET AND KNOWLEDGE SOURCES</a:t>
            </a:r>
            <a:endParaRPr lang="en-US" sz="2800" dirty="0"/>
          </a:p>
        </p:txBody>
      </p:sp>
      <p:sp>
        <p:nvSpPr>
          <p:cNvPr id="5" name="Shape 3"/>
          <p:cNvSpPr/>
          <p:nvPr/>
        </p:nvSpPr>
        <p:spPr>
          <a:xfrm>
            <a:off x="1536192" y="987552"/>
            <a:ext cx="1920240" cy="0"/>
          </a:xfrm>
          <a:prstGeom prst="line">
            <a:avLst/>
          </a:prstGeom>
          <a:noFill/>
          <a:ln w="38100">
            <a:solidFill>
              <a:srgbClr val="F5C518"/>
            </a:solidFill>
            <a:prstDash val="solid"/>
          </a:ln>
        </p:spPr>
      </p:sp>
      <p:pic>
        <p:nvPicPr>
          <p:cNvPr id="6" name="Image 0" descr="/home/claude/ppt_nexus_style/assets/logopage-000.png">    </p:cNvPr>
          <p:cNvPicPr>
            <a:picLocks noChangeAspect="1"/>
          </p:cNvPicPr>
          <p:nvPr/>
        </p:nvPicPr>
        <p:blipFill>
          <a:blip r:embed="rId1"/>
          <a:stretch>
            <a:fillRect/>
          </a:stretch>
        </p:blipFill>
        <p:spPr>
          <a:xfrm>
            <a:off x="10149840" y="256032"/>
            <a:ext cx="1600200" cy="768096"/>
          </a:xfrm>
          <a:prstGeom prst="rect">
            <a:avLst/>
          </a:prstGeom>
        </p:spPr>
      </p:pic>
      <p:sp>
        <p:nvSpPr>
          <p:cNvPr id="7" name="Text 4"/>
          <p:cNvSpPr txBox="1"/>
          <p:nvPr/>
        </p:nvSpPr>
        <p:spPr>
          <a:xfrm>
            <a:off x="457200" y="6492240"/>
            <a:ext cx="2743200" cy="2743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Final review</a:t>
            </a:r>
            <a:endParaRPr lang="en-US" sz="1100" dirty="0"/>
          </a:p>
        </p:txBody>
      </p:sp>
      <p:sp>
        <p:nvSpPr>
          <p:cNvPr id="8" name="Text 5"/>
          <p:cNvSpPr txBox="1"/>
          <p:nvPr/>
        </p:nvSpPr>
        <p:spPr>
          <a:xfrm>
            <a:off x="6400800" y="6492240"/>
            <a:ext cx="5349240" cy="274320"/>
          </a:xfrm>
          <a:prstGeom prst="rect">
            <a:avLst/>
          </a:prstGeom>
          <a:noFill/>
          <a:ln/>
        </p:spPr>
        <p:txBody>
          <a:bodyPr wrap="square" lIns="0" tIns="0" rIns="0" bIns="0" rtlCol="0" anchor="ctr"/>
          <a:lstStyle/>
          <a:p>
            <a:pPr algn="r" indent="0" marL="0">
              <a:buNone/>
            </a:pPr>
            <a:r>
              <a:rPr lang="en-US" sz="1100" dirty="0">
                <a:solidFill>
                  <a:srgbClr val="1A1A1A"/>
                </a:solidFill>
                <a:latin typeface="Calibri" pitchFamily="34" charset="0"/>
                <a:ea typeface="Calibri" pitchFamily="34" charset="-122"/>
                <a:cs typeface="Calibri" pitchFamily="34" charset="-120"/>
              </a:rPr>
              <a:t>Department of Artificial Intelligence and Machine Learning</a:t>
            </a:r>
            <a:endParaRPr lang="en-US" sz="1100" dirty="0"/>
          </a:p>
        </p:txBody>
      </p:sp>
      <p:sp>
        <p:nvSpPr>
          <p:cNvPr id="9" name="Shape 6"/>
          <p:cNvSpPr/>
          <p:nvPr/>
        </p:nvSpPr>
        <p:spPr>
          <a:xfrm>
            <a:off x="548640" y="1600200"/>
            <a:ext cx="11064240" cy="4526280"/>
          </a:xfrm>
          <a:prstGeom prst="roundRect">
            <a:avLst>
              <a:gd name="adj" fmla="val 2020"/>
            </a:avLst>
          </a:prstGeom>
          <a:solidFill>
            <a:srgbClr val="F4F1F8"/>
          </a:solidFill>
          <a:ln w="12700">
            <a:solidFill>
              <a:srgbClr val="E3DCEF"/>
            </a:solidFill>
            <a:prstDash val="solid"/>
          </a:ln>
        </p:spPr>
      </p:sp>
      <p:sp>
        <p:nvSpPr>
          <p:cNvPr id="10" name="Shape 7"/>
          <p:cNvSpPr/>
          <p:nvPr/>
        </p:nvSpPr>
        <p:spPr>
          <a:xfrm>
            <a:off x="1005840" y="1920240"/>
            <a:ext cx="457200" cy="457200"/>
          </a:xfrm>
          <a:prstGeom prst="ellipse">
            <a:avLst/>
          </a:prstGeom>
          <a:solidFill>
            <a:srgbClr val="F5C518"/>
          </a:solidFill>
          <a:ln/>
        </p:spPr>
      </p:sp>
      <p:sp>
        <p:nvSpPr>
          <p:cNvPr id="11" name="Text 8"/>
          <p:cNvSpPr txBox="1"/>
          <p:nvPr/>
        </p:nvSpPr>
        <p:spPr>
          <a:xfrm>
            <a:off x="1005840" y="1920240"/>
            <a:ext cx="45720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1</a:t>
            </a:r>
            <a:endParaRPr lang="en-US" sz="1500" dirty="0"/>
          </a:p>
        </p:txBody>
      </p:sp>
      <p:sp>
        <p:nvSpPr>
          <p:cNvPr id="12" name="Text 9"/>
          <p:cNvSpPr txBox="1"/>
          <p:nvPr/>
        </p:nvSpPr>
        <p:spPr>
          <a:xfrm>
            <a:off x="1005840" y="2487168"/>
            <a:ext cx="2423160" cy="411480"/>
          </a:xfrm>
          <a:prstGeom prst="rect">
            <a:avLst/>
          </a:prstGeom>
          <a:noFill/>
          <a:ln/>
        </p:spPr>
        <p:txBody>
          <a:bodyPr wrap="square" lIns="0" tIns="0" rIns="0" bIns="0" rtlCol="0" anchor="ctr"/>
          <a:lstStyle/>
          <a:p>
            <a:pPr indent="0" marL="0">
              <a:buNone/>
            </a:pPr>
            <a:r>
              <a:rPr lang="en-US" sz="1250" b="1" dirty="0">
                <a:solidFill>
                  <a:srgbClr val="5B2D8E"/>
                </a:solidFill>
                <a:latin typeface="Calibri" pitchFamily="34" charset="0"/>
                <a:ea typeface="Calibri" pitchFamily="34" charset="-122"/>
                <a:cs typeface="Calibri" pitchFamily="34" charset="-120"/>
              </a:rPr>
              <a:t>The live feature request</a:t>
            </a:r>
            <a:endParaRPr lang="en-US" sz="1250" dirty="0"/>
          </a:p>
        </p:txBody>
      </p:sp>
      <p:sp>
        <p:nvSpPr>
          <p:cNvPr id="13" name="Text 10"/>
          <p:cNvSpPr txBox="1"/>
          <p:nvPr/>
        </p:nvSpPr>
        <p:spPr>
          <a:xfrm>
            <a:off x="1005840" y="2880360"/>
            <a:ext cx="2423160" cy="1463040"/>
          </a:xfrm>
          <a:prstGeom prst="rect">
            <a:avLst/>
          </a:prstGeom>
          <a:noFill/>
          <a:ln/>
        </p:spPr>
        <p:txBody>
          <a:bodyPr wrap="square" lIns="0" tIns="0" rIns="0" bIns="0" rtlCol="0" anchor="t"/>
          <a:lstStyle/>
          <a:p>
            <a:pPr indent="0" marL="0">
              <a:lnSpc>
                <a:spcPct val="120000"/>
              </a:lnSpc>
              <a:buNone/>
            </a:pPr>
            <a:r>
              <a:rPr lang="en-US" sz="1050" dirty="0">
                <a:solidFill>
                  <a:srgbClr val="2A2A2A"/>
                </a:solidFill>
                <a:latin typeface="Calibri" pitchFamily="34" charset="0"/>
                <a:ea typeface="Calibri" pitchFamily="34" charset="-122"/>
                <a:cs typeface="Calibri" pitchFamily="34" charset="-120"/>
              </a:rPr>
              <a:t>The plain-English text submitted for the current run.</a:t>
            </a:r>
            <a:endParaRPr lang="en-US" sz="1050" dirty="0"/>
          </a:p>
        </p:txBody>
      </p:sp>
      <p:sp>
        <p:nvSpPr>
          <p:cNvPr id="14" name="Shape 11"/>
          <p:cNvSpPr/>
          <p:nvPr/>
        </p:nvSpPr>
        <p:spPr>
          <a:xfrm>
            <a:off x="3703320" y="1920240"/>
            <a:ext cx="457200" cy="457200"/>
          </a:xfrm>
          <a:prstGeom prst="ellipse">
            <a:avLst/>
          </a:prstGeom>
          <a:solidFill>
            <a:srgbClr val="F5C518"/>
          </a:solidFill>
          <a:ln/>
        </p:spPr>
      </p:sp>
      <p:sp>
        <p:nvSpPr>
          <p:cNvPr id="15" name="Text 12"/>
          <p:cNvSpPr txBox="1"/>
          <p:nvPr/>
        </p:nvSpPr>
        <p:spPr>
          <a:xfrm>
            <a:off x="3703320" y="1920240"/>
            <a:ext cx="45720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2</a:t>
            </a:r>
            <a:endParaRPr lang="en-US" sz="1500" dirty="0"/>
          </a:p>
        </p:txBody>
      </p:sp>
      <p:sp>
        <p:nvSpPr>
          <p:cNvPr id="16" name="Text 13"/>
          <p:cNvSpPr txBox="1"/>
          <p:nvPr/>
        </p:nvSpPr>
        <p:spPr>
          <a:xfrm>
            <a:off x="3703320" y="2487168"/>
            <a:ext cx="2423160" cy="411480"/>
          </a:xfrm>
          <a:prstGeom prst="rect">
            <a:avLst/>
          </a:prstGeom>
          <a:noFill/>
          <a:ln/>
        </p:spPr>
        <p:txBody>
          <a:bodyPr wrap="square" lIns="0" tIns="0" rIns="0" bIns="0" rtlCol="0" anchor="ctr"/>
          <a:lstStyle/>
          <a:p>
            <a:pPr indent="0" marL="0">
              <a:buNone/>
            </a:pPr>
            <a:r>
              <a:rPr lang="en-US" sz="1250" b="1" dirty="0">
                <a:solidFill>
                  <a:srgbClr val="5B2D8E"/>
                </a:solidFill>
                <a:latin typeface="Calibri" pitchFamily="34" charset="0"/>
                <a:ea typeface="Calibri" pitchFamily="34" charset="-122"/>
                <a:cs typeface="Calibri" pitchFamily="34" charset="-120"/>
              </a:rPr>
              <a:t>Intra-run context</a:t>
            </a:r>
            <a:endParaRPr lang="en-US" sz="1250" dirty="0"/>
          </a:p>
        </p:txBody>
      </p:sp>
      <p:sp>
        <p:nvSpPr>
          <p:cNvPr id="17" name="Text 14"/>
          <p:cNvSpPr txBox="1"/>
          <p:nvPr/>
        </p:nvSpPr>
        <p:spPr>
          <a:xfrm>
            <a:off x="3703320" y="2880360"/>
            <a:ext cx="2423160" cy="1463040"/>
          </a:xfrm>
          <a:prstGeom prst="rect">
            <a:avLst/>
          </a:prstGeom>
          <a:noFill/>
          <a:ln/>
        </p:spPr>
        <p:txBody>
          <a:bodyPr wrap="square" lIns="0" tIns="0" rIns="0" bIns="0" rtlCol="0" anchor="t"/>
          <a:lstStyle/>
          <a:p>
            <a:pPr indent="0" marL="0">
              <a:lnSpc>
                <a:spcPct val="120000"/>
              </a:lnSpc>
              <a:buNone/>
            </a:pPr>
            <a:r>
              <a:rPr lang="en-US" sz="1050" dirty="0">
                <a:solidFill>
                  <a:srgbClr val="2A2A2A"/>
                </a:solidFill>
                <a:latin typeface="Calibri" pitchFamily="34" charset="0"/>
                <a:ea typeface="Calibri" pitchFamily="34" charset="-122"/>
                <a:cs typeface="Calibri" pitchFamily="34" charset="-120"/>
              </a:rPr>
              <a:t>Every prior agent's structured output within the same run.</a:t>
            </a:r>
            <a:endParaRPr lang="en-US" sz="1050" dirty="0"/>
          </a:p>
        </p:txBody>
      </p:sp>
      <p:sp>
        <p:nvSpPr>
          <p:cNvPr id="18" name="Shape 15"/>
          <p:cNvSpPr/>
          <p:nvPr/>
        </p:nvSpPr>
        <p:spPr>
          <a:xfrm>
            <a:off x="6400800" y="1920240"/>
            <a:ext cx="457200" cy="457200"/>
          </a:xfrm>
          <a:prstGeom prst="ellipse">
            <a:avLst/>
          </a:prstGeom>
          <a:solidFill>
            <a:srgbClr val="F5C518"/>
          </a:solidFill>
          <a:ln/>
        </p:spPr>
      </p:sp>
      <p:sp>
        <p:nvSpPr>
          <p:cNvPr id="19" name="Text 16"/>
          <p:cNvSpPr txBox="1"/>
          <p:nvPr/>
        </p:nvSpPr>
        <p:spPr>
          <a:xfrm>
            <a:off x="6400800" y="1920240"/>
            <a:ext cx="45720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3</a:t>
            </a:r>
            <a:endParaRPr lang="en-US" sz="1500" dirty="0"/>
          </a:p>
        </p:txBody>
      </p:sp>
      <p:sp>
        <p:nvSpPr>
          <p:cNvPr id="20" name="Text 17"/>
          <p:cNvSpPr txBox="1"/>
          <p:nvPr/>
        </p:nvSpPr>
        <p:spPr>
          <a:xfrm>
            <a:off x="6400800" y="2487168"/>
            <a:ext cx="2423160" cy="411480"/>
          </a:xfrm>
          <a:prstGeom prst="rect">
            <a:avLst/>
          </a:prstGeom>
          <a:noFill/>
          <a:ln/>
        </p:spPr>
        <p:txBody>
          <a:bodyPr wrap="square" lIns="0" tIns="0" rIns="0" bIns="0" rtlCol="0" anchor="ctr"/>
          <a:lstStyle/>
          <a:p>
            <a:pPr indent="0" marL="0">
              <a:buNone/>
            </a:pPr>
            <a:r>
              <a:rPr lang="en-US" sz="1250" b="1" dirty="0">
                <a:solidFill>
                  <a:srgbClr val="5B2D8E"/>
                </a:solidFill>
                <a:latin typeface="Calibri" pitchFamily="34" charset="0"/>
                <a:ea typeface="Calibri" pitchFamily="34" charset="-122"/>
                <a:cs typeface="Calibri" pitchFamily="34" charset="-120"/>
              </a:rPr>
              <a:t>Cross-run memory</a:t>
            </a:r>
            <a:endParaRPr lang="en-US" sz="1250" dirty="0"/>
          </a:p>
        </p:txBody>
      </p:sp>
      <p:sp>
        <p:nvSpPr>
          <p:cNvPr id="21" name="Text 18"/>
          <p:cNvSpPr txBox="1"/>
          <p:nvPr/>
        </p:nvSpPr>
        <p:spPr>
          <a:xfrm>
            <a:off x="6400800" y="2880360"/>
            <a:ext cx="2423160" cy="1463040"/>
          </a:xfrm>
          <a:prstGeom prst="rect">
            <a:avLst/>
          </a:prstGeom>
          <a:noFill/>
          <a:ln/>
        </p:spPr>
        <p:txBody>
          <a:bodyPr wrap="square" lIns="0" tIns="0" rIns="0" bIns="0" rtlCol="0" anchor="t"/>
          <a:lstStyle/>
          <a:p>
            <a:pPr indent="0" marL="0">
              <a:lnSpc>
                <a:spcPct val="120000"/>
              </a:lnSpc>
              <a:buNone/>
            </a:pPr>
            <a:r>
              <a:rPr lang="en-US" sz="1050" dirty="0">
                <a:solidFill>
                  <a:srgbClr val="2A2A2A"/>
                </a:solidFill>
                <a:latin typeface="Calibri" pitchFamily="34" charset="0"/>
                <a:ea typeface="Calibri" pitchFamily="34" charset="-122"/>
                <a:cs typeface="Calibri" pitchFamily="34" charset="-120"/>
              </a:rPr>
              <a:t>Persisted memory_items — architectural conventions and constraints from earlier runs.</a:t>
            </a:r>
            <a:endParaRPr lang="en-US" sz="1050" dirty="0"/>
          </a:p>
        </p:txBody>
      </p:sp>
      <p:sp>
        <p:nvSpPr>
          <p:cNvPr id="22" name="Shape 19"/>
          <p:cNvSpPr/>
          <p:nvPr/>
        </p:nvSpPr>
        <p:spPr>
          <a:xfrm>
            <a:off x="9098280" y="1920240"/>
            <a:ext cx="457200" cy="457200"/>
          </a:xfrm>
          <a:prstGeom prst="ellipse">
            <a:avLst/>
          </a:prstGeom>
          <a:solidFill>
            <a:srgbClr val="F5C518"/>
          </a:solidFill>
          <a:ln/>
        </p:spPr>
      </p:sp>
      <p:sp>
        <p:nvSpPr>
          <p:cNvPr id="23" name="Text 20"/>
          <p:cNvSpPr txBox="1"/>
          <p:nvPr/>
        </p:nvSpPr>
        <p:spPr>
          <a:xfrm>
            <a:off x="9098280" y="1920240"/>
            <a:ext cx="45720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4</a:t>
            </a:r>
            <a:endParaRPr lang="en-US" sz="1500" dirty="0"/>
          </a:p>
        </p:txBody>
      </p:sp>
      <p:sp>
        <p:nvSpPr>
          <p:cNvPr id="24" name="Text 21"/>
          <p:cNvSpPr txBox="1"/>
          <p:nvPr/>
        </p:nvSpPr>
        <p:spPr>
          <a:xfrm>
            <a:off x="9098280" y="2487168"/>
            <a:ext cx="2423160" cy="411480"/>
          </a:xfrm>
          <a:prstGeom prst="rect">
            <a:avLst/>
          </a:prstGeom>
          <a:noFill/>
          <a:ln/>
        </p:spPr>
        <p:txBody>
          <a:bodyPr wrap="square" lIns="0" tIns="0" rIns="0" bIns="0" rtlCol="0" anchor="ctr"/>
          <a:lstStyle/>
          <a:p>
            <a:pPr indent="0" marL="0">
              <a:buNone/>
            </a:pPr>
            <a:r>
              <a:rPr lang="en-US" sz="1250" b="1" dirty="0">
                <a:solidFill>
                  <a:srgbClr val="5B2D8E"/>
                </a:solidFill>
                <a:latin typeface="Calibri" pitchFamily="34" charset="0"/>
                <a:ea typeface="Calibri" pitchFamily="34" charset="-122"/>
                <a:cs typeface="Calibri" pitchFamily="34" charset="-120"/>
              </a:rPr>
              <a:t>Human review comments</a:t>
            </a:r>
            <a:endParaRPr lang="en-US" sz="1250" dirty="0"/>
          </a:p>
        </p:txBody>
      </p:sp>
      <p:sp>
        <p:nvSpPr>
          <p:cNvPr id="25" name="Text 22"/>
          <p:cNvSpPr txBox="1"/>
          <p:nvPr/>
        </p:nvSpPr>
        <p:spPr>
          <a:xfrm>
            <a:off x="9098280" y="2880360"/>
            <a:ext cx="2423160" cy="1463040"/>
          </a:xfrm>
          <a:prstGeom prst="rect">
            <a:avLst/>
          </a:prstGeom>
          <a:noFill/>
          <a:ln/>
        </p:spPr>
        <p:txBody>
          <a:bodyPr wrap="square" lIns="0" tIns="0" rIns="0" bIns="0" rtlCol="0" anchor="t"/>
          <a:lstStyle/>
          <a:p>
            <a:pPr indent="0" marL="0">
              <a:lnSpc>
                <a:spcPct val="120000"/>
              </a:lnSpc>
              <a:buNone/>
            </a:pPr>
            <a:r>
              <a:rPr lang="en-US" sz="1050" dirty="0">
                <a:solidFill>
                  <a:srgbClr val="2A2A2A"/>
                </a:solidFill>
                <a:latin typeface="Calibri" pitchFamily="34" charset="0"/>
                <a:ea typeface="Calibri" pitchFamily="34" charset="-122"/>
                <a:cs typeface="Calibri" pitchFamily="34" charset="-120"/>
              </a:rPr>
              <a:t>Feedback captured at each gate, fed back into the same agent on a re-run.</a:t>
            </a:r>
            <a:endParaRPr lang="en-US" sz="1050" dirty="0"/>
          </a:p>
        </p:txBody>
      </p:sp>
      <p:sp>
        <p:nvSpPr>
          <p:cNvPr id="26" name="Shape 23"/>
          <p:cNvSpPr/>
          <p:nvPr/>
        </p:nvSpPr>
        <p:spPr>
          <a:xfrm>
            <a:off x="868680" y="3977640"/>
            <a:ext cx="10424160" cy="1965960"/>
          </a:xfrm>
          <a:prstGeom prst="roundRect">
            <a:avLst>
              <a:gd name="adj" fmla="val 5581"/>
            </a:avLst>
          </a:prstGeom>
          <a:solidFill>
            <a:srgbClr val="FFFFFF"/>
          </a:solidFill>
          <a:ln/>
          <a:effectLst>
            <a:outerShdw sx="100000" sy="100000" kx="0" ky="0" algn="bl" rotWithShape="0" blurRad="1.341527633136022e+54" dist="4.471758777120074e+53" dir="1.1754624614400003e+64">
              <a:srgbClr val="444444">
                <a:alpha val="1.8e+64"/>
              </a:srgbClr>
            </a:outerShdw>
          </a:effectLst>
        </p:spPr>
      </p:sp>
      <p:sp>
        <p:nvSpPr>
          <p:cNvPr id="27" name="Text 24"/>
          <p:cNvSpPr txBox="1"/>
          <p:nvPr/>
        </p:nvSpPr>
        <p:spPr>
          <a:xfrm>
            <a:off x="1097280" y="4187952"/>
            <a:ext cx="9966960" cy="1600200"/>
          </a:xfrm>
          <a:prstGeom prst="rect">
            <a:avLst/>
          </a:prstGeom>
          <a:noFill/>
          <a:ln/>
        </p:spPr>
        <p:txBody>
          <a:bodyPr wrap="square" lIns="0" tIns="0" rIns="0" bIns="0" rtlCol="0" anchor="t"/>
          <a:lstStyle/>
          <a:p>
            <a:pPr indent="0" marL="0">
              <a:lnSpc>
                <a:spcPct val="135000"/>
              </a:lnSpc>
              <a:buNone/>
            </a:pPr>
            <a:r>
              <a:rPr lang="en-US" sz="1300" dirty="0">
                <a:solidFill>
                  <a:srgbClr val="2A2A2A"/>
                </a:solidFill>
                <a:latin typeface="Calibri" pitchFamily="34" charset="0"/>
                <a:ea typeface="Calibri" pitchFamily="34" charset="-122"/>
                <a:cs typeface="Calibri" pitchFamily="34" charset="-120"/>
              </a:rPr>
              <a:t>There is no static labelled training dataset: AgentFlow's knowledge source is the project's own structured, growing history, combined with the general reasoning and code-generation ability of the LLM served through the Lovable AI Gateway. For evaluation, 8–10 representative feature requests were authored and run consistently for like-for-like comparison.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320040"/>
            <a:ext cx="914400" cy="914400"/>
          </a:xfrm>
          <a:prstGeom prst="ellipse">
            <a:avLst/>
          </a:prstGeom>
          <a:solidFill>
            <a:srgbClr val="F5C518"/>
          </a:solidFill>
          <a:ln/>
        </p:spPr>
      </p:sp>
      <p:sp>
        <p:nvSpPr>
          <p:cNvPr id="3" name="Text 1"/>
          <p:cNvSpPr txBox="1"/>
          <p:nvPr/>
        </p:nvSpPr>
        <p:spPr>
          <a:xfrm>
            <a:off x="411480" y="320040"/>
            <a:ext cx="914400" cy="914400"/>
          </a:xfrm>
          <a:prstGeom prst="rect">
            <a:avLst/>
          </a:prstGeom>
          <a:noFill/>
          <a:ln/>
        </p:spPr>
        <p:txBody>
          <a:bodyPr wrap="square" lIns="0" tIns="0" rIns="0" bIns="0" rtlCol="0" anchor="ctr"/>
          <a:lstStyle/>
          <a:p>
            <a:pPr algn="ctr" indent="0" marL="0">
              <a:buNone/>
            </a:pPr>
            <a:r>
              <a:rPr lang="en-US" sz="3000" b="1" dirty="0">
                <a:solidFill>
                  <a:srgbClr val="1A1A1A"/>
                </a:solidFill>
                <a:latin typeface="Calibri" pitchFamily="34" charset="0"/>
                <a:ea typeface="Calibri" pitchFamily="34" charset="-122"/>
                <a:cs typeface="Calibri" pitchFamily="34" charset="-120"/>
              </a:rPr>
              <a:t>6</a:t>
            </a:r>
            <a:endParaRPr lang="en-US" sz="3000" dirty="0"/>
          </a:p>
        </p:txBody>
      </p:sp>
      <p:sp>
        <p:nvSpPr>
          <p:cNvPr id="4" name="Text 2"/>
          <p:cNvSpPr txBox="1"/>
          <p:nvPr/>
        </p:nvSpPr>
        <p:spPr>
          <a:xfrm>
            <a:off x="1508760" y="301752"/>
            <a:ext cx="8503920" cy="685800"/>
          </a:xfrm>
          <a:prstGeom prst="rect">
            <a:avLst/>
          </a:prstGeom>
          <a:noFill/>
          <a:ln/>
        </p:spPr>
        <p:txBody>
          <a:bodyPr wrap="square" lIns="0" tIns="0" rIns="0" bIns="0" rtlCol="0" anchor="ctr"/>
          <a:lstStyle/>
          <a:p>
            <a:pPr indent="0" marL="0">
              <a:buNone/>
            </a:pPr>
            <a:r>
              <a:rPr lang="en-US" sz="2800" b="1" dirty="0">
                <a:solidFill>
                  <a:srgbClr val="5B2D8E"/>
                </a:solidFill>
                <a:latin typeface="Cambria" pitchFamily="34" charset="0"/>
                <a:ea typeface="Cambria" pitchFamily="34" charset="-122"/>
                <a:cs typeface="Cambria" pitchFamily="34" charset="-120"/>
              </a:rPr>
              <a:t>TOOLS AND TECHNOLOGIES USED</a:t>
            </a:r>
            <a:endParaRPr lang="en-US" sz="2800" dirty="0"/>
          </a:p>
        </p:txBody>
      </p:sp>
      <p:sp>
        <p:nvSpPr>
          <p:cNvPr id="5" name="Shape 3"/>
          <p:cNvSpPr/>
          <p:nvPr/>
        </p:nvSpPr>
        <p:spPr>
          <a:xfrm>
            <a:off x="1536192" y="987552"/>
            <a:ext cx="1920240" cy="0"/>
          </a:xfrm>
          <a:prstGeom prst="line">
            <a:avLst/>
          </a:prstGeom>
          <a:noFill/>
          <a:ln w="38100">
            <a:solidFill>
              <a:srgbClr val="F5C518"/>
            </a:solidFill>
            <a:prstDash val="solid"/>
          </a:ln>
        </p:spPr>
      </p:sp>
      <p:pic>
        <p:nvPicPr>
          <p:cNvPr id="6" name="Image 0" descr="/home/claude/ppt_nexus_style/assets/logopage-000.png">    </p:cNvPr>
          <p:cNvPicPr>
            <a:picLocks noChangeAspect="1"/>
          </p:cNvPicPr>
          <p:nvPr/>
        </p:nvPicPr>
        <p:blipFill>
          <a:blip r:embed="rId1"/>
          <a:stretch>
            <a:fillRect/>
          </a:stretch>
        </p:blipFill>
        <p:spPr>
          <a:xfrm>
            <a:off x="10149840" y="256032"/>
            <a:ext cx="1600200" cy="768096"/>
          </a:xfrm>
          <a:prstGeom prst="rect">
            <a:avLst/>
          </a:prstGeom>
        </p:spPr>
      </p:pic>
      <p:sp>
        <p:nvSpPr>
          <p:cNvPr id="7" name="Text 4"/>
          <p:cNvSpPr txBox="1"/>
          <p:nvPr/>
        </p:nvSpPr>
        <p:spPr>
          <a:xfrm>
            <a:off x="457200" y="6492240"/>
            <a:ext cx="2743200" cy="2743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Final review</a:t>
            </a:r>
            <a:endParaRPr lang="en-US" sz="1100" dirty="0"/>
          </a:p>
        </p:txBody>
      </p:sp>
      <p:sp>
        <p:nvSpPr>
          <p:cNvPr id="8" name="Text 5"/>
          <p:cNvSpPr txBox="1"/>
          <p:nvPr/>
        </p:nvSpPr>
        <p:spPr>
          <a:xfrm>
            <a:off x="6400800" y="6492240"/>
            <a:ext cx="5349240" cy="274320"/>
          </a:xfrm>
          <a:prstGeom prst="rect">
            <a:avLst/>
          </a:prstGeom>
          <a:noFill/>
          <a:ln/>
        </p:spPr>
        <p:txBody>
          <a:bodyPr wrap="square" lIns="0" tIns="0" rIns="0" bIns="0" rtlCol="0" anchor="ctr"/>
          <a:lstStyle/>
          <a:p>
            <a:pPr algn="r" indent="0" marL="0">
              <a:buNone/>
            </a:pPr>
            <a:r>
              <a:rPr lang="en-US" sz="1100" dirty="0">
                <a:solidFill>
                  <a:srgbClr val="1A1A1A"/>
                </a:solidFill>
                <a:latin typeface="Calibri" pitchFamily="34" charset="0"/>
                <a:ea typeface="Calibri" pitchFamily="34" charset="-122"/>
                <a:cs typeface="Calibri" pitchFamily="34" charset="-120"/>
              </a:rPr>
              <a:t>Department of Artificial Intelligence and Machine Learning</a:t>
            </a:r>
            <a:endParaRPr lang="en-US" sz="1100" dirty="0"/>
          </a:p>
        </p:txBody>
      </p:sp>
      <p:sp>
        <p:nvSpPr>
          <p:cNvPr id="9" name="Shape 6"/>
          <p:cNvSpPr/>
          <p:nvPr/>
        </p:nvSpPr>
        <p:spPr>
          <a:xfrm>
            <a:off x="548640" y="1600200"/>
            <a:ext cx="11064240" cy="4526280"/>
          </a:xfrm>
          <a:prstGeom prst="roundRect">
            <a:avLst>
              <a:gd name="adj" fmla="val 2020"/>
            </a:avLst>
          </a:prstGeom>
          <a:solidFill>
            <a:srgbClr val="F4F1F8"/>
          </a:solidFill>
          <a:ln w="12700">
            <a:solidFill>
              <a:srgbClr val="E3DCEF"/>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68680" y="1920240"/>
          <a:ext cx="10424160" cy="914400"/>
        </p:xfrm>
        <a:graphic>
          <a:graphicData uri="http://schemas.openxmlformats.org/drawingml/2006/table">
            <a:tbl>
              <a:tblPr/>
              <a:tblGrid>
                <a:gridCol w="2103120"/>
                <a:gridCol w="3931920"/>
                <a:gridCol w="4389120"/>
              </a:tblGrid>
              <a:tr h="667512">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Layer</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DAD7DD"/>
                    </a:solidFill>
                  </a:tcPr>
                </a:tc>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Technology</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DAD7DD"/>
                    </a:solidFill>
                  </a:tcPr>
                </a:tc>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Role</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DAD7DD"/>
                    </a:solidFill>
                  </a:tcPr>
                </a:tc>
              </a:tr>
              <a:tr h="667512">
                <a:tc>
                  <a:txBody>
                    <a:bodyPr/>
                    <a:lstStyle/>
                    <a:p>
                      <a:pPr indent="0" marL="0">
                        <a:buNone/>
                      </a:pPr>
                      <a:r>
                        <a:rPr lang="en-US" sz="1250" dirty="0">
                          <a:solidFill>
                            <a:srgbClr val="2A2A2A"/>
                          </a:solidFill>
                          <a:latin typeface="Calibri" pitchFamily="34" charset="0"/>
                          <a:ea typeface="Calibri" pitchFamily="34" charset="-122"/>
                          <a:cs typeface="Calibri" pitchFamily="34" charset="-120"/>
                        </a:rPr>
                        <a:t>Platform</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4F1F8"/>
                    </a:solidFill>
                  </a:tcPr>
                </a:tc>
                <a:tc>
                  <a:txBody>
                    <a:bodyPr/>
                    <a:lstStyle/>
                    <a:p>
                      <a:pPr indent="0" marL="0">
                        <a:buNone/>
                      </a:pPr>
                      <a:r>
                        <a:rPr lang="en-US" sz="1250" dirty="0">
                          <a:solidFill>
                            <a:srgbClr val="2A2A2A"/>
                          </a:solidFill>
                          <a:latin typeface="Calibri" pitchFamily="34" charset="0"/>
                          <a:ea typeface="Calibri" pitchFamily="34" charset="-122"/>
                          <a:cs typeface="Calibri" pitchFamily="34" charset="-120"/>
                        </a:rPr>
                        <a:t>Lovable</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4F1F8"/>
                    </a:solidFill>
                  </a:tcPr>
                </a:tc>
                <a:tc>
                  <a:txBody>
                    <a:bodyPr/>
                    <a:lstStyle/>
                    <a:p>
                      <a:pPr indent="0" marL="0">
                        <a:buNone/>
                      </a:pPr>
                      <a:r>
                        <a:rPr lang="en-US" sz="1250" dirty="0">
                          <a:solidFill>
                            <a:srgbClr val="2A2A2A"/>
                          </a:solidFill>
                          <a:latin typeface="Calibri" pitchFamily="34" charset="0"/>
                          <a:ea typeface="Calibri" pitchFamily="34" charset="-122"/>
                          <a:cs typeface="Calibri" pitchFamily="34" charset="-120"/>
                        </a:rPr>
                        <a:t>AI-assisted build &amp; deploy environment</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4F1F8"/>
                    </a:solidFill>
                  </a:tcPr>
                </a:tc>
              </a:tr>
              <a:tr h="667512">
                <a:tc>
                  <a:txBody>
                    <a:bodyPr/>
                    <a:lstStyle/>
                    <a:p>
                      <a:pPr indent="0" marL="0">
                        <a:buNone/>
                      </a:pPr>
                      <a:r>
                        <a:rPr lang="en-US" sz="1250" dirty="0">
                          <a:solidFill>
                            <a:srgbClr val="2A2A2A"/>
                          </a:solidFill>
                          <a:latin typeface="Calibri" pitchFamily="34" charset="0"/>
                          <a:ea typeface="Calibri" pitchFamily="34" charset="-122"/>
                          <a:cs typeface="Calibri" pitchFamily="34" charset="-120"/>
                        </a:rPr>
                        <a:t>Frontend</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BFAFD"/>
                    </a:solidFill>
                  </a:tcPr>
                </a:tc>
                <a:tc>
                  <a:txBody>
                    <a:bodyPr/>
                    <a:lstStyle/>
                    <a:p>
                      <a:pPr indent="0" marL="0">
                        <a:buNone/>
                      </a:pPr>
                      <a:r>
                        <a:rPr lang="en-US" sz="1250" dirty="0">
                          <a:solidFill>
                            <a:srgbClr val="2A2A2A"/>
                          </a:solidFill>
                          <a:latin typeface="Calibri" pitchFamily="34" charset="0"/>
                          <a:ea typeface="Calibri" pitchFamily="34" charset="-122"/>
                          <a:cs typeface="Calibri" pitchFamily="34" charset="-120"/>
                        </a:rPr>
                        <a:t>React, TypeScript, Tailwind, shadcn/ui</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BFAFD"/>
                    </a:solidFill>
                  </a:tcPr>
                </a:tc>
                <a:tc>
                  <a:txBody>
                    <a:bodyPr/>
                    <a:lstStyle/>
                    <a:p>
                      <a:pPr indent="0" marL="0">
                        <a:buNone/>
                      </a:pPr>
                      <a:r>
                        <a:rPr lang="en-US" sz="1250" dirty="0">
                          <a:solidFill>
                            <a:srgbClr val="2A2A2A"/>
                          </a:solidFill>
                          <a:latin typeface="Calibri" pitchFamily="34" charset="0"/>
                          <a:ea typeface="Calibri" pitchFamily="34" charset="-122"/>
                          <a:cs typeface="Calibri" pitchFamily="34" charset="-120"/>
                        </a:rPr>
                        <a:t>Dashboard, Run View, Stakeholder &amp; Traceability pages</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BFAFD"/>
                    </a:solidFill>
                  </a:tcPr>
                </a:tc>
              </a:tr>
              <a:tr h="667512">
                <a:tc>
                  <a:txBody>
                    <a:bodyPr/>
                    <a:lstStyle/>
                    <a:p>
                      <a:pPr indent="0" marL="0">
                        <a:buNone/>
                      </a:pPr>
                      <a:r>
                        <a:rPr lang="en-US" sz="1250" dirty="0">
                          <a:solidFill>
                            <a:srgbClr val="2A2A2A"/>
                          </a:solidFill>
                          <a:latin typeface="Calibri" pitchFamily="34" charset="0"/>
                          <a:ea typeface="Calibri" pitchFamily="34" charset="-122"/>
                          <a:cs typeface="Calibri" pitchFamily="34" charset="-120"/>
                        </a:rPr>
                        <a:t>Backend</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4F1F8"/>
                    </a:solidFill>
                  </a:tcPr>
                </a:tc>
                <a:tc>
                  <a:txBody>
                    <a:bodyPr/>
                    <a:lstStyle/>
                    <a:p>
                      <a:pPr indent="0" marL="0">
                        <a:buNone/>
                      </a:pPr>
                      <a:r>
                        <a:rPr lang="en-US" sz="1250" dirty="0">
                          <a:solidFill>
                            <a:srgbClr val="2A2A2A"/>
                          </a:solidFill>
                          <a:latin typeface="Calibri" pitchFamily="34" charset="0"/>
                          <a:ea typeface="Calibri" pitchFamily="34" charset="-122"/>
                          <a:cs typeface="Calibri" pitchFamily="34" charset="-120"/>
                        </a:rPr>
                        <a:t>Supabase (Postgres, Edge Functions, RLS, Realtime)</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4F1F8"/>
                    </a:solidFill>
                  </a:tcPr>
                </a:tc>
                <a:tc>
                  <a:txBody>
                    <a:bodyPr/>
                    <a:lstStyle/>
                    <a:p>
                      <a:pPr indent="0" marL="0">
                        <a:buNone/>
                      </a:pPr>
                      <a:r>
                        <a:rPr lang="en-US" sz="1250" dirty="0">
                          <a:solidFill>
                            <a:srgbClr val="2A2A2A"/>
                          </a:solidFill>
                          <a:latin typeface="Calibri" pitchFamily="34" charset="0"/>
                          <a:ea typeface="Calibri" pitchFamily="34" charset="-122"/>
                          <a:cs typeface="Calibri" pitchFamily="34" charset="-120"/>
                        </a:rPr>
                        <a:t>Data, agent functions, live status updates</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4F1F8"/>
                    </a:solidFill>
                  </a:tcPr>
                </a:tc>
              </a:tr>
              <a:tr h="667512">
                <a:tc>
                  <a:txBody>
                    <a:bodyPr/>
                    <a:lstStyle/>
                    <a:p>
                      <a:pPr indent="0" marL="0">
                        <a:buNone/>
                      </a:pPr>
                      <a:r>
                        <a:rPr lang="en-US" sz="1250" dirty="0">
                          <a:solidFill>
                            <a:srgbClr val="2A2A2A"/>
                          </a:solidFill>
                          <a:latin typeface="Calibri" pitchFamily="34" charset="0"/>
                          <a:ea typeface="Calibri" pitchFamily="34" charset="-122"/>
                          <a:cs typeface="Calibri" pitchFamily="34" charset="-120"/>
                        </a:rPr>
                        <a:t>AI Inference</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BFAFD"/>
                    </a:solidFill>
                  </a:tcPr>
                </a:tc>
                <a:tc>
                  <a:txBody>
                    <a:bodyPr/>
                    <a:lstStyle/>
                    <a:p>
                      <a:pPr indent="0" marL="0">
                        <a:buNone/>
                      </a:pPr>
                      <a:r>
                        <a:rPr lang="en-US" sz="1250" dirty="0">
                          <a:solidFill>
                            <a:srgbClr val="2A2A2A"/>
                          </a:solidFill>
                          <a:latin typeface="Calibri" pitchFamily="34" charset="0"/>
                          <a:ea typeface="Calibri" pitchFamily="34" charset="-122"/>
                          <a:cs typeface="Calibri" pitchFamily="34" charset="-120"/>
                        </a:rPr>
                        <a:t>Lovable AI Gateway</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BFAFD"/>
                    </a:solidFill>
                  </a:tcPr>
                </a:tc>
                <a:tc>
                  <a:txBody>
                    <a:bodyPr/>
                    <a:lstStyle/>
                    <a:p>
                      <a:pPr indent="0" marL="0">
                        <a:buNone/>
                      </a:pPr>
                      <a:r>
                        <a:rPr lang="en-US" sz="1250" dirty="0">
                          <a:solidFill>
                            <a:srgbClr val="2A2A2A"/>
                          </a:solidFill>
                          <a:latin typeface="Calibri" pitchFamily="34" charset="0"/>
                          <a:ea typeface="Calibri" pitchFamily="34" charset="-122"/>
                          <a:cs typeface="Calibri" pitchFamily="34" charset="-120"/>
                        </a:rPr>
                        <a:t>Each agent's structured-JSON reasoning call</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BFAFD"/>
                    </a:solidFill>
                  </a:tcPr>
                </a:tc>
              </a:tr>
              <a:tr h="667512">
                <a:tc>
                  <a:txBody>
                    <a:bodyPr/>
                    <a:lstStyle/>
                    <a:p>
                      <a:pPr indent="0" marL="0">
                        <a:buNone/>
                      </a:pPr>
                      <a:r>
                        <a:rPr lang="en-US" sz="1250" dirty="0">
                          <a:solidFill>
                            <a:srgbClr val="2A2A2A"/>
                          </a:solidFill>
                          <a:latin typeface="Calibri" pitchFamily="34" charset="0"/>
                          <a:ea typeface="Calibri" pitchFamily="34" charset="-122"/>
                          <a:cs typeface="Calibri" pitchFamily="34" charset="-120"/>
                        </a:rPr>
                        <a:t>Orchestration</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4F1F8"/>
                    </a:solidFill>
                  </a:tcPr>
                </a:tc>
                <a:tc>
                  <a:txBody>
                    <a:bodyPr/>
                    <a:lstStyle/>
                    <a:p>
                      <a:pPr indent="0" marL="0">
                        <a:buNone/>
                      </a:pPr>
                      <a:r>
                        <a:rPr lang="en-US" sz="1250" dirty="0">
                          <a:solidFill>
                            <a:srgbClr val="2A2A2A"/>
                          </a:solidFill>
                          <a:latin typeface="Calibri" pitchFamily="34" charset="0"/>
                          <a:ea typeface="Calibri" pitchFamily="34" charset="-122"/>
                          <a:cs typeface="Calibri" pitchFamily="34" charset="-120"/>
                        </a:rPr>
                        <a:t>Dedicated orchestrator Edge Function</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4F1F8"/>
                    </a:solidFill>
                  </a:tcPr>
                </a:tc>
                <a:tc>
                  <a:txBody>
                    <a:bodyPr/>
                    <a:lstStyle/>
                    <a:p>
                      <a:pPr indent="0" marL="0">
                        <a:buNone/>
                      </a:pPr>
                      <a:r>
                        <a:rPr lang="en-US" sz="1250" dirty="0">
                          <a:solidFill>
                            <a:srgbClr val="2A2A2A"/>
                          </a:solidFill>
                          <a:latin typeface="Calibri" pitchFamily="34" charset="0"/>
                          <a:ea typeface="Calibri" pitchFamily="34" charset="-122"/>
                          <a:cs typeface="Calibri" pitchFamily="34" charset="-120"/>
                        </a:rPr>
                        <a:t>Routing, retries, step budgets, escalation</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4F1F8"/>
                    </a:solidFill>
                  </a:tcPr>
                </a:tc>
              </a:tr>
              <a:tr h="667512">
                <a:tc>
                  <a:txBody>
                    <a:bodyPr/>
                    <a:lstStyle/>
                    <a:p>
                      <a:pPr indent="0" marL="0">
                        <a:buNone/>
                      </a:pPr>
                      <a:r>
                        <a:rPr lang="en-US" sz="1250" dirty="0">
                          <a:solidFill>
                            <a:srgbClr val="2A2A2A"/>
                          </a:solidFill>
                          <a:latin typeface="Calibri" pitchFamily="34" charset="0"/>
                          <a:ea typeface="Calibri" pitchFamily="34" charset="-122"/>
                          <a:cs typeface="Calibri" pitchFamily="34" charset="-120"/>
                        </a:rPr>
                        <a:t>Source Control</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BFAFD"/>
                    </a:solidFill>
                  </a:tcPr>
                </a:tc>
                <a:tc>
                  <a:txBody>
                    <a:bodyPr/>
                    <a:lstStyle/>
                    <a:p>
                      <a:pPr indent="0" marL="0">
                        <a:buNone/>
                      </a:pPr>
                      <a:r>
                        <a:rPr lang="en-US" sz="1250" dirty="0">
                          <a:solidFill>
                            <a:srgbClr val="2A2A2A"/>
                          </a:solidFill>
                          <a:latin typeface="Calibri" pitchFamily="34" charset="0"/>
                          <a:ea typeface="Calibri" pitchFamily="34" charset="-122"/>
                          <a:cs typeface="Calibri" pitchFamily="34" charset="-120"/>
                        </a:rPr>
                        <a:t>Git / GitHub (Lovable sync)</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BFAFD"/>
                    </a:solidFill>
                  </a:tcPr>
                </a:tc>
                <a:tc>
                  <a:txBody>
                    <a:bodyPr/>
                    <a:lstStyle/>
                    <a:p>
                      <a:pPr indent="0" marL="0">
                        <a:buNone/>
                      </a:pPr>
                      <a:r>
                        <a:rPr lang="en-US" sz="1250" dirty="0">
                          <a:solidFill>
                            <a:srgbClr val="2A2A2A"/>
                          </a:solidFill>
                          <a:latin typeface="Calibri" pitchFamily="34" charset="0"/>
                          <a:ea typeface="Calibri" pitchFamily="34" charset="-122"/>
                          <a:cs typeface="Calibri" pitchFamily="34" charset="-120"/>
                        </a:rPr>
                        <a:t>History and collaboration</a:t>
                      </a:r>
                      <a:endParaRPr lang="en-US" sz="1250" dirty="0">
                        <a:latin typeface="Calibri" charset="0"/>
                        <a:ea typeface="Calibri" charset="0"/>
                        <a:cs typeface="Calibri" charset="0"/>
                      </a:endParaRPr>
                    </a:p>
                  </a:txBody>
                  <a:tcPr marL="91440" marR="91440" marT="45720" marB="45720" anchor="ctr">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BFAFD"/>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320040"/>
            <a:ext cx="914400" cy="914400"/>
          </a:xfrm>
          <a:prstGeom prst="ellipse">
            <a:avLst/>
          </a:prstGeom>
          <a:solidFill>
            <a:srgbClr val="F5C518"/>
          </a:solidFill>
          <a:ln/>
        </p:spPr>
      </p:sp>
      <p:sp>
        <p:nvSpPr>
          <p:cNvPr id="3" name="Text 1"/>
          <p:cNvSpPr txBox="1"/>
          <p:nvPr/>
        </p:nvSpPr>
        <p:spPr>
          <a:xfrm>
            <a:off x="411480" y="320040"/>
            <a:ext cx="914400" cy="914400"/>
          </a:xfrm>
          <a:prstGeom prst="rect">
            <a:avLst/>
          </a:prstGeom>
          <a:noFill/>
          <a:ln/>
        </p:spPr>
        <p:txBody>
          <a:bodyPr wrap="square" lIns="0" tIns="0" rIns="0" bIns="0" rtlCol="0" anchor="ctr"/>
          <a:lstStyle/>
          <a:p>
            <a:pPr algn="ctr" indent="0" marL="0">
              <a:buNone/>
            </a:pPr>
            <a:r>
              <a:rPr lang="en-US" sz="3000" b="1" dirty="0">
                <a:solidFill>
                  <a:srgbClr val="1A1A1A"/>
                </a:solidFill>
                <a:latin typeface="Calibri" pitchFamily="34" charset="0"/>
                <a:ea typeface="Calibri" pitchFamily="34" charset="-122"/>
                <a:cs typeface="Calibri" pitchFamily="34" charset="-120"/>
              </a:rPr>
              <a:t>7</a:t>
            </a:r>
            <a:endParaRPr lang="en-US" sz="3000" dirty="0"/>
          </a:p>
        </p:txBody>
      </p:sp>
      <p:sp>
        <p:nvSpPr>
          <p:cNvPr id="4" name="Text 2"/>
          <p:cNvSpPr txBox="1"/>
          <p:nvPr/>
        </p:nvSpPr>
        <p:spPr>
          <a:xfrm>
            <a:off x="1508760" y="301752"/>
            <a:ext cx="8503920" cy="685800"/>
          </a:xfrm>
          <a:prstGeom prst="rect">
            <a:avLst/>
          </a:prstGeom>
          <a:noFill/>
          <a:ln/>
        </p:spPr>
        <p:txBody>
          <a:bodyPr wrap="square" lIns="0" tIns="0" rIns="0" bIns="0" rtlCol="0" anchor="ctr"/>
          <a:lstStyle/>
          <a:p>
            <a:pPr indent="0" marL="0">
              <a:buNone/>
            </a:pPr>
            <a:r>
              <a:rPr lang="en-US" sz="2800" b="1" dirty="0">
                <a:solidFill>
                  <a:srgbClr val="5B2D8E"/>
                </a:solidFill>
                <a:latin typeface="Cambria" pitchFamily="34" charset="0"/>
                <a:ea typeface="Cambria" pitchFamily="34" charset="-122"/>
                <a:cs typeface="Cambria" pitchFamily="34" charset="-120"/>
              </a:rPr>
              <a:t>AGENT ARCHITECTURE</a:t>
            </a:r>
            <a:endParaRPr lang="en-US" sz="2800" dirty="0"/>
          </a:p>
        </p:txBody>
      </p:sp>
      <p:sp>
        <p:nvSpPr>
          <p:cNvPr id="5" name="Shape 3"/>
          <p:cNvSpPr/>
          <p:nvPr/>
        </p:nvSpPr>
        <p:spPr>
          <a:xfrm>
            <a:off x="1536192" y="987552"/>
            <a:ext cx="1920240" cy="0"/>
          </a:xfrm>
          <a:prstGeom prst="line">
            <a:avLst/>
          </a:prstGeom>
          <a:noFill/>
          <a:ln w="38100">
            <a:solidFill>
              <a:srgbClr val="F5C518"/>
            </a:solidFill>
            <a:prstDash val="solid"/>
          </a:ln>
        </p:spPr>
      </p:sp>
      <p:pic>
        <p:nvPicPr>
          <p:cNvPr id="6" name="Image 0" descr="/home/claude/ppt_nexus_style/assets/logopage-000.png">    </p:cNvPr>
          <p:cNvPicPr>
            <a:picLocks noChangeAspect="1"/>
          </p:cNvPicPr>
          <p:nvPr/>
        </p:nvPicPr>
        <p:blipFill>
          <a:blip r:embed="rId1"/>
          <a:stretch>
            <a:fillRect/>
          </a:stretch>
        </p:blipFill>
        <p:spPr>
          <a:xfrm>
            <a:off x="10149840" y="256032"/>
            <a:ext cx="1600200" cy="768096"/>
          </a:xfrm>
          <a:prstGeom prst="rect">
            <a:avLst/>
          </a:prstGeom>
        </p:spPr>
      </p:pic>
      <p:sp>
        <p:nvSpPr>
          <p:cNvPr id="7" name="Text 4"/>
          <p:cNvSpPr txBox="1"/>
          <p:nvPr/>
        </p:nvSpPr>
        <p:spPr>
          <a:xfrm>
            <a:off x="457200" y="6492240"/>
            <a:ext cx="2743200" cy="2743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Final review</a:t>
            </a:r>
            <a:endParaRPr lang="en-US" sz="1100" dirty="0"/>
          </a:p>
        </p:txBody>
      </p:sp>
      <p:sp>
        <p:nvSpPr>
          <p:cNvPr id="8" name="Text 5"/>
          <p:cNvSpPr txBox="1"/>
          <p:nvPr/>
        </p:nvSpPr>
        <p:spPr>
          <a:xfrm>
            <a:off x="6400800" y="6492240"/>
            <a:ext cx="5349240" cy="274320"/>
          </a:xfrm>
          <a:prstGeom prst="rect">
            <a:avLst/>
          </a:prstGeom>
          <a:noFill/>
          <a:ln/>
        </p:spPr>
        <p:txBody>
          <a:bodyPr wrap="square" lIns="0" tIns="0" rIns="0" bIns="0" rtlCol="0" anchor="ctr"/>
          <a:lstStyle/>
          <a:p>
            <a:pPr algn="r" indent="0" marL="0">
              <a:buNone/>
            </a:pPr>
            <a:r>
              <a:rPr lang="en-US" sz="1100" dirty="0">
                <a:solidFill>
                  <a:srgbClr val="1A1A1A"/>
                </a:solidFill>
                <a:latin typeface="Calibri" pitchFamily="34" charset="0"/>
                <a:ea typeface="Calibri" pitchFamily="34" charset="-122"/>
                <a:cs typeface="Calibri" pitchFamily="34" charset="-120"/>
              </a:rPr>
              <a:t>Department of Artificial Intelligence and Machine Learning</a:t>
            </a:r>
            <a:endParaRPr lang="en-US" sz="1100" dirty="0"/>
          </a:p>
        </p:txBody>
      </p:sp>
      <p:sp>
        <p:nvSpPr>
          <p:cNvPr id="9" name="Shape 6"/>
          <p:cNvSpPr/>
          <p:nvPr/>
        </p:nvSpPr>
        <p:spPr>
          <a:xfrm>
            <a:off x="548640" y="1600200"/>
            <a:ext cx="11064240" cy="4526280"/>
          </a:xfrm>
          <a:prstGeom prst="roundRect">
            <a:avLst>
              <a:gd name="adj" fmla="val 2020"/>
            </a:avLst>
          </a:prstGeom>
          <a:solidFill>
            <a:srgbClr val="3D1F63"/>
          </a:solidFill>
          <a:ln w="12700">
            <a:solidFill>
              <a:srgbClr val="E3DCEF"/>
            </a:solidFill>
            <a:prstDash val="solid"/>
          </a:ln>
        </p:spPr>
      </p:sp>
      <p:sp>
        <p:nvSpPr>
          <p:cNvPr id="10" name="Shape 7"/>
          <p:cNvSpPr/>
          <p:nvPr/>
        </p:nvSpPr>
        <p:spPr>
          <a:xfrm>
            <a:off x="914400" y="1920240"/>
            <a:ext cx="822960" cy="822960"/>
          </a:xfrm>
          <a:prstGeom prst="ellipse">
            <a:avLst/>
          </a:prstGeom>
          <a:solidFill>
            <a:srgbClr val="F5C518"/>
          </a:solidFill>
          <a:ln/>
        </p:spPr>
      </p:sp>
      <p:sp>
        <p:nvSpPr>
          <p:cNvPr id="11" name="Text 8"/>
          <p:cNvSpPr txBox="1"/>
          <p:nvPr/>
        </p:nvSpPr>
        <p:spPr>
          <a:xfrm>
            <a:off x="914400" y="1920240"/>
            <a:ext cx="822960" cy="822960"/>
          </a:xfrm>
          <a:prstGeom prst="rect">
            <a:avLst/>
          </a:prstGeom>
          <a:noFill/>
          <a:ln/>
        </p:spPr>
        <p:txBody>
          <a:bodyPr wrap="square" lIns="0" tIns="0" rIns="0" bIns="0" rtlCol="0" anchor="ctr"/>
          <a:lstStyle/>
          <a:p>
            <a:pPr algn="ctr" indent="0" marL="0">
              <a:buNone/>
            </a:pPr>
            <a:r>
              <a:rPr lang="en-US" sz="1600" b="1" dirty="0">
                <a:solidFill>
                  <a:srgbClr val="3D1F63"/>
                </a:solidFill>
                <a:latin typeface="Calibri" pitchFamily="34" charset="0"/>
                <a:ea typeface="Calibri" pitchFamily="34" charset="-122"/>
                <a:cs typeface="Calibri" pitchFamily="34" charset="-120"/>
              </a:rPr>
              <a:t>RA</a:t>
            </a:r>
            <a:endParaRPr lang="en-US" sz="1600" dirty="0"/>
          </a:p>
        </p:txBody>
      </p:sp>
      <p:sp>
        <p:nvSpPr>
          <p:cNvPr id="12" name="Text 9"/>
          <p:cNvSpPr txBox="1"/>
          <p:nvPr/>
        </p:nvSpPr>
        <p:spPr>
          <a:xfrm>
            <a:off x="411480" y="2834640"/>
            <a:ext cx="182880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Requirement</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Agent</a:t>
            </a:r>
            <a:endParaRPr lang="en-US" sz="1150" dirty="0"/>
          </a:p>
        </p:txBody>
      </p:sp>
      <p:sp>
        <p:nvSpPr>
          <p:cNvPr id="13" name="Text 10"/>
          <p:cNvSpPr txBox="1"/>
          <p:nvPr/>
        </p:nvSpPr>
        <p:spPr>
          <a:xfrm>
            <a:off x="411480" y="3383280"/>
            <a:ext cx="1828800" cy="1097280"/>
          </a:xfrm>
          <a:prstGeom prst="rect">
            <a:avLst/>
          </a:prstGeom>
          <a:noFill/>
          <a:ln/>
        </p:spPr>
        <p:txBody>
          <a:bodyPr wrap="square" lIns="0" tIns="0" rIns="0" bIns="0" rtlCol="0" anchor="t"/>
          <a:lstStyle/>
          <a:p>
            <a:pPr algn="ctr" indent="0" marL="0">
              <a:buNone/>
            </a:pPr>
            <a:r>
              <a:rPr lang="en-US" sz="950" dirty="0">
                <a:solidFill>
                  <a:srgbClr val="D9CCEC"/>
                </a:solidFill>
                <a:latin typeface="Calibri" pitchFamily="34" charset="0"/>
                <a:ea typeface="Calibri" pitchFamily="34" charset="-122"/>
                <a:cs typeface="Calibri" pitchFamily="34" charset="-120"/>
              </a:rPr>
              <a:t>User stories + acceptance criteria</a:t>
            </a:r>
            <a:endParaRPr lang="en-US" sz="950" dirty="0"/>
          </a:p>
        </p:txBody>
      </p:sp>
      <p:sp>
        <p:nvSpPr>
          <p:cNvPr id="14" name="Shape 11"/>
          <p:cNvSpPr/>
          <p:nvPr/>
        </p:nvSpPr>
        <p:spPr>
          <a:xfrm>
            <a:off x="2697480" y="1920240"/>
            <a:ext cx="822960" cy="822960"/>
          </a:xfrm>
          <a:prstGeom prst="ellipse">
            <a:avLst/>
          </a:prstGeom>
          <a:solidFill>
            <a:srgbClr val="F5C518"/>
          </a:solidFill>
          <a:ln/>
        </p:spPr>
      </p:sp>
      <p:sp>
        <p:nvSpPr>
          <p:cNvPr id="15" name="Text 12"/>
          <p:cNvSpPr txBox="1"/>
          <p:nvPr/>
        </p:nvSpPr>
        <p:spPr>
          <a:xfrm>
            <a:off x="2697480" y="1920240"/>
            <a:ext cx="822960" cy="822960"/>
          </a:xfrm>
          <a:prstGeom prst="rect">
            <a:avLst/>
          </a:prstGeom>
          <a:noFill/>
          <a:ln/>
        </p:spPr>
        <p:txBody>
          <a:bodyPr wrap="square" lIns="0" tIns="0" rIns="0" bIns="0" rtlCol="0" anchor="ctr"/>
          <a:lstStyle/>
          <a:p>
            <a:pPr algn="ctr" indent="0" marL="0">
              <a:buNone/>
            </a:pPr>
            <a:r>
              <a:rPr lang="en-US" sz="1600" b="1" dirty="0">
                <a:solidFill>
                  <a:srgbClr val="3D1F63"/>
                </a:solidFill>
                <a:latin typeface="Calibri" pitchFamily="34" charset="0"/>
                <a:ea typeface="Calibri" pitchFamily="34" charset="-122"/>
                <a:cs typeface="Calibri" pitchFamily="34" charset="-120"/>
              </a:rPr>
              <a:t>DA</a:t>
            </a:r>
            <a:endParaRPr lang="en-US" sz="1600" dirty="0"/>
          </a:p>
        </p:txBody>
      </p:sp>
      <p:sp>
        <p:nvSpPr>
          <p:cNvPr id="16" name="Text 13"/>
          <p:cNvSpPr txBox="1"/>
          <p:nvPr/>
        </p:nvSpPr>
        <p:spPr>
          <a:xfrm>
            <a:off x="2194560" y="2834640"/>
            <a:ext cx="182880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Design</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Agent</a:t>
            </a:r>
            <a:endParaRPr lang="en-US" sz="1150" dirty="0"/>
          </a:p>
        </p:txBody>
      </p:sp>
      <p:sp>
        <p:nvSpPr>
          <p:cNvPr id="17" name="Text 14"/>
          <p:cNvSpPr txBox="1"/>
          <p:nvPr/>
        </p:nvSpPr>
        <p:spPr>
          <a:xfrm>
            <a:off x="2194560" y="3383280"/>
            <a:ext cx="1828800" cy="1097280"/>
          </a:xfrm>
          <a:prstGeom prst="rect">
            <a:avLst/>
          </a:prstGeom>
          <a:noFill/>
          <a:ln/>
        </p:spPr>
        <p:txBody>
          <a:bodyPr wrap="square" lIns="0" tIns="0" rIns="0" bIns="0" rtlCol="0" anchor="t"/>
          <a:lstStyle/>
          <a:p>
            <a:pPr algn="ctr" indent="0" marL="0">
              <a:buNone/>
            </a:pPr>
            <a:r>
              <a:rPr lang="en-US" sz="950" dirty="0">
                <a:solidFill>
                  <a:srgbClr val="D9CCEC"/>
                </a:solidFill>
                <a:latin typeface="Calibri" pitchFamily="34" charset="0"/>
                <a:ea typeface="Calibri" pitchFamily="34" charset="-122"/>
                <a:cs typeface="Calibri" pitchFamily="34" charset="-120"/>
              </a:rPr>
              <a:t>Architecture, data model, API contract</a:t>
            </a:r>
            <a:endParaRPr lang="en-US" sz="950" dirty="0"/>
          </a:p>
        </p:txBody>
      </p:sp>
      <p:sp>
        <p:nvSpPr>
          <p:cNvPr id="18" name="Shape 15"/>
          <p:cNvSpPr/>
          <p:nvPr/>
        </p:nvSpPr>
        <p:spPr>
          <a:xfrm>
            <a:off x="4480560" y="1920240"/>
            <a:ext cx="822960" cy="822960"/>
          </a:xfrm>
          <a:prstGeom prst="ellipse">
            <a:avLst/>
          </a:prstGeom>
          <a:solidFill>
            <a:srgbClr val="F5C518"/>
          </a:solidFill>
          <a:ln/>
        </p:spPr>
      </p:sp>
      <p:sp>
        <p:nvSpPr>
          <p:cNvPr id="19" name="Text 16"/>
          <p:cNvSpPr txBox="1"/>
          <p:nvPr/>
        </p:nvSpPr>
        <p:spPr>
          <a:xfrm>
            <a:off x="4480560" y="1920240"/>
            <a:ext cx="822960" cy="822960"/>
          </a:xfrm>
          <a:prstGeom prst="rect">
            <a:avLst/>
          </a:prstGeom>
          <a:noFill/>
          <a:ln/>
        </p:spPr>
        <p:txBody>
          <a:bodyPr wrap="square" lIns="0" tIns="0" rIns="0" bIns="0" rtlCol="0" anchor="ctr"/>
          <a:lstStyle/>
          <a:p>
            <a:pPr algn="ctr" indent="0" marL="0">
              <a:buNone/>
            </a:pPr>
            <a:r>
              <a:rPr lang="en-US" sz="1600" b="1" dirty="0">
                <a:solidFill>
                  <a:srgbClr val="3D1F63"/>
                </a:solidFill>
                <a:latin typeface="Calibri" pitchFamily="34" charset="0"/>
                <a:ea typeface="Calibri" pitchFamily="34" charset="-122"/>
                <a:cs typeface="Calibri" pitchFamily="34" charset="-120"/>
              </a:rPr>
              <a:t>CA</a:t>
            </a:r>
            <a:endParaRPr lang="en-US" sz="1600" dirty="0"/>
          </a:p>
        </p:txBody>
      </p:sp>
      <p:sp>
        <p:nvSpPr>
          <p:cNvPr id="20" name="Text 17"/>
          <p:cNvSpPr txBox="1"/>
          <p:nvPr/>
        </p:nvSpPr>
        <p:spPr>
          <a:xfrm>
            <a:off x="3977640" y="2834640"/>
            <a:ext cx="182880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Coding</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Agent</a:t>
            </a:r>
            <a:endParaRPr lang="en-US" sz="1150" dirty="0"/>
          </a:p>
        </p:txBody>
      </p:sp>
      <p:sp>
        <p:nvSpPr>
          <p:cNvPr id="21" name="Text 18"/>
          <p:cNvSpPr txBox="1"/>
          <p:nvPr/>
        </p:nvSpPr>
        <p:spPr>
          <a:xfrm>
            <a:off x="3977640" y="3383280"/>
            <a:ext cx="1828800" cy="1097280"/>
          </a:xfrm>
          <a:prstGeom prst="rect">
            <a:avLst/>
          </a:prstGeom>
          <a:noFill/>
          <a:ln/>
        </p:spPr>
        <p:txBody>
          <a:bodyPr wrap="square" lIns="0" tIns="0" rIns="0" bIns="0" rtlCol="0" anchor="t"/>
          <a:lstStyle/>
          <a:p>
            <a:pPr algn="ctr" indent="0" marL="0">
              <a:buNone/>
            </a:pPr>
            <a:r>
              <a:rPr lang="en-US" sz="950" dirty="0">
                <a:solidFill>
                  <a:srgbClr val="D9CCEC"/>
                </a:solidFill>
                <a:latin typeface="Calibri" pitchFamily="34" charset="0"/>
                <a:ea typeface="Calibri" pitchFamily="34" charset="-122"/>
                <a:cs typeface="Calibri" pitchFamily="34" charset="-120"/>
              </a:rPr>
              <a:t>Implementation against the contract</a:t>
            </a:r>
            <a:endParaRPr lang="en-US" sz="950" dirty="0"/>
          </a:p>
        </p:txBody>
      </p:sp>
      <p:sp>
        <p:nvSpPr>
          <p:cNvPr id="22" name="Shape 19"/>
          <p:cNvSpPr/>
          <p:nvPr/>
        </p:nvSpPr>
        <p:spPr>
          <a:xfrm>
            <a:off x="6263640" y="1920240"/>
            <a:ext cx="822960" cy="822960"/>
          </a:xfrm>
          <a:prstGeom prst="ellipse">
            <a:avLst/>
          </a:prstGeom>
          <a:solidFill>
            <a:srgbClr val="F5C518"/>
          </a:solidFill>
          <a:ln/>
        </p:spPr>
      </p:sp>
      <p:sp>
        <p:nvSpPr>
          <p:cNvPr id="23" name="Text 20"/>
          <p:cNvSpPr txBox="1"/>
          <p:nvPr/>
        </p:nvSpPr>
        <p:spPr>
          <a:xfrm>
            <a:off x="6263640" y="1920240"/>
            <a:ext cx="822960" cy="822960"/>
          </a:xfrm>
          <a:prstGeom prst="rect">
            <a:avLst/>
          </a:prstGeom>
          <a:noFill/>
          <a:ln/>
        </p:spPr>
        <p:txBody>
          <a:bodyPr wrap="square" lIns="0" tIns="0" rIns="0" bIns="0" rtlCol="0" anchor="ctr"/>
          <a:lstStyle/>
          <a:p>
            <a:pPr algn="ctr" indent="0" marL="0">
              <a:buNone/>
            </a:pPr>
            <a:r>
              <a:rPr lang="en-US" sz="1600" b="1" dirty="0">
                <a:solidFill>
                  <a:srgbClr val="3D1F63"/>
                </a:solidFill>
                <a:latin typeface="Calibri" pitchFamily="34" charset="0"/>
                <a:ea typeface="Calibri" pitchFamily="34" charset="-122"/>
                <a:cs typeface="Calibri" pitchFamily="34" charset="-120"/>
              </a:rPr>
              <a:t>TA</a:t>
            </a:r>
            <a:endParaRPr lang="en-US" sz="1600" dirty="0"/>
          </a:p>
        </p:txBody>
      </p:sp>
      <p:sp>
        <p:nvSpPr>
          <p:cNvPr id="24" name="Text 21"/>
          <p:cNvSpPr txBox="1"/>
          <p:nvPr/>
        </p:nvSpPr>
        <p:spPr>
          <a:xfrm>
            <a:off x="5760720" y="2834640"/>
            <a:ext cx="182880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Testing</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Agent</a:t>
            </a:r>
            <a:endParaRPr lang="en-US" sz="1150" dirty="0"/>
          </a:p>
        </p:txBody>
      </p:sp>
      <p:sp>
        <p:nvSpPr>
          <p:cNvPr id="25" name="Text 22"/>
          <p:cNvSpPr txBox="1"/>
          <p:nvPr/>
        </p:nvSpPr>
        <p:spPr>
          <a:xfrm>
            <a:off x="5760720" y="3383280"/>
            <a:ext cx="1828800" cy="1097280"/>
          </a:xfrm>
          <a:prstGeom prst="rect">
            <a:avLst/>
          </a:prstGeom>
          <a:noFill/>
          <a:ln/>
        </p:spPr>
        <p:txBody>
          <a:bodyPr wrap="square" lIns="0" tIns="0" rIns="0" bIns="0" rtlCol="0" anchor="t"/>
          <a:lstStyle/>
          <a:p>
            <a:pPr algn="ctr" indent="0" marL="0">
              <a:buNone/>
            </a:pPr>
            <a:r>
              <a:rPr lang="en-US" sz="950" dirty="0">
                <a:solidFill>
                  <a:srgbClr val="D9CCEC"/>
                </a:solidFill>
                <a:latin typeface="Calibri" pitchFamily="34" charset="0"/>
                <a:ea typeface="Calibri" pitchFamily="34" charset="-122"/>
                <a:cs typeface="Calibri" pitchFamily="34" charset="-120"/>
              </a:rPr>
              <a:t>Unit tests + edge cases</a:t>
            </a:r>
            <a:endParaRPr lang="en-US" sz="950" dirty="0"/>
          </a:p>
        </p:txBody>
      </p:sp>
      <p:sp>
        <p:nvSpPr>
          <p:cNvPr id="26" name="Shape 23"/>
          <p:cNvSpPr/>
          <p:nvPr/>
        </p:nvSpPr>
        <p:spPr>
          <a:xfrm>
            <a:off x="8046720" y="1920240"/>
            <a:ext cx="822960" cy="822960"/>
          </a:xfrm>
          <a:prstGeom prst="ellipse">
            <a:avLst/>
          </a:prstGeom>
          <a:solidFill>
            <a:srgbClr val="F5C518"/>
          </a:solidFill>
          <a:ln/>
        </p:spPr>
      </p:sp>
      <p:sp>
        <p:nvSpPr>
          <p:cNvPr id="27" name="Text 24"/>
          <p:cNvSpPr txBox="1"/>
          <p:nvPr/>
        </p:nvSpPr>
        <p:spPr>
          <a:xfrm>
            <a:off x="8046720" y="1920240"/>
            <a:ext cx="822960" cy="822960"/>
          </a:xfrm>
          <a:prstGeom prst="rect">
            <a:avLst/>
          </a:prstGeom>
          <a:noFill/>
          <a:ln/>
        </p:spPr>
        <p:txBody>
          <a:bodyPr wrap="square" lIns="0" tIns="0" rIns="0" bIns="0" rtlCol="0" anchor="ctr"/>
          <a:lstStyle/>
          <a:p>
            <a:pPr algn="ctr" indent="0" marL="0">
              <a:buNone/>
            </a:pPr>
            <a:r>
              <a:rPr lang="en-US" sz="1600" b="1" dirty="0">
                <a:solidFill>
                  <a:srgbClr val="3D1F63"/>
                </a:solidFill>
                <a:latin typeface="Calibri" pitchFamily="34" charset="0"/>
                <a:ea typeface="Calibri" pitchFamily="34" charset="-122"/>
                <a:cs typeface="Calibri" pitchFamily="34" charset="-120"/>
              </a:rPr>
              <a:t>RV</a:t>
            </a:r>
            <a:endParaRPr lang="en-US" sz="1600" dirty="0"/>
          </a:p>
        </p:txBody>
      </p:sp>
      <p:sp>
        <p:nvSpPr>
          <p:cNvPr id="28" name="Text 25"/>
          <p:cNvSpPr txBox="1"/>
          <p:nvPr/>
        </p:nvSpPr>
        <p:spPr>
          <a:xfrm>
            <a:off x="7543800" y="2834640"/>
            <a:ext cx="182880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Review</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Agent</a:t>
            </a:r>
            <a:endParaRPr lang="en-US" sz="1150" dirty="0"/>
          </a:p>
        </p:txBody>
      </p:sp>
      <p:sp>
        <p:nvSpPr>
          <p:cNvPr id="29" name="Text 26"/>
          <p:cNvSpPr txBox="1"/>
          <p:nvPr/>
        </p:nvSpPr>
        <p:spPr>
          <a:xfrm>
            <a:off x="7543800" y="3383280"/>
            <a:ext cx="1828800" cy="1097280"/>
          </a:xfrm>
          <a:prstGeom prst="rect">
            <a:avLst/>
          </a:prstGeom>
          <a:noFill/>
          <a:ln/>
        </p:spPr>
        <p:txBody>
          <a:bodyPr wrap="square" lIns="0" tIns="0" rIns="0" bIns="0" rtlCol="0" anchor="t"/>
          <a:lstStyle/>
          <a:p>
            <a:pPr algn="ctr" indent="0" marL="0">
              <a:buNone/>
            </a:pPr>
            <a:r>
              <a:rPr lang="en-US" sz="950" dirty="0">
                <a:solidFill>
                  <a:srgbClr val="D9CCEC"/>
                </a:solidFill>
                <a:latin typeface="Calibri" pitchFamily="34" charset="0"/>
                <a:ea typeface="Calibri" pitchFamily="34" charset="-122"/>
                <a:cs typeface="Calibri" pitchFamily="34" charset="-120"/>
              </a:rPr>
              <a:t>Quality, security, coverage audit</a:t>
            </a:r>
            <a:endParaRPr lang="en-US" sz="950" dirty="0"/>
          </a:p>
        </p:txBody>
      </p:sp>
      <p:sp>
        <p:nvSpPr>
          <p:cNvPr id="30" name="Shape 27"/>
          <p:cNvSpPr/>
          <p:nvPr/>
        </p:nvSpPr>
        <p:spPr>
          <a:xfrm>
            <a:off x="9829800" y="1920240"/>
            <a:ext cx="822960" cy="822960"/>
          </a:xfrm>
          <a:prstGeom prst="ellipse">
            <a:avLst/>
          </a:prstGeom>
          <a:solidFill>
            <a:srgbClr val="F5C518"/>
          </a:solidFill>
          <a:ln/>
        </p:spPr>
      </p:sp>
      <p:sp>
        <p:nvSpPr>
          <p:cNvPr id="31" name="Text 28"/>
          <p:cNvSpPr txBox="1"/>
          <p:nvPr/>
        </p:nvSpPr>
        <p:spPr>
          <a:xfrm>
            <a:off x="9829800" y="1920240"/>
            <a:ext cx="822960" cy="822960"/>
          </a:xfrm>
          <a:prstGeom prst="rect">
            <a:avLst/>
          </a:prstGeom>
          <a:noFill/>
          <a:ln/>
        </p:spPr>
        <p:txBody>
          <a:bodyPr wrap="square" lIns="0" tIns="0" rIns="0" bIns="0" rtlCol="0" anchor="ctr"/>
          <a:lstStyle/>
          <a:p>
            <a:pPr algn="ctr" indent="0" marL="0">
              <a:buNone/>
            </a:pPr>
            <a:r>
              <a:rPr lang="en-US" sz="1600" b="1" dirty="0">
                <a:solidFill>
                  <a:srgbClr val="3D1F63"/>
                </a:solidFill>
                <a:latin typeface="Calibri" pitchFamily="34" charset="0"/>
                <a:ea typeface="Calibri" pitchFamily="34" charset="-122"/>
                <a:cs typeface="Calibri" pitchFamily="34" charset="-120"/>
              </a:rPr>
              <a:t>DO</a:t>
            </a:r>
            <a:endParaRPr lang="en-US" sz="1600" dirty="0"/>
          </a:p>
        </p:txBody>
      </p:sp>
      <p:sp>
        <p:nvSpPr>
          <p:cNvPr id="32" name="Text 29"/>
          <p:cNvSpPr txBox="1"/>
          <p:nvPr/>
        </p:nvSpPr>
        <p:spPr>
          <a:xfrm>
            <a:off x="9326880" y="2834640"/>
            <a:ext cx="1828800"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DevOps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Agent</a:t>
            </a:r>
            <a:endParaRPr lang="en-US" sz="1150" dirty="0"/>
          </a:p>
        </p:txBody>
      </p:sp>
      <p:sp>
        <p:nvSpPr>
          <p:cNvPr id="33" name="Text 30"/>
          <p:cNvSpPr txBox="1"/>
          <p:nvPr/>
        </p:nvSpPr>
        <p:spPr>
          <a:xfrm>
            <a:off x="9326880" y="3383280"/>
            <a:ext cx="1828800" cy="1097280"/>
          </a:xfrm>
          <a:prstGeom prst="rect">
            <a:avLst/>
          </a:prstGeom>
          <a:noFill/>
          <a:ln/>
        </p:spPr>
        <p:txBody>
          <a:bodyPr wrap="square" lIns="0" tIns="0" rIns="0" bIns="0" rtlCol="0" anchor="t"/>
          <a:lstStyle/>
          <a:p>
            <a:pPr algn="ctr" indent="0" marL="0">
              <a:buNone/>
            </a:pPr>
            <a:r>
              <a:rPr lang="en-US" sz="950" dirty="0">
                <a:solidFill>
                  <a:srgbClr val="D9CCEC"/>
                </a:solidFill>
                <a:latin typeface="Calibri" pitchFamily="34" charset="0"/>
                <a:ea typeface="Calibri" pitchFamily="34" charset="-122"/>
                <a:cs typeface="Calibri" pitchFamily="34" charset="-120"/>
              </a:rPr>
              <a:t>Deployment plan, CI config, rollback</a:t>
            </a:r>
            <a:endParaRPr lang="en-US" sz="950" dirty="0"/>
          </a:p>
        </p:txBody>
      </p:sp>
      <p:sp>
        <p:nvSpPr>
          <p:cNvPr id="34" name="Shape 31"/>
          <p:cNvSpPr/>
          <p:nvPr/>
        </p:nvSpPr>
        <p:spPr>
          <a:xfrm>
            <a:off x="822960" y="2331720"/>
            <a:ext cx="10515600" cy="0"/>
          </a:xfrm>
          <a:prstGeom prst="line">
            <a:avLst/>
          </a:prstGeom>
          <a:noFill/>
          <a:ln w="12700">
            <a:solidFill>
              <a:srgbClr val="F5C518"/>
            </a:solidFill>
            <a:prstDash val="dash"/>
          </a:ln>
        </p:spPr>
      </p:sp>
      <p:sp>
        <p:nvSpPr>
          <p:cNvPr id="35" name="Shape 32"/>
          <p:cNvSpPr/>
          <p:nvPr/>
        </p:nvSpPr>
        <p:spPr>
          <a:xfrm>
            <a:off x="868680" y="4663440"/>
            <a:ext cx="10424160" cy="1280160"/>
          </a:xfrm>
          <a:prstGeom prst="roundRect">
            <a:avLst>
              <a:gd name="adj" fmla="val 8571"/>
            </a:avLst>
          </a:prstGeom>
          <a:solidFill>
            <a:srgbClr val="4A2873"/>
          </a:solidFill>
          <a:ln/>
          <a:effectLst>
            <a:outerShdw sx="100000" sy="100000" kx="0" ky="0" algn="bl" rotWithShape="0" blurRad="1.7037400940827478e+58" dist="5.679133646942494e+57" dir="7.052774768640002e+68">
              <a:srgbClr val="444444">
                <a:alpha val="1.8e+69"/>
              </a:srgbClr>
            </a:outerShdw>
          </a:effectLst>
        </p:spPr>
      </p:sp>
      <p:sp>
        <p:nvSpPr>
          <p:cNvPr id="36" name="Text 33"/>
          <p:cNvSpPr txBox="1"/>
          <p:nvPr/>
        </p:nvSpPr>
        <p:spPr>
          <a:xfrm>
            <a:off x="1097280" y="4846320"/>
            <a:ext cx="9966960" cy="960120"/>
          </a:xfrm>
          <a:prstGeom prst="rect">
            <a:avLst/>
          </a:prstGeom>
          <a:noFill/>
          <a:ln/>
        </p:spPr>
        <p:txBody>
          <a:bodyPr wrap="square" lIns="0" tIns="0" rIns="0" bIns="0" rtlCol="0" anchor="t"/>
          <a:lstStyle/>
          <a:p>
            <a:pPr indent="0" marL="0">
              <a:lnSpc>
                <a:spcPct val="130000"/>
              </a:lnSpc>
              <a:buNone/>
            </a:pPr>
            <a:r>
              <a:rPr lang="en-US" sz="1200" b="1" dirty="0">
                <a:solidFill>
                  <a:srgbClr val="F5C518"/>
                </a:solidFill>
                <a:latin typeface="Calibri" pitchFamily="34" charset="0"/>
                <a:ea typeface="Calibri" pitchFamily="34" charset="-122"/>
                <a:cs typeface="Calibri" pitchFamily="34" charset="-120"/>
              </a:rPr>
              <a:t>Memory &amp; reasoning:  </a:t>
            </a:r>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each call reads shared context (own inputs + prior outputs + relevant memory_items), reasons over it, and returns a fixed JSON schema. Agents never call each other directly — the orchestrator mediates every hand-off.</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320040"/>
            <a:ext cx="914400" cy="914400"/>
          </a:xfrm>
          <a:prstGeom prst="ellipse">
            <a:avLst/>
          </a:prstGeom>
          <a:solidFill>
            <a:srgbClr val="F5C518"/>
          </a:solidFill>
          <a:ln/>
        </p:spPr>
      </p:sp>
      <p:sp>
        <p:nvSpPr>
          <p:cNvPr id="3" name="Text 1"/>
          <p:cNvSpPr txBox="1"/>
          <p:nvPr/>
        </p:nvSpPr>
        <p:spPr>
          <a:xfrm>
            <a:off x="411480" y="320040"/>
            <a:ext cx="914400" cy="914400"/>
          </a:xfrm>
          <a:prstGeom prst="rect">
            <a:avLst/>
          </a:prstGeom>
          <a:noFill/>
          <a:ln/>
        </p:spPr>
        <p:txBody>
          <a:bodyPr wrap="square" lIns="0" tIns="0" rIns="0" bIns="0" rtlCol="0" anchor="ctr"/>
          <a:lstStyle/>
          <a:p>
            <a:pPr algn="ctr" indent="0" marL="0">
              <a:buNone/>
            </a:pPr>
            <a:r>
              <a:rPr lang="en-US" sz="3000" b="1" dirty="0">
                <a:solidFill>
                  <a:srgbClr val="1A1A1A"/>
                </a:solidFill>
                <a:latin typeface="Calibri" pitchFamily="34" charset="0"/>
                <a:ea typeface="Calibri" pitchFamily="34" charset="-122"/>
                <a:cs typeface="Calibri" pitchFamily="34" charset="-120"/>
              </a:rPr>
              <a:t>8</a:t>
            </a:r>
            <a:endParaRPr lang="en-US" sz="3000" dirty="0"/>
          </a:p>
        </p:txBody>
      </p:sp>
      <p:sp>
        <p:nvSpPr>
          <p:cNvPr id="4" name="Text 2"/>
          <p:cNvSpPr txBox="1"/>
          <p:nvPr/>
        </p:nvSpPr>
        <p:spPr>
          <a:xfrm>
            <a:off x="1508760" y="301752"/>
            <a:ext cx="8503920" cy="685800"/>
          </a:xfrm>
          <a:prstGeom prst="rect">
            <a:avLst/>
          </a:prstGeom>
          <a:noFill/>
          <a:ln/>
        </p:spPr>
        <p:txBody>
          <a:bodyPr wrap="square" lIns="0" tIns="0" rIns="0" bIns="0" rtlCol="0" anchor="ctr"/>
          <a:lstStyle/>
          <a:p>
            <a:pPr indent="0" marL="0">
              <a:buNone/>
            </a:pPr>
            <a:r>
              <a:rPr lang="en-US" sz="2800" b="1" dirty="0">
                <a:solidFill>
                  <a:srgbClr val="5B2D8E"/>
                </a:solidFill>
                <a:latin typeface="Cambria" pitchFamily="34" charset="0"/>
                <a:ea typeface="Cambria" pitchFamily="34" charset="-122"/>
                <a:cs typeface="Cambria" pitchFamily="34" charset="-120"/>
              </a:rPr>
              <a:t>AGENT WORKFLOW AND ORCHESTRATION</a:t>
            </a:r>
            <a:endParaRPr lang="en-US" sz="2800" dirty="0"/>
          </a:p>
        </p:txBody>
      </p:sp>
      <p:sp>
        <p:nvSpPr>
          <p:cNvPr id="5" name="Shape 3"/>
          <p:cNvSpPr/>
          <p:nvPr/>
        </p:nvSpPr>
        <p:spPr>
          <a:xfrm>
            <a:off x="1536192" y="987552"/>
            <a:ext cx="1920240" cy="0"/>
          </a:xfrm>
          <a:prstGeom prst="line">
            <a:avLst/>
          </a:prstGeom>
          <a:noFill/>
          <a:ln w="38100">
            <a:solidFill>
              <a:srgbClr val="F5C518"/>
            </a:solidFill>
            <a:prstDash val="solid"/>
          </a:ln>
        </p:spPr>
      </p:sp>
      <p:pic>
        <p:nvPicPr>
          <p:cNvPr id="6" name="Image 0" descr="/home/claude/ppt_nexus_style/assets/logopage-000.png">    </p:cNvPr>
          <p:cNvPicPr>
            <a:picLocks noChangeAspect="1"/>
          </p:cNvPicPr>
          <p:nvPr/>
        </p:nvPicPr>
        <p:blipFill>
          <a:blip r:embed="rId1"/>
          <a:stretch>
            <a:fillRect/>
          </a:stretch>
        </p:blipFill>
        <p:spPr>
          <a:xfrm>
            <a:off x="10149840" y="256032"/>
            <a:ext cx="1600200" cy="768096"/>
          </a:xfrm>
          <a:prstGeom prst="rect">
            <a:avLst/>
          </a:prstGeom>
        </p:spPr>
      </p:pic>
      <p:sp>
        <p:nvSpPr>
          <p:cNvPr id="7" name="Text 4"/>
          <p:cNvSpPr txBox="1"/>
          <p:nvPr/>
        </p:nvSpPr>
        <p:spPr>
          <a:xfrm>
            <a:off x="457200" y="6492240"/>
            <a:ext cx="2743200" cy="2743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Final review</a:t>
            </a:r>
            <a:endParaRPr lang="en-US" sz="1100" dirty="0"/>
          </a:p>
        </p:txBody>
      </p:sp>
      <p:sp>
        <p:nvSpPr>
          <p:cNvPr id="8" name="Text 5"/>
          <p:cNvSpPr txBox="1"/>
          <p:nvPr/>
        </p:nvSpPr>
        <p:spPr>
          <a:xfrm>
            <a:off x="6400800" y="6492240"/>
            <a:ext cx="5349240" cy="274320"/>
          </a:xfrm>
          <a:prstGeom prst="rect">
            <a:avLst/>
          </a:prstGeom>
          <a:noFill/>
          <a:ln/>
        </p:spPr>
        <p:txBody>
          <a:bodyPr wrap="square" lIns="0" tIns="0" rIns="0" bIns="0" rtlCol="0" anchor="ctr"/>
          <a:lstStyle/>
          <a:p>
            <a:pPr algn="r" indent="0" marL="0">
              <a:buNone/>
            </a:pPr>
            <a:r>
              <a:rPr lang="en-US" sz="1100" dirty="0">
                <a:solidFill>
                  <a:srgbClr val="1A1A1A"/>
                </a:solidFill>
                <a:latin typeface="Calibri" pitchFamily="34" charset="0"/>
                <a:ea typeface="Calibri" pitchFamily="34" charset="-122"/>
                <a:cs typeface="Calibri" pitchFamily="34" charset="-120"/>
              </a:rPr>
              <a:t>Department of Artificial Intelligence and Machine Learning</a:t>
            </a:r>
            <a:endParaRPr lang="en-US" sz="1100" dirty="0"/>
          </a:p>
        </p:txBody>
      </p:sp>
      <p:sp>
        <p:nvSpPr>
          <p:cNvPr id="9" name="Shape 6"/>
          <p:cNvSpPr/>
          <p:nvPr/>
        </p:nvSpPr>
        <p:spPr>
          <a:xfrm>
            <a:off x="548640" y="1600200"/>
            <a:ext cx="11064240" cy="4526280"/>
          </a:xfrm>
          <a:prstGeom prst="roundRect">
            <a:avLst>
              <a:gd name="adj" fmla="val 2020"/>
            </a:avLst>
          </a:prstGeom>
          <a:solidFill>
            <a:srgbClr val="F4F1F8"/>
          </a:solidFill>
          <a:ln w="12700">
            <a:solidFill>
              <a:srgbClr val="E3DCEF"/>
            </a:solidFill>
            <a:prstDash val="solid"/>
          </a:ln>
        </p:spPr>
      </p:sp>
      <p:sp>
        <p:nvSpPr>
          <p:cNvPr id="10" name="Shape 7"/>
          <p:cNvSpPr/>
          <p:nvPr/>
        </p:nvSpPr>
        <p:spPr>
          <a:xfrm>
            <a:off x="868680" y="1828800"/>
            <a:ext cx="1115568" cy="777240"/>
          </a:xfrm>
          <a:prstGeom prst="roundRect">
            <a:avLst>
              <a:gd name="adj" fmla="val 8235"/>
            </a:avLst>
          </a:prstGeom>
          <a:solidFill>
            <a:srgbClr val="5B2D8E"/>
          </a:solidFill>
          <a:ln/>
        </p:spPr>
      </p:sp>
      <p:sp>
        <p:nvSpPr>
          <p:cNvPr id="11" name="Text 8"/>
          <p:cNvSpPr txBox="1"/>
          <p:nvPr/>
        </p:nvSpPr>
        <p:spPr>
          <a:xfrm>
            <a:off x="868680" y="1901952"/>
            <a:ext cx="1115568"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Requirement</a:t>
            </a:r>
            <a:endParaRPr lang="en-US" sz="1000" dirty="0"/>
          </a:p>
        </p:txBody>
      </p:sp>
      <p:sp>
        <p:nvSpPr>
          <p:cNvPr id="12" name="Text 9"/>
          <p:cNvSpPr txBox="1"/>
          <p:nvPr/>
        </p:nvSpPr>
        <p:spPr>
          <a:xfrm>
            <a:off x="1984248" y="2011680"/>
            <a:ext cx="150876" cy="457200"/>
          </a:xfrm>
          <a:prstGeom prst="rect">
            <a:avLst/>
          </a:prstGeom>
          <a:noFill/>
          <a:ln/>
        </p:spPr>
        <p:txBody>
          <a:bodyPr wrap="square" lIns="0" tIns="0" rIns="0" bIns="0" rtlCol="0" anchor="ctr"/>
          <a:lstStyle/>
          <a:p>
            <a:pPr algn="ctr" indent="0" marL="0">
              <a:buNone/>
            </a:pPr>
            <a:r>
              <a:rPr lang="en-US" sz="1300" dirty="0">
                <a:solidFill>
                  <a:srgbClr val="5A5A5A"/>
                </a:solidFill>
                <a:latin typeface="Calibri" pitchFamily="34" charset="0"/>
                <a:ea typeface="Calibri" pitchFamily="34" charset="-122"/>
                <a:cs typeface="Calibri" pitchFamily="34" charset="-120"/>
              </a:rPr>
              <a:t>→</a:t>
            </a:r>
            <a:endParaRPr lang="en-US" sz="1300" dirty="0"/>
          </a:p>
        </p:txBody>
      </p:sp>
      <p:sp>
        <p:nvSpPr>
          <p:cNvPr id="13" name="Shape 10"/>
          <p:cNvSpPr/>
          <p:nvPr/>
        </p:nvSpPr>
        <p:spPr>
          <a:xfrm>
            <a:off x="2116836" y="1828800"/>
            <a:ext cx="1115568" cy="777240"/>
          </a:xfrm>
          <a:prstGeom prst="roundRect">
            <a:avLst>
              <a:gd name="adj" fmla="val 8235"/>
            </a:avLst>
          </a:prstGeom>
          <a:solidFill>
            <a:srgbClr val="F5C518"/>
          </a:solidFill>
          <a:ln/>
        </p:spPr>
      </p:sp>
      <p:sp>
        <p:nvSpPr>
          <p:cNvPr id="14" name="Text 11"/>
          <p:cNvSpPr txBox="1"/>
          <p:nvPr/>
        </p:nvSpPr>
        <p:spPr>
          <a:xfrm>
            <a:off x="2116836" y="1901952"/>
            <a:ext cx="1115568" cy="365760"/>
          </a:xfrm>
          <a:prstGeom prst="rect">
            <a:avLst/>
          </a:prstGeom>
          <a:noFill/>
          <a:ln/>
        </p:spPr>
        <p:txBody>
          <a:bodyPr wrap="square" lIns="0" tIns="0" rIns="0" bIns="0" rtlCol="0" anchor="ctr"/>
          <a:lstStyle/>
          <a:p>
            <a:pPr algn="ctr" indent="0" marL="0">
              <a:buNone/>
            </a:pPr>
            <a:r>
              <a:rPr lang="en-US" sz="1000" b="1" dirty="0">
                <a:solidFill>
                  <a:srgbClr val="3D1F63"/>
                </a:solidFill>
                <a:latin typeface="Calibri" pitchFamily="34" charset="0"/>
                <a:ea typeface="Calibri" pitchFamily="34" charset="-122"/>
                <a:cs typeface="Calibri" pitchFamily="34" charset="-120"/>
              </a:rPr>
              <a:t>Gate 1</a:t>
            </a:r>
            <a:endParaRPr lang="en-US" sz="1000" dirty="0"/>
          </a:p>
        </p:txBody>
      </p:sp>
      <p:sp>
        <p:nvSpPr>
          <p:cNvPr id="15" name="Text 12"/>
          <p:cNvSpPr txBox="1"/>
          <p:nvPr/>
        </p:nvSpPr>
        <p:spPr>
          <a:xfrm>
            <a:off x="2116836" y="2240280"/>
            <a:ext cx="1115568" cy="320040"/>
          </a:xfrm>
          <a:prstGeom prst="rect">
            <a:avLst/>
          </a:prstGeom>
          <a:noFill/>
          <a:ln/>
        </p:spPr>
        <p:txBody>
          <a:bodyPr wrap="square" lIns="0" tIns="0" rIns="0" bIns="0" rtlCol="0" anchor="ctr"/>
          <a:lstStyle/>
          <a:p>
            <a:pPr algn="ctr" indent="0" marL="0">
              <a:buNone/>
            </a:pPr>
            <a:r>
              <a:rPr lang="en-US" sz="850" dirty="0">
                <a:solidFill>
                  <a:srgbClr val="3D1F63"/>
                </a:solidFill>
                <a:latin typeface="Calibri" pitchFamily="34" charset="0"/>
                <a:ea typeface="Calibri" pitchFamily="34" charset="-122"/>
                <a:cs typeface="Calibri" pitchFamily="34" charset="-120"/>
              </a:rPr>
              <a:t>PO</a:t>
            </a:r>
            <a:endParaRPr lang="en-US" sz="850" dirty="0"/>
          </a:p>
        </p:txBody>
      </p:sp>
      <p:sp>
        <p:nvSpPr>
          <p:cNvPr id="16" name="Text 13"/>
          <p:cNvSpPr txBox="1"/>
          <p:nvPr/>
        </p:nvSpPr>
        <p:spPr>
          <a:xfrm>
            <a:off x="3232404" y="2011680"/>
            <a:ext cx="150876" cy="457200"/>
          </a:xfrm>
          <a:prstGeom prst="rect">
            <a:avLst/>
          </a:prstGeom>
          <a:noFill/>
          <a:ln/>
        </p:spPr>
        <p:txBody>
          <a:bodyPr wrap="square" lIns="0" tIns="0" rIns="0" bIns="0" rtlCol="0" anchor="ctr"/>
          <a:lstStyle/>
          <a:p>
            <a:pPr algn="ctr" indent="0" marL="0">
              <a:buNone/>
            </a:pPr>
            <a:r>
              <a:rPr lang="en-US" sz="1300" dirty="0">
                <a:solidFill>
                  <a:srgbClr val="5A5A5A"/>
                </a:solidFill>
                <a:latin typeface="Calibri" pitchFamily="34" charset="0"/>
                <a:ea typeface="Calibri" pitchFamily="34" charset="-122"/>
                <a:cs typeface="Calibri" pitchFamily="34" charset="-120"/>
              </a:rPr>
              <a:t>→</a:t>
            </a:r>
            <a:endParaRPr lang="en-US" sz="1300" dirty="0"/>
          </a:p>
        </p:txBody>
      </p:sp>
      <p:sp>
        <p:nvSpPr>
          <p:cNvPr id="17" name="Shape 14"/>
          <p:cNvSpPr/>
          <p:nvPr/>
        </p:nvSpPr>
        <p:spPr>
          <a:xfrm>
            <a:off x="3364992" y="1828800"/>
            <a:ext cx="1115568" cy="777240"/>
          </a:xfrm>
          <a:prstGeom prst="roundRect">
            <a:avLst>
              <a:gd name="adj" fmla="val 8235"/>
            </a:avLst>
          </a:prstGeom>
          <a:solidFill>
            <a:srgbClr val="5B2D8E"/>
          </a:solidFill>
          <a:ln/>
        </p:spPr>
      </p:sp>
      <p:sp>
        <p:nvSpPr>
          <p:cNvPr id="18" name="Text 15"/>
          <p:cNvSpPr txBox="1"/>
          <p:nvPr/>
        </p:nvSpPr>
        <p:spPr>
          <a:xfrm>
            <a:off x="3364992" y="1901952"/>
            <a:ext cx="1115568"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Design</a:t>
            </a:r>
            <a:endParaRPr lang="en-US" sz="1000" dirty="0"/>
          </a:p>
        </p:txBody>
      </p:sp>
      <p:sp>
        <p:nvSpPr>
          <p:cNvPr id="19" name="Text 16"/>
          <p:cNvSpPr txBox="1"/>
          <p:nvPr/>
        </p:nvSpPr>
        <p:spPr>
          <a:xfrm>
            <a:off x="4480560" y="2011680"/>
            <a:ext cx="150876" cy="457200"/>
          </a:xfrm>
          <a:prstGeom prst="rect">
            <a:avLst/>
          </a:prstGeom>
          <a:noFill/>
          <a:ln/>
        </p:spPr>
        <p:txBody>
          <a:bodyPr wrap="square" lIns="0" tIns="0" rIns="0" bIns="0" rtlCol="0" anchor="ctr"/>
          <a:lstStyle/>
          <a:p>
            <a:pPr algn="ctr" indent="0" marL="0">
              <a:buNone/>
            </a:pPr>
            <a:r>
              <a:rPr lang="en-US" sz="1300" dirty="0">
                <a:solidFill>
                  <a:srgbClr val="5A5A5A"/>
                </a:solidFill>
                <a:latin typeface="Calibri" pitchFamily="34" charset="0"/>
                <a:ea typeface="Calibri" pitchFamily="34" charset="-122"/>
                <a:cs typeface="Calibri" pitchFamily="34" charset="-120"/>
              </a:rPr>
              <a:t>→</a:t>
            </a:r>
            <a:endParaRPr lang="en-US" sz="1300" dirty="0"/>
          </a:p>
        </p:txBody>
      </p:sp>
      <p:sp>
        <p:nvSpPr>
          <p:cNvPr id="20" name="Shape 17"/>
          <p:cNvSpPr/>
          <p:nvPr/>
        </p:nvSpPr>
        <p:spPr>
          <a:xfrm>
            <a:off x="4613148" y="1828800"/>
            <a:ext cx="1115568" cy="777240"/>
          </a:xfrm>
          <a:prstGeom prst="roundRect">
            <a:avLst>
              <a:gd name="adj" fmla="val 8235"/>
            </a:avLst>
          </a:prstGeom>
          <a:solidFill>
            <a:srgbClr val="5B2D8E"/>
          </a:solidFill>
          <a:ln/>
        </p:spPr>
      </p:sp>
      <p:sp>
        <p:nvSpPr>
          <p:cNvPr id="21" name="Text 18"/>
          <p:cNvSpPr txBox="1"/>
          <p:nvPr/>
        </p:nvSpPr>
        <p:spPr>
          <a:xfrm>
            <a:off x="4613148" y="1901952"/>
            <a:ext cx="1115568"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Coding</a:t>
            </a:r>
            <a:endParaRPr lang="en-US" sz="1000" dirty="0"/>
          </a:p>
        </p:txBody>
      </p:sp>
      <p:sp>
        <p:nvSpPr>
          <p:cNvPr id="22" name="Text 19"/>
          <p:cNvSpPr txBox="1"/>
          <p:nvPr/>
        </p:nvSpPr>
        <p:spPr>
          <a:xfrm>
            <a:off x="5728716" y="2011680"/>
            <a:ext cx="150876" cy="457200"/>
          </a:xfrm>
          <a:prstGeom prst="rect">
            <a:avLst/>
          </a:prstGeom>
          <a:noFill/>
          <a:ln/>
        </p:spPr>
        <p:txBody>
          <a:bodyPr wrap="square" lIns="0" tIns="0" rIns="0" bIns="0" rtlCol="0" anchor="ctr"/>
          <a:lstStyle/>
          <a:p>
            <a:pPr algn="ctr" indent="0" marL="0">
              <a:buNone/>
            </a:pPr>
            <a:r>
              <a:rPr lang="en-US" sz="1300" dirty="0">
                <a:solidFill>
                  <a:srgbClr val="5A5A5A"/>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5861304" y="1828800"/>
            <a:ext cx="1115568" cy="777240"/>
          </a:xfrm>
          <a:prstGeom prst="roundRect">
            <a:avLst>
              <a:gd name="adj" fmla="val 8235"/>
            </a:avLst>
          </a:prstGeom>
          <a:solidFill>
            <a:srgbClr val="5B2D8E"/>
          </a:solidFill>
          <a:ln/>
        </p:spPr>
      </p:sp>
      <p:sp>
        <p:nvSpPr>
          <p:cNvPr id="24" name="Text 21"/>
          <p:cNvSpPr txBox="1"/>
          <p:nvPr/>
        </p:nvSpPr>
        <p:spPr>
          <a:xfrm>
            <a:off x="5861304" y="1901952"/>
            <a:ext cx="1115568"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Testing</a:t>
            </a:r>
            <a:endParaRPr lang="en-US" sz="1000" dirty="0"/>
          </a:p>
        </p:txBody>
      </p:sp>
      <p:sp>
        <p:nvSpPr>
          <p:cNvPr id="25" name="Text 22"/>
          <p:cNvSpPr txBox="1"/>
          <p:nvPr/>
        </p:nvSpPr>
        <p:spPr>
          <a:xfrm>
            <a:off x="6976872" y="2011680"/>
            <a:ext cx="150876" cy="457200"/>
          </a:xfrm>
          <a:prstGeom prst="rect">
            <a:avLst/>
          </a:prstGeom>
          <a:noFill/>
          <a:ln/>
        </p:spPr>
        <p:txBody>
          <a:bodyPr wrap="square" lIns="0" tIns="0" rIns="0" bIns="0" rtlCol="0" anchor="ctr"/>
          <a:lstStyle/>
          <a:p>
            <a:pPr algn="ctr" indent="0" marL="0">
              <a:buNone/>
            </a:pPr>
            <a:r>
              <a:rPr lang="en-US" sz="1300" dirty="0">
                <a:solidFill>
                  <a:srgbClr val="5A5A5A"/>
                </a:solidFill>
                <a:latin typeface="Calibri" pitchFamily="34" charset="0"/>
                <a:ea typeface="Calibri" pitchFamily="34" charset="-122"/>
                <a:cs typeface="Calibri" pitchFamily="34" charset="-120"/>
              </a:rPr>
              <a:t>→</a:t>
            </a:r>
            <a:endParaRPr lang="en-US" sz="1300" dirty="0"/>
          </a:p>
        </p:txBody>
      </p:sp>
      <p:sp>
        <p:nvSpPr>
          <p:cNvPr id="26" name="Shape 23"/>
          <p:cNvSpPr/>
          <p:nvPr/>
        </p:nvSpPr>
        <p:spPr>
          <a:xfrm>
            <a:off x="7109460" y="1828800"/>
            <a:ext cx="1115568" cy="777240"/>
          </a:xfrm>
          <a:prstGeom prst="roundRect">
            <a:avLst>
              <a:gd name="adj" fmla="val 8235"/>
            </a:avLst>
          </a:prstGeom>
          <a:solidFill>
            <a:srgbClr val="5B2D8E"/>
          </a:solidFill>
          <a:ln/>
        </p:spPr>
      </p:sp>
      <p:sp>
        <p:nvSpPr>
          <p:cNvPr id="27" name="Text 24"/>
          <p:cNvSpPr txBox="1"/>
          <p:nvPr/>
        </p:nvSpPr>
        <p:spPr>
          <a:xfrm>
            <a:off x="7109460" y="1901952"/>
            <a:ext cx="1115568"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Review</a:t>
            </a:r>
            <a:endParaRPr lang="en-US" sz="1000" dirty="0"/>
          </a:p>
        </p:txBody>
      </p:sp>
      <p:sp>
        <p:nvSpPr>
          <p:cNvPr id="28" name="Text 25"/>
          <p:cNvSpPr txBox="1"/>
          <p:nvPr/>
        </p:nvSpPr>
        <p:spPr>
          <a:xfrm>
            <a:off x="8225028" y="2011680"/>
            <a:ext cx="150876" cy="457200"/>
          </a:xfrm>
          <a:prstGeom prst="rect">
            <a:avLst/>
          </a:prstGeom>
          <a:noFill/>
          <a:ln/>
        </p:spPr>
        <p:txBody>
          <a:bodyPr wrap="square" lIns="0" tIns="0" rIns="0" bIns="0" rtlCol="0" anchor="ctr"/>
          <a:lstStyle/>
          <a:p>
            <a:pPr algn="ctr" indent="0" marL="0">
              <a:buNone/>
            </a:pPr>
            <a:r>
              <a:rPr lang="en-US" sz="1300" dirty="0">
                <a:solidFill>
                  <a:srgbClr val="5A5A5A"/>
                </a:solidFill>
                <a:latin typeface="Calibri" pitchFamily="34" charset="0"/>
                <a:ea typeface="Calibri" pitchFamily="34" charset="-122"/>
                <a:cs typeface="Calibri" pitchFamily="34" charset="-120"/>
              </a:rPr>
              <a:t>→</a:t>
            </a:r>
            <a:endParaRPr lang="en-US" sz="1300" dirty="0"/>
          </a:p>
        </p:txBody>
      </p:sp>
      <p:sp>
        <p:nvSpPr>
          <p:cNvPr id="29" name="Shape 26"/>
          <p:cNvSpPr/>
          <p:nvPr/>
        </p:nvSpPr>
        <p:spPr>
          <a:xfrm>
            <a:off x="8357616" y="1828800"/>
            <a:ext cx="1115568" cy="777240"/>
          </a:xfrm>
          <a:prstGeom prst="roundRect">
            <a:avLst>
              <a:gd name="adj" fmla="val 8235"/>
            </a:avLst>
          </a:prstGeom>
          <a:solidFill>
            <a:srgbClr val="F5C518"/>
          </a:solidFill>
          <a:ln/>
        </p:spPr>
      </p:sp>
      <p:sp>
        <p:nvSpPr>
          <p:cNvPr id="30" name="Text 27"/>
          <p:cNvSpPr txBox="1"/>
          <p:nvPr/>
        </p:nvSpPr>
        <p:spPr>
          <a:xfrm>
            <a:off x="8357616" y="1901952"/>
            <a:ext cx="1115568" cy="365760"/>
          </a:xfrm>
          <a:prstGeom prst="rect">
            <a:avLst/>
          </a:prstGeom>
          <a:noFill/>
          <a:ln/>
        </p:spPr>
        <p:txBody>
          <a:bodyPr wrap="square" lIns="0" tIns="0" rIns="0" bIns="0" rtlCol="0" anchor="ctr"/>
          <a:lstStyle/>
          <a:p>
            <a:pPr algn="ctr" indent="0" marL="0">
              <a:buNone/>
            </a:pPr>
            <a:r>
              <a:rPr lang="en-US" sz="1000" b="1" dirty="0">
                <a:solidFill>
                  <a:srgbClr val="3D1F63"/>
                </a:solidFill>
                <a:latin typeface="Calibri" pitchFamily="34" charset="0"/>
                <a:ea typeface="Calibri" pitchFamily="34" charset="-122"/>
                <a:cs typeface="Calibri" pitchFamily="34" charset="-120"/>
              </a:rPr>
              <a:t>Gate 2</a:t>
            </a:r>
            <a:endParaRPr lang="en-US" sz="1000" dirty="0"/>
          </a:p>
        </p:txBody>
      </p:sp>
      <p:sp>
        <p:nvSpPr>
          <p:cNvPr id="31" name="Text 28"/>
          <p:cNvSpPr txBox="1"/>
          <p:nvPr/>
        </p:nvSpPr>
        <p:spPr>
          <a:xfrm>
            <a:off x="8357616" y="2240280"/>
            <a:ext cx="1115568" cy="320040"/>
          </a:xfrm>
          <a:prstGeom prst="rect">
            <a:avLst/>
          </a:prstGeom>
          <a:noFill/>
          <a:ln/>
        </p:spPr>
        <p:txBody>
          <a:bodyPr wrap="square" lIns="0" tIns="0" rIns="0" bIns="0" rtlCol="0" anchor="ctr"/>
          <a:lstStyle/>
          <a:p>
            <a:pPr algn="ctr" indent="0" marL="0">
              <a:buNone/>
            </a:pPr>
            <a:r>
              <a:rPr lang="en-US" sz="850" dirty="0">
                <a:solidFill>
                  <a:srgbClr val="3D1F63"/>
                </a:solidFill>
                <a:latin typeface="Calibri" pitchFamily="34" charset="0"/>
                <a:ea typeface="Calibri" pitchFamily="34" charset="-122"/>
                <a:cs typeface="Calibri" pitchFamily="34" charset="-120"/>
              </a:rPr>
              <a:t>Dev</a:t>
            </a:r>
            <a:endParaRPr lang="en-US" sz="850" dirty="0"/>
          </a:p>
        </p:txBody>
      </p:sp>
      <p:sp>
        <p:nvSpPr>
          <p:cNvPr id="32" name="Text 29"/>
          <p:cNvSpPr txBox="1"/>
          <p:nvPr/>
        </p:nvSpPr>
        <p:spPr>
          <a:xfrm>
            <a:off x="9473184" y="2011680"/>
            <a:ext cx="150876" cy="457200"/>
          </a:xfrm>
          <a:prstGeom prst="rect">
            <a:avLst/>
          </a:prstGeom>
          <a:noFill/>
          <a:ln/>
        </p:spPr>
        <p:txBody>
          <a:bodyPr wrap="square" lIns="0" tIns="0" rIns="0" bIns="0" rtlCol="0" anchor="ctr"/>
          <a:lstStyle/>
          <a:p>
            <a:pPr algn="ctr" indent="0" marL="0">
              <a:buNone/>
            </a:pPr>
            <a:r>
              <a:rPr lang="en-US" sz="1300" dirty="0">
                <a:solidFill>
                  <a:srgbClr val="5A5A5A"/>
                </a:solidFill>
                <a:latin typeface="Calibri" pitchFamily="34" charset="0"/>
                <a:ea typeface="Calibri" pitchFamily="34" charset="-122"/>
                <a:cs typeface="Calibri" pitchFamily="34" charset="-120"/>
              </a:rPr>
              <a:t>→</a:t>
            </a:r>
            <a:endParaRPr lang="en-US" sz="1300" dirty="0"/>
          </a:p>
        </p:txBody>
      </p:sp>
      <p:sp>
        <p:nvSpPr>
          <p:cNvPr id="33" name="Shape 30"/>
          <p:cNvSpPr/>
          <p:nvPr/>
        </p:nvSpPr>
        <p:spPr>
          <a:xfrm>
            <a:off x="9605772" y="1828800"/>
            <a:ext cx="1115568" cy="777240"/>
          </a:xfrm>
          <a:prstGeom prst="roundRect">
            <a:avLst>
              <a:gd name="adj" fmla="val 8235"/>
            </a:avLst>
          </a:prstGeom>
          <a:solidFill>
            <a:srgbClr val="F5C518"/>
          </a:solidFill>
          <a:ln/>
        </p:spPr>
      </p:sp>
      <p:sp>
        <p:nvSpPr>
          <p:cNvPr id="34" name="Text 31"/>
          <p:cNvSpPr txBox="1"/>
          <p:nvPr/>
        </p:nvSpPr>
        <p:spPr>
          <a:xfrm>
            <a:off x="9605772" y="1901952"/>
            <a:ext cx="1115568" cy="365760"/>
          </a:xfrm>
          <a:prstGeom prst="rect">
            <a:avLst/>
          </a:prstGeom>
          <a:noFill/>
          <a:ln/>
        </p:spPr>
        <p:txBody>
          <a:bodyPr wrap="square" lIns="0" tIns="0" rIns="0" bIns="0" rtlCol="0" anchor="ctr"/>
          <a:lstStyle/>
          <a:p>
            <a:pPr algn="ctr" indent="0" marL="0">
              <a:buNone/>
            </a:pPr>
            <a:r>
              <a:rPr lang="en-US" sz="1000" b="1" dirty="0">
                <a:solidFill>
                  <a:srgbClr val="3D1F63"/>
                </a:solidFill>
                <a:latin typeface="Calibri" pitchFamily="34" charset="0"/>
                <a:ea typeface="Calibri" pitchFamily="34" charset="-122"/>
                <a:cs typeface="Calibri" pitchFamily="34" charset="-120"/>
              </a:rPr>
              <a:t>Gate 3</a:t>
            </a:r>
            <a:endParaRPr lang="en-US" sz="1000" dirty="0"/>
          </a:p>
        </p:txBody>
      </p:sp>
      <p:sp>
        <p:nvSpPr>
          <p:cNvPr id="35" name="Text 32"/>
          <p:cNvSpPr txBox="1"/>
          <p:nvPr/>
        </p:nvSpPr>
        <p:spPr>
          <a:xfrm>
            <a:off x="9605772" y="2240280"/>
            <a:ext cx="1115568" cy="320040"/>
          </a:xfrm>
          <a:prstGeom prst="rect">
            <a:avLst/>
          </a:prstGeom>
          <a:noFill/>
          <a:ln/>
        </p:spPr>
        <p:txBody>
          <a:bodyPr wrap="square" lIns="0" tIns="0" rIns="0" bIns="0" rtlCol="0" anchor="ctr"/>
          <a:lstStyle/>
          <a:p>
            <a:pPr algn="ctr" indent="0" marL="0">
              <a:buNone/>
            </a:pPr>
            <a:r>
              <a:rPr lang="en-US" sz="850" dirty="0">
                <a:solidFill>
                  <a:srgbClr val="3D1F63"/>
                </a:solidFill>
                <a:latin typeface="Calibri" pitchFamily="34" charset="0"/>
                <a:ea typeface="Calibri" pitchFamily="34" charset="-122"/>
                <a:cs typeface="Calibri" pitchFamily="34" charset="-120"/>
              </a:rPr>
              <a:t>SRE</a:t>
            </a:r>
            <a:endParaRPr lang="en-US" sz="850" dirty="0"/>
          </a:p>
        </p:txBody>
      </p:sp>
      <p:sp>
        <p:nvSpPr>
          <p:cNvPr id="36" name="Text 33"/>
          <p:cNvSpPr txBox="1"/>
          <p:nvPr/>
        </p:nvSpPr>
        <p:spPr>
          <a:xfrm>
            <a:off x="10721340" y="2011680"/>
            <a:ext cx="150876" cy="457200"/>
          </a:xfrm>
          <a:prstGeom prst="rect">
            <a:avLst/>
          </a:prstGeom>
          <a:noFill/>
          <a:ln/>
        </p:spPr>
        <p:txBody>
          <a:bodyPr wrap="square" lIns="0" tIns="0" rIns="0" bIns="0" rtlCol="0" anchor="ctr"/>
          <a:lstStyle/>
          <a:p>
            <a:pPr algn="ctr" indent="0" marL="0">
              <a:buNone/>
            </a:pPr>
            <a:r>
              <a:rPr lang="en-US" sz="1300" dirty="0">
                <a:solidFill>
                  <a:srgbClr val="5A5A5A"/>
                </a:solidFill>
                <a:latin typeface="Calibri" pitchFamily="34" charset="0"/>
                <a:ea typeface="Calibri" pitchFamily="34" charset="-122"/>
                <a:cs typeface="Calibri" pitchFamily="34" charset="-120"/>
              </a:rPr>
              <a:t>→</a:t>
            </a:r>
            <a:endParaRPr lang="en-US" sz="1300" dirty="0"/>
          </a:p>
        </p:txBody>
      </p:sp>
      <p:sp>
        <p:nvSpPr>
          <p:cNvPr id="37" name="Shape 34"/>
          <p:cNvSpPr/>
          <p:nvPr/>
        </p:nvSpPr>
        <p:spPr>
          <a:xfrm>
            <a:off x="10853928" y="1828800"/>
            <a:ext cx="1115568" cy="777240"/>
          </a:xfrm>
          <a:prstGeom prst="roundRect">
            <a:avLst>
              <a:gd name="adj" fmla="val 8235"/>
            </a:avLst>
          </a:prstGeom>
          <a:solidFill>
            <a:srgbClr val="5B2D8E"/>
          </a:solidFill>
          <a:ln/>
        </p:spPr>
      </p:sp>
      <p:sp>
        <p:nvSpPr>
          <p:cNvPr id="38" name="Text 35"/>
          <p:cNvSpPr txBox="1"/>
          <p:nvPr/>
        </p:nvSpPr>
        <p:spPr>
          <a:xfrm>
            <a:off x="10853928" y="1901952"/>
            <a:ext cx="1115568"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DevOps</a:t>
            </a:r>
            <a:endParaRPr lang="en-US" sz="1000" dirty="0"/>
          </a:p>
        </p:txBody>
      </p:sp>
      <p:sp>
        <p:nvSpPr>
          <p:cNvPr id="39" name="Shape 36"/>
          <p:cNvSpPr/>
          <p:nvPr/>
        </p:nvSpPr>
        <p:spPr>
          <a:xfrm>
            <a:off x="868680" y="2926080"/>
            <a:ext cx="2450592" cy="3063240"/>
          </a:xfrm>
          <a:prstGeom prst="roundRect">
            <a:avLst>
              <a:gd name="adj" fmla="val 4478"/>
            </a:avLst>
          </a:prstGeom>
          <a:solidFill>
            <a:srgbClr val="FFFFFF"/>
          </a:solidFill>
          <a:ln/>
          <a:effectLst>
            <a:outerShdw sx="100000" sy="100000" kx="0" ky="0" algn="bl" rotWithShape="0" blurRad="2.16374991948509e+62" dist="7.212499731616968e+61" dir="4.2316648611840007e+73">
              <a:srgbClr val="444444">
                <a:alpha val="1.8000000000000002e+74"/>
              </a:srgbClr>
            </a:outerShdw>
          </a:effectLst>
        </p:spPr>
      </p:sp>
      <p:sp>
        <p:nvSpPr>
          <p:cNvPr id="40" name="Text 37"/>
          <p:cNvSpPr txBox="1"/>
          <p:nvPr/>
        </p:nvSpPr>
        <p:spPr>
          <a:xfrm>
            <a:off x="1051560" y="3108960"/>
            <a:ext cx="2103120" cy="457200"/>
          </a:xfrm>
          <a:prstGeom prst="rect">
            <a:avLst/>
          </a:prstGeom>
          <a:noFill/>
          <a:ln/>
        </p:spPr>
        <p:txBody>
          <a:bodyPr wrap="square" lIns="0" tIns="0" rIns="0" bIns="0" rtlCol="0" anchor="ctr"/>
          <a:lstStyle/>
          <a:p>
            <a:pPr indent="0" marL="0">
              <a:buNone/>
            </a:pPr>
            <a:r>
              <a:rPr lang="en-US" sz="1250" b="1" dirty="0">
                <a:solidFill>
                  <a:srgbClr val="5B2D8E"/>
                </a:solidFill>
                <a:latin typeface="Calibri" pitchFamily="34" charset="0"/>
                <a:ea typeface="Calibri" pitchFamily="34" charset="-122"/>
                <a:cs typeface="Calibri" pitchFamily="34" charset="-120"/>
              </a:rPr>
              <a:t>Workflow design</a:t>
            </a:r>
            <a:endParaRPr lang="en-US" sz="1250" dirty="0"/>
          </a:p>
        </p:txBody>
      </p:sp>
      <p:sp>
        <p:nvSpPr>
          <p:cNvPr id="41" name="Text 38"/>
          <p:cNvSpPr txBox="1"/>
          <p:nvPr/>
        </p:nvSpPr>
        <p:spPr>
          <a:xfrm>
            <a:off x="1051560" y="3566160"/>
            <a:ext cx="2103120" cy="2286000"/>
          </a:xfrm>
          <a:prstGeom prst="rect">
            <a:avLst/>
          </a:prstGeom>
          <a:noFill/>
          <a:ln/>
        </p:spPr>
        <p:txBody>
          <a:bodyPr wrap="square" lIns="0" tIns="0" rIns="0" bIns="0" rtlCol="0" anchor="t"/>
          <a:lstStyle/>
          <a:p>
            <a:pPr indent="0" marL="0">
              <a:lnSpc>
                <a:spcPct val="125000"/>
              </a:lnSpc>
              <a:buNone/>
            </a:pPr>
            <a:r>
              <a:rPr lang="en-US" sz="1000" dirty="0">
                <a:solidFill>
                  <a:srgbClr val="2A2A2A"/>
                </a:solidFill>
                <a:latin typeface="Calibri" pitchFamily="34" charset="0"/>
                <a:ea typeface="Calibri" pitchFamily="34" charset="-122"/>
                <a:cs typeface="Calibri" pitchFamily="34" charset="-120"/>
              </a:rPr>
              <a:t>Fixed state machine drives the run from submission to Complete, writing agent_steps and activity_log at every transition.</a:t>
            </a:r>
            <a:endParaRPr lang="en-US" sz="1000" dirty="0"/>
          </a:p>
        </p:txBody>
      </p:sp>
      <p:sp>
        <p:nvSpPr>
          <p:cNvPr id="42" name="Shape 39"/>
          <p:cNvSpPr/>
          <p:nvPr/>
        </p:nvSpPr>
        <p:spPr>
          <a:xfrm>
            <a:off x="3502152" y="2926080"/>
            <a:ext cx="2450592" cy="3063240"/>
          </a:xfrm>
          <a:prstGeom prst="roundRect">
            <a:avLst>
              <a:gd name="adj" fmla="val 4478"/>
            </a:avLst>
          </a:prstGeom>
          <a:solidFill>
            <a:srgbClr val="FFFFFF"/>
          </a:solidFill>
          <a:ln/>
          <a:effectLst>
            <a:outerShdw sx="100000" sy="100000" kx="0" ky="0" algn="bl" rotWithShape="0" blurRad="2.747962397746064e+66" dist="9.15987465915355e+65" dir="2.5389989167104004e+78">
              <a:srgbClr val="444444">
                <a:alpha val="1.8000000000000003e+79"/>
              </a:srgbClr>
            </a:outerShdw>
          </a:effectLst>
        </p:spPr>
      </p:sp>
      <p:sp>
        <p:nvSpPr>
          <p:cNvPr id="43" name="Text 40"/>
          <p:cNvSpPr txBox="1"/>
          <p:nvPr/>
        </p:nvSpPr>
        <p:spPr>
          <a:xfrm>
            <a:off x="3685032" y="3108960"/>
            <a:ext cx="2103120" cy="457200"/>
          </a:xfrm>
          <a:prstGeom prst="rect">
            <a:avLst/>
          </a:prstGeom>
          <a:noFill/>
          <a:ln/>
        </p:spPr>
        <p:txBody>
          <a:bodyPr wrap="square" lIns="0" tIns="0" rIns="0" bIns="0" rtlCol="0" anchor="ctr"/>
          <a:lstStyle/>
          <a:p>
            <a:pPr indent="0" marL="0">
              <a:buNone/>
            </a:pPr>
            <a:r>
              <a:rPr lang="en-US" sz="1250" b="1" dirty="0">
                <a:solidFill>
                  <a:srgbClr val="5B2D8E"/>
                </a:solidFill>
                <a:latin typeface="Calibri" pitchFamily="34" charset="0"/>
                <a:ea typeface="Calibri" pitchFamily="34" charset="-122"/>
                <a:cs typeface="Calibri" pitchFamily="34" charset="-120"/>
              </a:rPr>
              <a:t>Task decomposition</a:t>
            </a:r>
            <a:endParaRPr lang="en-US" sz="1250" dirty="0"/>
          </a:p>
        </p:txBody>
      </p:sp>
      <p:sp>
        <p:nvSpPr>
          <p:cNvPr id="44" name="Text 41"/>
          <p:cNvSpPr txBox="1"/>
          <p:nvPr/>
        </p:nvSpPr>
        <p:spPr>
          <a:xfrm>
            <a:off x="3685032" y="3566160"/>
            <a:ext cx="2103120" cy="2286000"/>
          </a:xfrm>
          <a:prstGeom prst="rect">
            <a:avLst/>
          </a:prstGeom>
          <a:noFill/>
          <a:ln/>
        </p:spPr>
        <p:txBody>
          <a:bodyPr wrap="square" lIns="0" tIns="0" rIns="0" bIns="0" rtlCol="0" anchor="t"/>
          <a:lstStyle/>
          <a:p>
            <a:pPr indent="0" marL="0">
              <a:lnSpc>
                <a:spcPct val="125000"/>
              </a:lnSpc>
              <a:buNone/>
            </a:pPr>
            <a:r>
              <a:rPr lang="en-US" sz="1000" dirty="0">
                <a:solidFill>
                  <a:srgbClr val="2A2A2A"/>
                </a:solidFill>
                <a:latin typeface="Calibri" pitchFamily="34" charset="0"/>
                <a:ea typeface="Calibri" pitchFamily="34" charset="-122"/>
                <a:cs typeface="Calibri" pitchFamily="34" charset="-120"/>
              </a:rPr>
              <a:t>Split along SDLC phase boundaries — one agent finishes its whole phase before handing off, not a slice of every phase.</a:t>
            </a:r>
            <a:endParaRPr lang="en-US" sz="1000" dirty="0"/>
          </a:p>
        </p:txBody>
      </p:sp>
      <p:sp>
        <p:nvSpPr>
          <p:cNvPr id="45" name="Shape 42"/>
          <p:cNvSpPr/>
          <p:nvPr/>
        </p:nvSpPr>
        <p:spPr>
          <a:xfrm>
            <a:off x="6135624" y="2926080"/>
            <a:ext cx="2450592" cy="3063240"/>
          </a:xfrm>
          <a:prstGeom prst="roundRect">
            <a:avLst>
              <a:gd name="adj" fmla="val 4478"/>
            </a:avLst>
          </a:prstGeom>
          <a:solidFill>
            <a:srgbClr val="FFFFFF"/>
          </a:solidFill>
          <a:ln/>
          <a:effectLst>
            <a:outerShdw sx="100000" sy="100000" kx="0" ky="0" algn="bl" rotWithShape="0" blurRad="3.4899122451375014e+70" dist="1.1633040817125008e+70" dir="1.5233993500262402e+83">
              <a:srgbClr val="444444">
                <a:alpha val="1.8000000000000004e+84"/>
              </a:srgbClr>
            </a:outerShdw>
          </a:effectLst>
        </p:spPr>
      </p:sp>
      <p:sp>
        <p:nvSpPr>
          <p:cNvPr id="46" name="Text 43"/>
          <p:cNvSpPr txBox="1"/>
          <p:nvPr/>
        </p:nvSpPr>
        <p:spPr>
          <a:xfrm>
            <a:off x="6318504" y="3108960"/>
            <a:ext cx="2103120" cy="457200"/>
          </a:xfrm>
          <a:prstGeom prst="rect">
            <a:avLst/>
          </a:prstGeom>
          <a:noFill/>
          <a:ln/>
        </p:spPr>
        <p:txBody>
          <a:bodyPr wrap="square" lIns="0" tIns="0" rIns="0" bIns="0" rtlCol="0" anchor="ctr"/>
          <a:lstStyle/>
          <a:p>
            <a:pPr indent="0" marL="0">
              <a:buNone/>
            </a:pPr>
            <a:r>
              <a:rPr lang="en-US" sz="1250" b="1" dirty="0">
                <a:solidFill>
                  <a:srgbClr val="5B2D8E"/>
                </a:solidFill>
                <a:latin typeface="Calibri" pitchFamily="34" charset="0"/>
                <a:ea typeface="Calibri" pitchFamily="34" charset="-122"/>
                <a:cs typeface="Calibri" pitchFamily="34" charset="-120"/>
              </a:rPr>
              <a:t>Coordination</a:t>
            </a:r>
            <a:endParaRPr lang="en-US" sz="1250" dirty="0"/>
          </a:p>
        </p:txBody>
      </p:sp>
      <p:sp>
        <p:nvSpPr>
          <p:cNvPr id="47" name="Text 44"/>
          <p:cNvSpPr txBox="1"/>
          <p:nvPr/>
        </p:nvSpPr>
        <p:spPr>
          <a:xfrm>
            <a:off x="6318504" y="3566160"/>
            <a:ext cx="2103120" cy="2286000"/>
          </a:xfrm>
          <a:prstGeom prst="rect">
            <a:avLst/>
          </a:prstGeom>
          <a:noFill/>
          <a:ln/>
        </p:spPr>
        <p:txBody>
          <a:bodyPr wrap="square" lIns="0" tIns="0" rIns="0" bIns="0" rtlCol="0" anchor="t"/>
          <a:lstStyle/>
          <a:p>
            <a:pPr indent="0" marL="0">
              <a:lnSpc>
                <a:spcPct val="125000"/>
              </a:lnSpc>
              <a:buNone/>
            </a:pPr>
            <a:r>
              <a:rPr lang="en-US" sz="1000" dirty="0">
                <a:solidFill>
                  <a:srgbClr val="2A2A2A"/>
                </a:solidFill>
                <a:latin typeface="Calibri" pitchFamily="34" charset="0"/>
                <a:ea typeface="Calibri" pitchFamily="34" charset="-122"/>
                <a:cs typeface="Calibri" pitchFamily="34" charset="-120"/>
              </a:rPr>
              <a:t>Centralised in the orchestrator: assembles context, enforces a step budget, retries once automatically.</a:t>
            </a:r>
            <a:endParaRPr lang="en-US" sz="1000" dirty="0"/>
          </a:p>
        </p:txBody>
      </p:sp>
      <p:sp>
        <p:nvSpPr>
          <p:cNvPr id="48" name="Shape 45"/>
          <p:cNvSpPr/>
          <p:nvPr/>
        </p:nvSpPr>
        <p:spPr>
          <a:xfrm>
            <a:off x="8769096" y="2926080"/>
            <a:ext cx="2450592" cy="3063240"/>
          </a:xfrm>
          <a:prstGeom prst="roundRect">
            <a:avLst>
              <a:gd name="adj" fmla="val 4478"/>
            </a:avLst>
          </a:prstGeom>
          <a:solidFill>
            <a:srgbClr val="FFFFFF"/>
          </a:solidFill>
          <a:ln/>
          <a:effectLst>
            <a:outerShdw sx="100000" sy="100000" kx="0" ky="0" algn="bl" rotWithShape="0" blurRad="4.432188551324627e+74" dist="1.477396183774876e+74" dir="9.14039610015744e+87">
              <a:srgbClr val="444444">
                <a:alpha val="1.8000000000000005e+89"/>
              </a:srgbClr>
            </a:outerShdw>
          </a:effectLst>
        </p:spPr>
      </p:sp>
      <p:sp>
        <p:nvSpPr>
          <p:cNvPr id="49" name="Text 46"/>
          <p:cNvSpPr txBox="1"/>
          <p:nvPr/>
        </p:nvSpPr>
        <p:spPr>
          <a:xfrm>
            <a:off x="8951976" y="3108960"/>
            <a:ext cx="2103120" cy="457200"/>
          </a:xfrm>
          <a:prstGeom prst="rect">
            <a:avLst/>
          </a:prstGeom>
          <a:noFill/>
          <a:ln/>
        </p:spPr>
        <p:txBody>
          <a:bodyPr wrap="square" lIns="0" tIns="0" rIns="0" bIns="0" rtlCol="0" anchor="ctr"/>
          <a:lstStyle/>
          <a:p>
            <a:pPr indent="0" marL="0">
              <a:buNone/>
            </a:pPr>
            <a:r>
              <a:rPr lang="en-US" sz="1250" b="1" dirty="0">
                <a:solidFill>
                  <a:srgbClr val="5B2D8E"/>
                </a:solidFill>
                <a:latin typeface="Calibri" pitchFamily="34" charset="0"/>
                <a:ea typeface="Calibri" pitchFamily="34" charset="-122"/>
                <a:cs typeface="Calibri" pitchFamily="34" charset="-120"/>
              </a:rPr>
              <a:t>Escalation</a:t>
            </a:r>
            <a:endParaRPr lang="en-US" sz="1250" dirty="0"/>
          </a:p>
        </p:txBody>
      </p:sp>
      <p:sp>
        <p:nvSpPr>
          <p:cNvPr id="50" name="Text 47"/>
          <p:cNvSpPr txBox="1"/>
          <p:nvPr/>
        </p:nvSpPr>
        <p:spPr>
          <a:xfrm>
            <a:off x="8951976" y="3566160"/>
            <a:ext cx="2103120" cy="2286000"/>
          </a:xfrm>
          <a:prstGeom prst="rect">
            <a:avLst/>
          </a:prstGeom>
          <a:noFill/>
          <a:ln/>
        </p:spPr>
        <p:txBody>
          <a:bodyPr wrap="square" lIns="0" tIns="0" rIns="0" bIns="0" rtlCol="0" anchor="t"/>
          <a:lstStyle/>
          <a:p>
            <a:pPr indent="0" marL="0">
              <a:lnSpc>
                <a:spcPct val="125000"/>
              </a:lnSpc>
              <a:buNone/>
            </a:pPr>
            <a:r>
              <a:rPr lang="en-US" sz="1000" dirty="0">
                <a:solidFill>
                  <a:srgbClr val="2A2A2A"/>
                </a:solidFill>
                <a:latin typeface="Calibri" pitchFamily="34" charset="0"/>
                <a:ea typeface="Calibri" pitchFamily="34" charset="-122"/>
                <a:cs typeface="Calibri" pitchFamily="34" charset="-120"/>
              </a:rPr>
              <a:t>A second consecutive failure on the same step halts the run and escalates to a human rather than retrying again.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320040"/>
            <a:ext cx="914400" cy="914400"/>
          </a:xfrm>
          <a:prstGeom prst="ellipse">
            <a:avLst/>
          </a:prstGeom>
          <a:solidFill>
            <a:srgbClr val="F5C518"/>
          </a:solidFill>
          <a:ln/>
        </p:spPr>
      </p:sp>
      <p:sp>
        <p:nvSpPr>
          <p:cNvPr id="3" name="Text 1"/>
          <p:cNvSpPr txBox="1"/>
          <p:nvPr/>
        </p:nvSpPr>
        <p:spPr>
          <a:xfrm>
            <a:off x="411480" y="320040"/>
            <a:ext cx="914400" cy="914400"/>
          </a:xfrm>
          <a:prstGeom prst="rect">
            <a:avLst/>
          </a:prstGeom>
          <a:noFill/>
          <a:ln/>
        </p:spPr>
        <p:txBody>
          <a:bodyPr wrap="square" lIns="0" tIns="0" rIns="0" bIns="0" rtlCol="0" anchor="ctr"/>
          <a:lstStyle/>
          <a:p>
            <a:pPr algn="ctr" indent="0" marL="0">
              <a:buNone/>
            </a:pPr>
            <a:r>
              <a:rPr lang="en-US" sz="3000" b="1" dirty="0">
                <a:solidFill>
                  <a:srgbClr val="1A1A1A"/>
                </a:solidFill>
                <a:latin typeface="Calibri" pitchFamily="34" charset="0"/>
                <a:ea typeface="Calibri" pitchFamily="34" charset="-122"/>
                <a:cs typeface="Calibri" pitchFamily="34" charset="-120"/>
              </a:rPr>
              <a:t>9</a:t>
            </a:r>
            <a:endParaRPr lang="en-US" sz="3000" dirty="0"/>
          </a:p>
        </p:txBody>
      </p:sp>
      <p:sp>
        <p:nvSpPr>
          <p:cNvPr id="4" name="Text 2"/>
          <p:cNvSpPr txBox="1"/>
          <p:nvPr/>
        </p:nvSpPr>
        <p:spPr>
          <a:xfrm>
            <a:off x="1508760" y="301752"/>
            <a:ext cx="8503920" cy="685800"/>
          </a:xfrm>
          <a:prstGeom prst="rect">
            <a:avLst/>
          </a:prstGeom>
          <a:noFill/>
          <a:ln/>
        </p:spPr>
        <p:txBody>
          <a:bodyPr wrap="square" lIns="0" tIns="0" rIns="0" bIns="0" rtlCol="0" anchor="ctr"/>
          <a:lstStyle/>
          <a:p>
            <a:pPr indent="0" marL="0">
              <a:buNone/>
            </a:pPr>
            <a:r>
              <a:rPr lang="en-US" sz="2800" b="1" dirty="0">
                <a:solidFill>
                  <a:srgbClr val="5B2D8E"/>
                </a:solidFill>
                <a:latin typeface="Cambria" pitchFamily="34" charset="0"/>
                <a:ea typeface="Cambria" pitchFamily="34" charset="-122"/>
                <a:cs typeface="Cambria" pitchFamily="34" charset="-120"/>
              </a:rPr>
              <a:t>AGENTIC RAG IMPLEMENTATION</a:t>
            </a:r>
            <a:endParaRPr lang="en-US" sz="2800" dirty="0"/>
          </a:p>
        </p:txBody>
      </p:sp>
      <p:sp>
        <p:nvSpPr>
          <p:cNvPr id="5" name="Shape 3"/>
          <p:cNvSpPr/>
          <p:nvPr/>
        </p:nvSpPr>
        <p:spPr>
          <a:xfrm>
            <a:off x="1536192" y="987552"/>
            <a:ext cx="1920240" cy="0"/>
          </a:xfrm>
          <a:prstGeom prst="line">
            <a:avLst/>
          </a:prstGeom>
          <a:noFill/>
          <a:ln w="38100">
            <a:solidFill>
              <a:srgbClr val="F5C518"/>
            </a:solidFill>
            <a:prstDash val="solid"/>
          </a:ln>
        </p:spPr>
      </p:sp>
      <p:pic>
        <p:nvPicPr>
          <p:cNvPr id="6" name="Image 0" descr="/home/claude/ppt_nexus_style/assets/logopage-000.png">    </p:cNvPr>
          <p:cNvPicPr>
            <a:picLocks noChangeAspect="1"/>
          </p:cNvPicPr>
          <p:nvPr/>
        </p:nvPicPr>
        <p:blipFill>
          <a:blip r:embed="rId1"/>
          <a:stretch>
            <a:fillRect/>
          </a:stretch>
        </p:blipFill>
        <p:spPr>
          <a:xfrm>
            <a:off x="10149840" y="256032"/>
            <a:ext cx="1600200" cy="768096"/>
          </a:xfrm>
          <a:prstGeom prst="rect">
            <a:avLst/>
          </a:prstGeom>
        </p:spPr>
      </p:pic>
      <p:sp>
        <p:nvSpPr>
          <p:cNvPr id="7" name="Text 4"/>
          <p:cNvSpPr txBox="1"/>
          <p:nvPr/>
        </p:nvSpPr>
        <p:spPr>
          <a:xfrm>
            <a:off x="457200" y="6492240"/>
            <a:ext cx="2743200" cy="2743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Final review</a:t>
            </a:r>
            <a:endParaRPr lang="en-US" sz="1100" dirty="0"/>
          </a:p>
        </p:txBody>
      </p:sp>
      <p:sp>
        <p:nvSpPr>
          <p:cNvPr id="8" name="Text 5"/>
          <p:cNvSpPr txBox="1"/>
          <p:nvPr/>
        </p:nvSpPr>
        <p:spPr>
          <a:xfrm>
            <a:off x="6400800" y="6492240"/>
            <a:ext cx="5349240" cy="274320"/>
          </a:xfrm>
          <a:prstGeom prst="rect">
            <a:avLst/>
          </a:prstGeom>
          <a:noFill/>
          <a:ln/>
        </p:spPr>
        <p:txBody>
          <a:bodyPr wrap="square" lIns="0" tIns="0" rIns="0" bIns="0" rtlCol="0" anchor="ctr"/>
          <a:lstStyle/>
          <a:p>
            <a:pPr algn="r" indent="0" marL="0">
              <a:buNone/>
            </a:pPr>
            <a:r>
              <a:rPr lang="en-US" sz="1100" dirty="0">
                <a:solidFill>
                  <a:srgbClr val="1A1A1A"/>
                </a:solidFill>
                <a:latin typeface="Calibri" pitchFamily="34" charset="0"/>
                <a:ea typeface="Calibri" pitchFamily="34" charset="-122"/>
                <a:cs typeface="Calibri" pitchFamily="34" charset="-120"/>
              </a:rPr>
              <a:t>Department of Artificial Intelligence and Machine Learning</a:t>
            </a:r>
            <a:endParaRPr lang="en-US" sz="1100" dirty="0"/>
          </a:p>
        </p:txBody>
      </p:sp>
      <p:sp>
        <p:nvSpPr>
          <p:cNvPr id="9" name="Shape 6"/>
          <p:cNvSpPr/>
          <p:nvPr/>
        </p:nvSpPr>
        <p:spPr>
          <a:xfrm>
            <a:off x="548640" y="1600200"/>
            <a:ext cx="11064240" cy="4526280"/>
          </a:xfrm>
          <a:prstGeom prst="roundRect">
            <a:avLst>
              <a:gd name="adj" fmla="val 2020"/>
            </a:avLst>
          </a:prstGeom>
          <a:solidFill>
            <a:srgbClr val="F4F1F8"/>
          </a:solidFill>
          <a:ln w="12700">
            <a:solidFill>
              <a:srgbClr val="E3DCEF"/>
            </a:solidFill>
            <a:prstDash val="solid"/>
          </a:ln>
        </p:spPr>
      </p:sp>
      <p:sp>
        <p:nvSpPr>
          <p:cNvPr id="10" name="Shape 7"/>
          <p:cNvSpPr/>
          <p:nvPr/>
        </p:nvSpPr>
        <p:spPr>
          <a:xfrm>
            <a:off x="1005840" y="1920240"/>
            <a:ext cx="457200" cy="457200"/>
          </a:xfrm>
          <a:prstGeom prst="ellipse">
            <a:avLst/>
          </a:prstGeom>
          <a:solidFill>
            <a:srgbClr val="F5C518"/>
          </a:solidFill>
          <a:ln/>
        </p:spPr>
      </p:sp>
      <p:sp>
        <p:nvSpPr>
          <p:cNvPr id="11" name="Text 8"/>
          <p:cNvSpPr txBox="1"/>
          <p:nvPr/>
        </p:nvSpPr>
        <p:spPr>
          <a:xfrm>
            <a:off x="1005840" y="1920240"/>
            <a:ext cx="45720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1</a:t>
            </a:r>
            <a:endParaRPr lang="en-US" sz="1500" dirty="0"/>
          </a:p>
        </p:txBody>
      </p:sp>
      <p:sp>
        <p:nvSpPr>
          <p:cNvPr id="12" name="Text 9"/>
          <p:cNvSpPr txBox="1"/>
          <p:nvPr/>
        </p:nvSpPr>
        <p:spPr>
          <a:xfrm>
            <a:off x="1005840" y="2487168"/>
            <a:ext cx="2423160" cy="411480"/>
          </a:xfrm>
          <a:prstGeom prst="rect">
            <a:avLst/>
          </a:prstGeom>
          <a:noFill/>
          <a:ln/>
        </p:spPr>
        <p:txBody>
          <a:bodyPr wrap="square" lIns="0" tIns="0" rIns="0" bIns="0" rtlCol="0" anchor="ctr"/>
          <a:lstStyle/>
          <a:p>
            <a:pPr indent="0" marL="0">
              <a:buNone/>
            </a:pPr>
            <a:r>
              <a:rPr lang="en-US" sz="1250" b="1" dirty="0">
                <a:solidFill>
                  <a:srgbClr val="5B2D8E"/>
                </a:solidFill>
                <a:latin typeface="Calibri" pitchFamily="34" charset="0"/>
                <a:ea typeface="Calibri" pitchFamily="34" charset="-122"/>
                <a:cs typeface="Calibri" pitchFamily="34" charset="-120"/>
              </a:rPr>
              <a:t>Retrieval architecture</a:t>
            </a:r>
            <a:endParaRPr lang="en-US" sz="1250" dirty="0"/>
          </a:p>
        </p:txBody>
      </p:sp>
      <p:sp>
        <p:nvSpPr>
          <p:cNvPr id="13" name="Text 10"/>
          <p:cNvSpPr txBox="1"/>
          <p:nvPr/>
        </p:nvSpPr>
        <p:spPr>
          <a:xfrm>
            <a:off x="1005840" y="2880360"/>
            <a:ext cx="2423160" cy="1463040"/>
          </a:xfrm>
          <a:prstGeom prst="rect">
            <a:avLst/>
          </a:prstGeom>
          <a:noFill/>
          <a:ln/>
        </p:spPr>
        <p:txBody>
          <a:bodyPr wrap="square" lIns="0" tIns="0" rIns="0" bIns="0" rtlCol="0" anchor="t"/>
          <a:lstStyle/>
          <a:p>
            <a:pPr indent="0" marL="0">
              <a:lnSpc>
                <a:spcPct val="120000"/>
              </a:lnSpc>
              <a:buNone/>
            </a:pPr>
            <a:r>
              <a:rPr lang="en-US" sz="1050" dirty="0">
                <a:solidFill>
                  <a:srgbClr val="2A2A2A"/>
                </a:solidFill>
                <a:latin typeface="Calibri" pitchFamily="34" charset="0"/>
                <a:ea typeface="Calibri" pitchFamily="34" charset="-122"/>
                <a:cs typeface="Calibri" pitchFamily="34" charset="-120"/>
              </a:rPr>
              <a:t>Retrieves from the project's own structured history (memory_items, prior agent_steps), not an open unstructured corpus — precision over recall.</a:t>
            </a:r>
            <a:endParaRPr lang="en-US" sz="1050" dirty="0"/>
          </a:p>
        </p:txBody>
      </p:sp>
      <p:sp>
        <p:nvSpPr>
          <p:cNvPr id="14" name="Shape 11"/>
          <p:cNvSpPr/>
          <p:nvPr/>
        </p:nvSpPr>
        <p:spPr>
          <a:xfrm>
            <a:off x="3703320" y="1920240"/>
            <a:ext cx="457200" cy="457200"/>
          </a:xfrm>
          <a:prstGeom prst="ellipse">
            <a:avLst/>
          </a:prstGeom>
          <a:solidFill>
            <a:srgbClr val="F5C518"/>
          </a:solidFill>
          <a:ln/>
        </p:spPr>
      </p:sp>
      <p:sp>
        <p:nvSpPr>
          <p:cNvPr id="15" name="Text 12"/>
          <p:cNvSpPr txBox="1"/>
          <p:nvPr/>
        </p:nvSpPr>
        <p:spPr>
          <a:xfrm>
            <a:off x="3703320" y="1920240"/>
            <a:ext cx="45720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2</a:t>
            </a:r>
            <a:endParaRPr lang="en-US" sz="1500" dirty="0"/>
          </a:p>
        </p:txBody>
      </p:sp>
      <p:sp>
        <p:nvSpPr>
          <p:cNvPr id="16" name="Text 13"/>
          <p:cNvSpPr txBox="1"/>
          <p:nvPr/>
        </p:nvSpPr>
        <p:spPr>
          <a:xfrm>
            <a:off x="3703320" y="2487168"/>
            <a:ext cx="2423160" cy="411480"/>
          </a:xfrm>
          <a:prstGeom prst="rect">
            <a:avLst/>
          </a:prstGeom>
          <a:noFill/>
          <a:ln/>
        </p:spPr>
        <p:txBody>
          <a:bodyPr wrap="square" lIns="0" tIns="0" rIns="0" bIns="0" rtlCol="0" anchor="ctr"/>
          <a:lstStyle/>
          <a:p>
            <a:pPr indent="0" marL="0">
              <a:buNone/>
            </a:pPr>
            <a:r>
              <a:rPr lang="en-US" sz="1250" b="1" dirty="0">
                <a:solidFill>
                  <a:srgbClr val="5B2D8E"/>
                </a:solidFill>
                <a:latin typeface="Calibri" pitchFamily="34" charset="0"/>
                <a:ea typeface="Calibri" pitchFamily="34" charset="-122"/>
                <a:cs typeface="Calibri" pitchFamily="34" charset="-120"/>
              </a:rPr>
              <a:t>Knowledge retrieval</a:t>
            </a:r>
            <a:endParaRPr lang="en-US" sz="1250" dirty="0"/>
          </a:p>
        </p:txBody>
      </p:sp>
      <p:sp>
        <p:nvSpPr>
          <p:cNvPr id="17" name="Text 14"/>
          <p:cNvSpPr txBox="1"/>
          <p:nvPr/>
        </p:nvSpPr>
        <p:spPr>
          <a:xfrm>
            <a:off x="3703320" y="2880360"/>
            <a:ext cx="2423160" cy="1463040"/>
          </a:xfrm>
          <a:prstGeom prst="rect">
            <a:avLst/>
          </a:prstGeom>
          <a:noFill/>
          <a:ln/>
        </p:spPr>
        <p:txBody>
          <a:bodyPr wrap="square" lIns="0" tIns="0" rIns="0" bIns="0" rtlCol="0" anchor="t"/>
          <a:lstStyle/>
          <a:p>
            <a:pPr indent="0" marL="0">
              <a:lnSpc>
                <a:spcPct val="120000"/>
              </a:lnSpc>
              <a:buNone/>
            </a:pPr>
            <a:r>
              <a:rPr lang="en-US" sz="1050" dirty="0">
                <a:solidFill>
                  <a:srgbClr val="2A2A2A"/>
                </a:solidFill>
                <a:latin typeface="Calibri" pitchFamily="34" charset="0"/>
                <a:ea typeface="Calibri" pitchFamily="34" charset="-122"/>
                <a:cs typeface="Calibri" pitchFamily="34" charset="-120"/>
              </a:rPr>
              <a:t>Filters memory_items by project id and topical match, then concatenates with the full in-run history before each agent call.</a:t>
            </a:r>
            <a:endParaRPr lang="en-US" sz="1050" dirty="0"/>
          </a:p>
        </p:txBody>
      </p:sp>
      <p:sp>
        <p:nvSpPr>
          <p:cNvPr id="18" name="Shape 15"/>
          <p:cNvSpPr/>
          <p:nvPr/>
        </p:nvSpPr>
        <p:spPr>
          <a:xfrm>
            <a:off x="6400800" y="1920240"/>
            <a:ext cx="457200" cy="457200"/>
          </a:xfrm>
          <a:prstGeom prst="ellipse">
            <a:avLst/>
          </a:prstGeom>
          <a:solidFill>
            <a:srgbClr val="F5C518"/>
          </a:solidFill>
          <a:ln/>
        </p:spPr>
      </p:sp>
      <p:sp>
        <p:nvSpPr>
          <p:cNvPr id="19" name="Text 16"/>
          <p:cNvSpPr txBox="1"/>
          <p:nvPr/>
        </p:nvSpPr>
        <p:spPr>
          <a:xfrm>
            <a:off x="6400800" y="1920240"/>
            <a:ext cx="45720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3</a:t>
            </a:r>
            <a:endParaRPr lang="en-US" sz="1500" dirty="0"/>
          </a:p>
        </p:txBody>
      </p:sp>
      <p:sp>
        <p:nvSpPr>
          <p:cNvPr id="20" name="Text 17"/>
          <p:cNvSpPr txBox="1"/>
          <p:nvPr/>
        </p:nvSpPr>
        <p:spPr>
          <a:xfrm>
            <a:off x="6400800" y="2487168"/>
            <a:ext cx="2423160" cy="411480"/>
          </a:xfrm>
          <a:prstGeom prst="rect">
            <a:avLst/>
          </a:prstGeom>
          <a:noFill/>
          <a:ln/>
        </p:spPr>
        <p:txBody>
          <a:bodyPr wrap="square" lIns="0" tIns="0" rIns="0" bIns="0" rtlCol="0" anchor="ctr"/>
          <a:lstStyle/>
          <a:p>
            <a:pPr indent="0" marL="0">
              <a:buNone/>
            </a:pPr>
            <a:r>
              <a:rPr lang="en-US" sz="1250" b="1" dirty="0">
                <a:solidFill>
                  <a:srgbClr val="5B2D8E"/>
                </a:solidFill>
                <a:latin typeface="Calibri" pitchFamily="34" charset="0"/>
                <a:ea typeface="Calibri" pitchFamily="34" charset="-122"/>
                <a:cs typeface="Calibri" pitchFamily="34" charset="-120"/>
              </a:rPr>
              <a:t>Generation process</a:t>
            </a:r>
            <a:endParaRPr lang="en-US" sz="1250" dirty="0"/>
          </a:p>
        </p:txBody>
      </p:sp>
      <p:sp>
        <p:nvSpPr>
          <p:cNvPr id="21" name="Text 18"/>
          <p:cNvSpPr txBox="1"/>
          <p:nvPr/>
        </p:nvSpPr>
        <p:spPr>
          <a:xfrm>
            <a:off x="6400800" y="2880360"/>
            <a:ext cx="2423160" cy="1463040"/>
          </a:xfrm>
          <a:prstGeom prst="rect">
            <a:avLst/>
          </a:prstGeom>
          <a:noFill/>
          <a:ln/>
        </p:spPr>
        <p:txBody>
          <a:bodyPr wrap="square" lIns="0" tIns="0" rIns="0" bIns="0" rtlCol="0" anchor="t"/>
          <a:lstStyle/>
          <a:p>
            <a:pPr indent="0" marL="0">
              <a:lnSpc>
                <a:spcPct val="120000"/>
              </a:lnSpc>
              <a:buNone/>
            </a:pPr>
            <a:r>
              <a:rPr lang="en-US" sz="1050" dirty="0">
                <a:solidFill>
                  <a:srgbClr val="2A2A2A"/>
                </a:solidFill>
                <a:latin typeface="Calibri" pitchFamily="34" charset="0"/>
                <a:ea typeface="Calibri" pitchFamily="34" charset="-122"/>
                <a:cs typeface="Calibri" pitchFamily="34" charset="-120"/>
              </a:rPr>
              <a:t>Retrieved context + role-specific prompt + output schema go to the Lovable AI Gateway in one call, constrained to structured JSON.</a:t>
            </a:r>
            <a:endParaRPr lang="en-US" sz="1050" dirty="0"/>
          </a:p>
        </p:txBody>
      </p:sp>
      <p:sp>
        <p:nvSpPr>
          <p:cNvPr id="22" name="Shape 19"/>
          <p:cNvSpPr/>
          <p:nvPr/>
        </p:nvSpPr>
        <p:spPr>
          <a:xfrm>
            <a:off x="9098280" y="1920240"/>
            <a:ext cx="457200" cy="457200"/>
          </a:xfrm>
          <a:prstGeom prst="ellipse">
            <a:avLst/>
          </a:prstGeom>
          <a:solidFill>
            <a:srgbClr val="F5C518"/>
          </a:solidFill>
          <a:ln/>
        </p:spPr>
      </p:sp>
      <p:sp>
        <p:nvSpPr>
          <p:cNvPr id="23" name="Text 20"/>
          <p:cNvSpPr txBox="1"/>
          <p:nvPr/>
        </p:nvSpPr>
        <p:spPr>
          <a:xfrm>
            <a:off x="9098280" y="1920240"/>
            <a:ext cx="45720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4</a:t>
            </a:r>
            <a:endParaRPr lang="en-US" sz="1500" dirty="0"/>
          </a:p>
        </p:txBody>
      </p:sp>
      <p:sp>
        <p:nvSpPr>
          <p:cNvPr id="24" name="Text 21"/>
          <p:cNvSpPr txBox="1"/>
          <p:nvPr/>
        </p:nvSpPr>
        <p:spPr>
          <a:xfrm>
            <a:off x="9098280" y="2487168"/>
            <a:ext cx="2423160" cy="411480"/>
          </a:xfrm>
          <a:prstGeom prst="rect">
            <a:avLst/>
          </a:prstGeom>
          <a:noFill/>
          <a:ln/>
        </p:spPr>
        <p:txBody>
          <a:bodyPr wrap="square" lIns="0" tIns="0" rIns="0" bIns="0" rtlCol="0" anchor="ctr"/>
          <a:lstStyle/>
          <a:p>
            <a:pPr indent="0" marL="0">
              <a:buNone/>
            </a:pPr>
            <a:r>
              <a:rPr lang="en-US" sz="1250" b="1" dirty="0">
                <a:solidFill>
                  <a:srgbClr val="5B2D8E"/>
                </a:solidFill>
                <a:latin typeface="Calibri" pitchFamily="34" charset="0"/>
                <a:ea typeface="Calibri" pitchFamily="34" charset="-122"/>
                <a:cs typeface="Calibri" pitchFamily="34" charset="-120"/>
              </a:rPr>
              <a:t>Quality evaluation</a:t>
            </a:r>
            <a:endParaRPr lang="en-US" sz="1250" dirty="0"/>
          </a:p>
        </p:txBody>
      </p:sp>
      <p:sp>
        <p:nvSpPr>
          <p:cNvPr id="25" name="Text 22"/>
          <p:cNvSpPr txBox="1"/>
          <p:nvPr/>
        </p:nvSpPr>
        <p:spPr>
          <a:xfrm>
            <a:off x="9098280" y="2880360"/>
            <a:ext cx="2423160" cy="1463040"/>
          </a:xfrm>
          <a:prstGeom prst="rect">
            <a:avLst/>
          </a:prstGeom>
          <a:noFill/>
          <a:ln/>
        </p:spPr>
        <p:txBody>
          <a:bodyPr wrap="square" lIns="0" tIns="0" rIns="0" bIns="0" rtlCol="0" anchor="t"/>
          <a:lstStyle/>
          <a:p>
            <a:pPr indent="0" marL="0">
              <a:lnSpc>
                <a:spcPct val="120000"/>
              </a:lnSpc>
              <a:buNone/>
            </a:pPr>
            <a:r>
              <a:rPr lang="en-US" sz="1050" dirty="0">
                <a:solidFill>
                  <a:srgbClr val="2A2A2A"/>
                </a:solidFill>
                <a:latin typeface="Calibri" pitchFamily="34" charset="0"/>
                <a:ea typeface="Calibri" pitchFamily="34" charset="-122"/>
                <a:cs typeface="Calibri" pitchFamily="34" charset="-120"/>
              </a:rPr>
              <a:t>Checked qualitatively across multi-run test projects for consistency with earlier decisions and for irrelevant-item leakage.</a:t>
            </a:r>
            <a:endParaRPr lang="en-US" sz="1050" dirty="0"/>
          </a:p>
        </p:txBody>
      </p:sp>
      <p:sp>
        <p:nvSpPr>
          <p:cNvPr id="26" name="Shape 23"/>
          <p:cNvSpPr/>
          <p:nvPr/>
        </p:nvSpPr>
        <p:spPr>
          <a:xfrm>
            <a:off x="868680" y="3977640"/>
            <a:ext cx="10424160" cy="1965960"/>
          </a:xfrm>
          <a:prstGeom prst="roundRect">
            <a:avLst>
              <a:gd name="adj" fmla="val 5581"/>
            </a:avLst>
          </a:prstGeom>
          <a:solidFill>
            <a:srgbClr val="3D1F63"/>
          </a:solidFill>
          <a:ln/>
          <a:effectLst>
            <a:outerShdw sx="100000" sy="100000" kx="0" ky="0" algn="bl" rotWithShape="0" blurRad="5.628879460182276e+78" dist="1.8762931533940924e+78" dir="5.484237660094465e+92">
              <a:srgbClr val="444444">
                <a:alpha val="1.8000000000000007e+94"/>
              </a:srgbClr>
            </a:outerShdw>
          </a:effectLst>
        </p:spPr>
      </p:sp>
      <p:sp>
        <p:nvSpPr>
          <p:cNvPr id="27" name="Text 24"/>
          <p:cNvSpPr txBox="1"/>
          <p:nvPr/>
        </p:nvSpPr>
        <p:spPr>
          <a:xfrm>
            <a:off x="1097280" y="4114800"/>
            <a:ext cx="9966960" cy="365760"/>
          </a:xfrm>
          <a:prstGeom prst="rect">
            <a:avLst/>
          </a:prstGeom>
          <a:noFill/>
          <a:ln/>
        </p:spPr>
        <p:txBody>
          <a:bodyPr wrap="square" lIns="0" tIns="0" rIns="0" bIns="0" rtlCol="0" anchor="ctr"/>
          <a:lstStyle/>
          <a:p>
            <a:pPr indent="0" marL="0">
              <a:buNone/>
            </a:pPr>
            <a:r>
              <a:rPr lang="en-US" sz="1400" b="1" dirty="0">
                <a:solidFill>
                  <a:srgbClr val="F5C518"/>
                </a:solidFill>
                <a:latin typeface="Calibri" pitchFamily="34" charset="0"/>
                <a:ea typeface="Calibri" pitchFamily="34" charset="-122"/>
                <a:cs typeface="Calibri" pitchFamily="34" charset="-120"/>
              </a:rPr>
              <a:t>Why Structured Retrieval, Not Embeddings-First</a:t>
            </a:r>
            <a:endParaRPr lang="en-US" sz="1400" dirty="0"/>
          </a:p>
        </p:txBody>
      </p:sp>
      <p:sp>
        <p:nvSpPr>
          <p:cNvPr id="28" name="Text 25"/>
          <p:cNvSpPr txBox="1"/>
          <p:nvPr/>
        </p:nvSpPr>
        <p:spPr>
          <a:xfrm>
            <a:off x="1097280" y="4526280"/>
            <a:ext cx="9966960" cy="1280160"/>
          </a:xfrm>
          <a:prstGeom prst="rect">
            <a:avLst/>
          </a:prstGeom>
          <a:noFill/>
          <a:ln/>
        </p:spPr>
        <p:txBody>
          <a:bodyPr wrap="square" lIns="0" tIns="0" rIns="0" bIns="0" rtlCol="0" anchor="t"/>
          <a:lstStyle/>
          <a:p>
            <a:pPr indent="0" marL="0">
              <a:lnSpc>
                <a:spcPct val="130000"/>
              </a:lnSpc>
              <a:buNone/>
            </a:pPr>
            <a:r>
              <a:rPr lang="en-US" sz="1250" dirty="0">
                <a:solidFill>
                  <a:srgbClr val="FFFFFF"/>
                </a:solidFill>
                <a:latin typeface="Calibri" pitchFamily="34" charset="0"/>
                <a:ea typeface="Calibri" pitchFamily="34" charset="-122"/>
                <a:cs typeface="Calibri" pitchFamily="34" charset="-120"/>
              </a:rPr>
              <a:t>The shared-memory store is small and project-scoped rather than an open-ended external corpus, so precise, filtered retrieval over known fields (project id, story/component keywords) outperforms broad similarity search — and keeps every retrieved item auditable back to the run or decision it came from.</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320040"/>
            <a:ext cx="914400" cy="914400"/>
          </a:xfrm>
          <a:prstGeom prst="ellipse">
            <a:avLst/>
          </a:prstGeom>
          <a:solidFill>
            <a:srgbClr val="F5C518"/>
          </a:solidFill>
          <a:ln/>
        </p:spPr>
      </p:sp>
      <p:sp>
        <p:nvSpPr>
          <p:cNvPr id="3" name="Text 1"/>
          <p:cNvSpPr txBox="1"/>
          <p:nvPr/>
        </p:nvSpPr>
        <p:spPr>
          <a:xfrm>
            <a:off x="411480" y="320040"/>
            <a:ext cx="914400" cy="914400"/>
          </a:xfrm>
          <a:prstGeom prst="rect">
            <a:avLst/>
          </a:prstGeom>
          <a:noFill/>
          <a:ln/>
        </p:spPr>
        <p:txBody>
          <a:bodyPr wrap="square" lIns="0" tIns="0" rIns="0" bIns="0" rtlCol="0" anchor="ctr"/>
          <a:lstStyle/>
          <a:p>
            <a:pPr algn="ctr" indent="0" marL="0">
              <a:buNone/>
            </a:pPr>
            <a:r>
              <a:rPr lang="en-US" sz="3000" b="1" dirty="0">
                <a:solidFill>
                  <a:srgbClr val="1A1A1A"/>
                </a:solidFill>
                <a:latin typeface="Calibri" pitchFamily="34" charset="0"/>
                <a:ea typeface="Calibri" pitchFamily="34" charset="-122"/>
                <a:cs typeface="Calibri" pitchFamily="34" charset="-120"/>
              </a:rPr>
              <a:t>10</a:t>
            </a:r>
            <a:endParaRPr lang="en-US" sz="3000" dirty="0"/>
          </a:p>
        </p:txBody>
      </p:sp>
      <p:sp>
        <p:nvSpPr>
          <p:cNvPr id="4" name="Text 2"/>
          <p:cNvSpPr txBox="1"/>
          <p:nvPr/>
        </p:nvSpPr>
        <p:spPr>
          <a:xfrm>
            <a:off x="1508760" y="301752"/>
            <a:ext cx="8503920" cy="685800"/>
          </a:xfrm>
          <a:prstGeom prst="rect">
            <a:avLst/>
          </a:prstGeom>
          <a:noFill/>
          <a:ln/>
        </p:spPr>
        <p:txBody>
          <a:bodyPr wrap="square" lIns="0" tIns="0" rIns="0" bIns="0" rtlCol="0" anchor="ctr"/>
          <a:lstStyle/>
          <a:p>
            <a:pPr indent="0" marL="0">
              <a:buNone/>
            </a:pPr>
            <a:r>
              <a:rPr lang="en-US" sz="2800" b="1" dirty="0">
                <a:solidFill>
                  <a:srgbClr val="5B2D8E"/>
                </a:solidFill>
                <a:latin typeface="Cambria" pitchFamily="34" charset="0"/>
                <a:ea typeface="Cambria" pitchFamily="34" charset="-122"/>
                <a:cs typeface="Cambria" pitchFamily="34" charset="-120"/>
              </a:rPr>
              <a:t>SYSTEM IMPLEMENTATION</a:t>
            </a:r>
            <a:endParaRPr lang="en-US" sz="2800" dirty="0"/>
          </a:p>
        </p:txBody>
      </p:sp>
      <p:sp>
        <p:nvSpPr>
          <p:cNvPr id="5" name="Shape 3"/>
          <p:cNvSpPr/>
          <p:nvPr/>
        </p:nvSpPr>
        <p:spPr>
          <a:xfrm>
            <a:off x="1536192" y="987552"/>
            <a:ext cx="1920240" cy="0"/>
          </a:xfrm>
          <a:prstGeom prst="line">
            <a:avLst/>
          </a:prstGeom>
          <a:noFill/>
          <a:ln w="38100">
            <a:solidFill>
              <a:srgbClr val="F5C518"/>
            </a:solidFill>
            <a:prstDash val="solid"/>
          </a:ln>
        </p:spPr>
      </p:sp>
      <p:pic>
        <p:nvPicPr>
          <p:cNvPr id="6" name="Image 0" descr="/home/claude/ppt_nexus_style/assets/logopage-000.png">    </p:cNvPr>
          <p:cNvPicPr>
            <a:picLocks noChangeAspect="1"/>
          </p:cNvPicPr>
          <p:nvPr/>
        </p:nvPicPr>
        <p:blipFill>
          <a:blip r:embed="rId1"/>
          <a:stretch>
            <a:fillRect/>
          </a:stretch>
        </p:blipFill>
        <p:spPr>
          <a:xfrm>
            <a:off x="10149840" y="256032"/>
            <a:ext cx="1600200" cy="768096"/>
          </a:xfrm>
          <a:prstGeom prst="rect">
            <a:avLst/>
          </a:prstGeom>
        </p:spPr>
      </p:pic>
      <p:sp>
        <p:nvSpPr>
          <p:cNvPr id="7" name="Text 4"/>
          <p:cNvSpPr txBox="1"/>
          <p:nvPr/>
        </p:nvSpPr>
        <p:spPr>
          <a:xfrm>
            <a:off x="457200" y="6492240"/>
            <a:ext cx="2743200" cy="2743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Final review</a:t>
            </a:r>
            <a:endParaRPr lang="en-US" sz="1100" dirty="0"/>
          </a:p>
        </p:txBody>
      </p:sp>
      <p:sp>
        <p:nvSpPr>
          <p:cNvPr id="8" name="Text 5"/>
          <p:cNvSpPr txBox="1"/>
          <p:nvPr/>
        </p:nvSpPr>
        <p:spPr>
          <a:xfrm>
            <a:off x="6400800" y="6492240"/>
            <a:ext cx="5349240" cy="274320"/>
          </a:xfrm>
          <a:prstGeom prst="rect">
            <a:avLst/>
          </a:prstGeom>
          <a:noFill/>
          <a:ln/>
        </p:spPr>
        <p:txBody>
          <a:bodyPr wrap="square" lIns="0" tIns="0" rIns="0" bIns="0" rtlCol="0" anchor="ctr"/>
          <a:lstStyle/>
          <a:p>
            <a:pPr algn="r" indent="0" marL="0">
              <a:buNone/>
            </a:pPr>
            <a:r>
              <a:rPr lang="en-US" sz="1100" dirty="0">
                <a:solidFill>
                  <a:srgbClr val="1A1A1A"/>
                </a:solidFill>
                <a:latin typeface="Calibri" pitchFamily="34" charset="0"/>
                <a:ea typeface="Calibri" pitchFamily="34" charset="-122"/>
                <a:cs typeface="Calibri" pitchFamily="34" charset="-120"/>
              </a:rPr>
              <a:t>Department of Artificial Intelligence and Machine Learning</a:t>
            </a:r>
            <a:endParaRPr lang="en-US" sz="1100" dirty="0"/>
          </a:p>
        </p:txBody>
      </p:sp>
      <p:sp>
        <p:nvSpPr>
          <p:cNvPr id="9" name="Shape 6"/>
          <p:cNvSpPr/>
          <p:nvPr/>
        </p:nvSpPr>
        <p:spPr>
          <a:xfrm>
            <a:off x="548640" y="1600200"/>
            <a:ext cx="11064240" cy="4526280"/>
          </a:xfrm>
          <a:prstGeom prst="roundRect">
            <a:avLst>
              <a:gd name="adj" fmla="val 2020"/>
            </a:avLst>
          </a:prstGeom>
          <a:solidFill>
            <a:srgbClr val="F4F1F8"/>
          </a:solidFill>
          <a:ln w="12700">
            <a:solidFill>
              <a:srgbClr val="E3DCEF"/>
            </a:solidFill>
            <a:prstDash val="solid"/>
          </a:ln>
        </p:spPr>
      </p:sp>
      <p:sp>
        <p:nvSpPr>
          <p:cNvPr id="10" name="Shape 7"/>
          <p:cNvSpPr/>
          <p:nvPr/>
        </p:nvSpPr>
        <p:spPr>
          <a:xfrm>
            <a:off x="868680" y="1920240"/>
            <a:ext cx="5074920" cy="3931920"/>
          </a:xfrm>
          <a:prstGeom prst="roundRect">
            <a:avLst>
              <a:gd name="adj" fmla="val 2791"/>
            </a:avLst>
          </a:prstGeom>
          <a:solidFill>
            <a:srgbClr val="FFFFFF"/>
          </a:solidFill>
          <a:ln/>
          <a:effectLst>
            <a:outerShdw sx="100000" sy="100000" kx="0" ky="0" algn="bl" rotWithShape="0" blurRad="7.14867691443149e+82" dist="2.3828923048104974e+82" dir="3.2905425960566786e+97">
              <a:srgbClr val="444444">
                <a:alpha val="1.8000000000000008e+99"/>
              </a:srgbClr>
            </a:outerShdw>
          </a:effectLst>
        </p:spPr>
      </p:sp>
      <p:sp>
        <p:nvSpPr>
          <p:cNvPr id="11" name="Text 8"/>
          <p:cNvSpPr txBox="1"/>
          <p:nvPr/>
        </p:nvSpPr>
        <p:spPr>
          <a:xfrm>
            <a:off x="1097280" y="2103120"/>
            <a:ext cx="4617720" cy="411480"/>
          </a:xfrm>
          <a:prstGeom prst="rect">
            <a:avLst/>
          </a:prstGeom>
          <a:noFill/>
          <a:ln/>
        </p:spPr>
        <p:txBody>
          <a:bodyPr wrap="square" lIns="0" tIns="0" rIns="0" bIns="0" rtlCol="0" anchor="ctr"/>
          <a:lstStyle/>
          <a:p>
            <a:pPr indent="0" marL="0">
              <a:buNone/>
            </a:pPr>
            <a:r>
              <a:rPr lang="en-US" sz="1600" b="1" dirty="0">
                <a:solidFill>
                  <a:srgbClr val="5B2D8E"/>
                </a:solidFill>
                <a:latin typeface="Calibri" pitchFamily="34" charset="0"/>
                <a:ea typeface="Calibri" pitchFamily="34" charset="-122"/>
                <a:cs typeface="Calibri" pitchFamily="34" charset="-120"/>
              </a:rPr>
              <a:t>Functional Prototype</a:t>
            </a:r>
            <a:endParaRPr lang="en-US" sz="1600" dirty="0"/>
          </a:p>
        </p:txBody>
      </p:sp>
      <p:sp>
        <p:nvSpPr>
          <p:cNvPr id="12" name="Text 9"/>
          <p:cNvSpPr txBox="1"/>
          <p:nvPr/>
        </p:nvSpPr>
        <p:spPr>
          <a:xfrm>
            <a:off x="1097280" y="2542032"/>
            <a:ext cx="4617720" cy="3200400"/>
          </a:xfrm>
          <a:prstGeom prst="rect">
            <a:avLst/>
          </a:prstGeom>
          <a:noFill/>
          <a:ln/>
        </p:spPr>
        <p:txBody>
          <a:bodyPr wrap="square" lIns="0" tIns="0" rIns="0" bIns="0" rtlCol="0" anchor="t"/>
          <a:lstStyle/>
          <a:p>
            <a:pPr indent="0" marL="0">
              <a:lnSpc>
                <a:spcPct val="130000"/>
              </a:lnSpc>
              <a:buNone/>
            </a:pPr>
            <a:r>
              <a:rPr lang="en-US" sz="1250" dirty="0">
                <a:solidFill>
                  <a:srgbClr val="2A2A2A"/>
                </a:solidFill>
                <a:latin typeface="Calibri" pitchFamily="34" charset="0"/>
                <a:ea typeface="Calibri" pitchFamily="34" charset="-122"/>
                <a:cs typeface="Calibri" pitchFamily="34" charset="-120"/>
              </a:rPr>
              <a:t>The working slice covers the Dashboard, Run View and Gate 1, exercising the Requirement and Design Agents end to end: a submitted request is decomposed into stories and a design proposal, both visible in the Run View pipeline before the Product Owner records an Approve, Request-changes or Reject decision at Gate 1.</a:t>
            </a:r>
            <a:endParaRPr lang="en-US" sz="1250" dirty="0"/>
          </a:p>
        </p:txBody>
      </p:sp>
      <p:sp>
        <p:nvSpPr>
          <p:cNvPr id="13" name="Shape 10"/>
          <p:cNvSpPr/>
          <p:nvPr/>
        </p:nvSpPr>
        <p:spPr>
          <a:xfrm>
            <a:off x="6217920" y="1920240"/>
            <a:ext cx="5394960" cy="3931920"/>
          </a:xfrm>
          <a:prstGeom prst="roundRect">
            <a:avLst>
              <a:gd name="adj" fmla="val 2791"/>
            </a:avLst>
          </a:prstGeom>
          <a:solidFill>
            <a:srgbClr val="5B2D8E"/>
          </a:solidFill>
          <a:ln/>
          <a:effectLst>
            <a:outerShdw sx="100000" sy="100000" kx="0" ky="0" algn="bl" rotWithShape="0" blurRad="9.078819681327992e+86" dist="3.0262732271093317e+86" dir="1.9743255576340073e+102">
              <a:srgbClr val="444444">
                <a:alpha val="1.800000000000001e+104"/>
              </a:srgbClr>
            </a:outerShdw>
          </a:effectLst>
        </p:spPr>
      </p:sp>
      <p:sp>
        <p:nvSpPr>
          <p:cNvPr id="14" name="Text 11"/>
          <p:cNvSpPr txBox="1"/>
          <p:nvPr/>
        </p:nvSpPr>
        <p:spPr>
          <a:xfrm>
            <a:off x="6492240" y="2103120"/>
            <a:ext cx="4846320" cy="365760"/>
          </a:xfrm>
          <a:prstGeom prst="rect">
            <a:avLst/>
          </a:prstGeom>
          <a:noFill/>
          <a:ln/>
        </p:spPr>
        <p:txBody>
          <a:bodyPr wrap="square" lIns="0" tIns="0" rIns="0" bIns="0" rtlCol="0" anchor="ctr"/>
          <a:lstStyle/>
          <a:p>
            <a:pPr indent="0" marL="0">
              <a:buNone/>
            </a:pPr>
            <a:r>
              <a:rPr lang="en-US" sz="1400" b="1" dirty="0">
                <a:solidFill>
                  <a:srgbClr val="F5C518"/>
                </a:solidFill>
                <a:latin typeface="Calibri" pitchFamily="34" charset="0"/>
                <a:ea typeface="Calibri" pitchFamily="34" charset="-122"/>
                <a:cs typeface="Calibri" pitchFamily="34" charset="-120"/>
              </a:rPr>
              <a:t>Source Code and Deployment</a:t>
            </a:r>
            <a:endParaRPr lang="en-US" sz="1400" dirty="0"/>
          </a:p>
        </p:txBody>
      </p:sp>
      <p:sp>
        <p:nvSpPr>
          <p:cNvPr id="15" name="Text 12"/>
          <p:cNvSpPr txBox="1"/>
          <p:nvPr/>
        </p:nvSpPr>
        <p:spPr>
          <a:xfrm>
            <a:off x="6492240" y="2542032"/>
            <a:ext cx="4846320" cy="3200400"/>
          </a:xfrm>
          <a:prstGeom prst="rect">
            <a:avLst/>
          </a:prstGeom>
          <a:noFill/>
          <a:ln/>
        </p:spPr>
        <p:txBody>
          <a:bodyPr wrap="square" lIns="0" tIns="0" rIns="0" bIns="0" rtlCol="0" anchor="t"/>
          <a:lstStyle/>
          <a:p>
            <a:pPr indent="0" marL="0">
              <a:lnSpc>
                <a:spcPct val="130000"/>
              </a:lnSpc>
              <a:buNone/>
            </a:pPr>
            <a:r>
              <a:rPr lang="en-US" sz="1250" dirty="0">
                <a:solidFill>
                  <a:srgbClr val="FFFFFF"/>
                </a:solidFill>
                <a:latin typeface="Calibri" pitchFamily="34" charset="0"/>
                <a:ea typeface="Calibri" pitchFamily="34" charset="-122"/>
                <a:cs typeface="Calibri" pitchFamily="34" charset="-120"/>
              </a:rPr>
              <a:t>Built in Lovable — a React/TypeScript frontend and a Supabase backend (Edge Functions plus SQL migrations) — synced continuously to a GitHub repository. Row-Level Security policies scope every table to its project, and Realtime subscriptions push pipeline status to the Run View as each agent completes its step.</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320040"/>
            <a:ext cx="914400" cy="914400"/>
          </a:xfrm>
          <a:prstGeom prst="ellipse">
            <a:avLst/>
          </a:prstGeom>
          <a:solidFill>
            <a:srgbClr val="F5C518"/>
          </a:solidFill>
          <a:ln/>
        </p:spPr>
      </p:sp>
      <p:sp>
        <p:nvSpPr>
          <p:cNvPr id="3" name="Text 1"/>
          <p:cNvSpPr txBox="1"/>
          <p:nvPr/>
        </p:nvSpPr>
        <p:spPr>
          <a:xfrm>
            <a:off x="411480" y="320040"/>
            <a:ext cx="914400" cy="914400"/>
          </a:xfrm>
          <a:prstGeom prst="rect">
            <a:avLst/>
          </a:prstGeom>
          <a:noFill/>
          <a:ln/>
        </p:spPr>
        <p:txBody>
          <a:bodyPr wrap="square" lIns="0" tIns="0" rIns="0" bIns="0" rtlCol="0" anchor="ctr"/>
          <a:lstStyle/>
          <a:p>
            <a:pPr algn="ctr" indent="0" marL="0">
              <a:buNone/>
            </a:pPr>
            <a:r>
              <a:rPr lang="en-US" sz="3000" b="1" dirty="0">
                <a:solidFill>
                  <a:srgbClr val="1A1A1A"/>
                </a:solidFill>
                <a:latin typeface="Calibri" pitchFamily="34" charset="0"/>
                <a:ea typeface="Calibri" pitchFamily="34" charset="-122"/>
                <a:cs typeface="Calibri" pitchFamily="34" charset="-120"/>
              </a:rPr>
              <a:t>11</a:t>
            </a:r>
            <a:endParaRPr lang="en-US" sz="3000" dirty="0"/>
          </a:p>
        </p:txBody>
      </p:sp>
      <p:sp>
        <p:nvSpPr>
          <p:cNvPr id="4" name="Text 2"/>
          <p:cNvSpPr txBox="1"/>
          <p:nvPr/>
        </p:nvSpPr>
        <p:spPr>
          <a:xfrm>
            <a:off x="1508760" y="301752"/>
            <a:ext cx="8503920" cy="685800"/>
          </a:xfrm>
          <a:prstGeom prst="rect">
            <a:avLst/>
          </a:prstGeom>
          <a:noFill/>
          <a:ln/>
        </p:spPr>
        <p:txBody>
          <a:bodyPr wrap="square" lIns="0" tIns="0" rIns="0" bIns="0" rtlCol="0" anchor="ctr"/>
          <a:lstStyle/>
          <a:p>
            <a:pPr indent="0" marL="0">
              <a:buNone/>
            </a:pPr>
            <a:r>
              <a:rPr lang="en-US" sz="2800" b="1" dirty="0">
                <a:solidFill>
                  <a:srgbClr val="5B2D8E"/>
                </a:solidFill>
                <a:latin typeface="Cambria" pitchFamily="34" charset="0"/>
                <a:ea typeface="Cambria" pitchFamily="34" charset="-122"/>
                <a:cs typeface="Cambria" pitchFamily="34" charset="-120"/>
              </a:rPr>
              <a:t>EXPERIMENTAL EVALUATION AND RESULTS</a:t>
            </a:r>
            <a:endParaRPr lang="en-US" sz="2800" dirty="0"/>
          </a:p>
        </p:txBody>
      </p:sp>
      <p:sp>
        <p:nvSpPr>
          <p:cNvPr id="5" name="Shape 3"/>
          <p:cNvSpPr/>
          <p:nvPr/>
        </p:nvSpPr>
        <p:spPr>
          <a:xfrm>
            <a:off x="1536192" y="987552"/>
            <a:ext cx="1920240" cy="0"/>
          </a:xfrm>
          <a:prstGeom prst="line">
            <a:avLst/>
          </a:prstGeom>
          <a:noFill/>
          <a:ln w="38100">
            <a:solidFill>
              <a:srgbClr val="F5C518"/>
            </a:solidFill>
            <a:prstDash val="solid"/>
          </a:ln>
        </p:spPr>
      </p:sp>
      <p:pic>
        <p:nvPicPr>
          <p:cNvPr id="6" name="Image 0" descr="/home/claude/ppt_nexus_style/assets/logopage-000.png">    </p:cNvPr>
          <p:cNvPicPr>
            <a:picLocks noChangeAspect="1"/>
          </p:cNvPicPr>
          <p:nvPr/>
        </p:nvPicPr>
        <p:blipFill>
          <a:blip r:embed="rId1"/>
          <a:stretch>
            <a:fillRect/>
          </a:stretch>
        </p:blipFill>
        <p:spPr>
          <a:xfrm>
            <a:off x="10149840" y="256032"/>
            <a:ext cx="1600200" cy="768096"/>
          </a:xfrm>
          <a:prstGeom prst="rect">
            <a:avLst/>
          </a:prstGeom>
        </p:spPr>
      </p:pic>
      <p:sp>
        <p:nvSpPr>
          <p:cNvPr id="7" name="Text 4"/>
          <p:cNvSpPr txBox="1"/>
          <p:nvPr/>
        </p:nvSpPr>
        <p:spPr>
          <a:xfrm>
            <a:off x="457200" y="6492240"/>
            <a:ext cx="2743200" cy="2743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Final review</a:t>
            </a:r>
            <a:endParaRPr lang="en-US" sz="1100" dirty="0"/>
          </a:p>
        </p:txBody>
      </p:sp>
      <p:sp>
        <p:nvSpPr>
          <p:cNvPr id="8" name="Text 5"/>
          <p:cNvSpPr txBox="1"/>
          <p:nvPr/>
        </p:nvSpPr>
        <p:spPr>
          <a:xfrm>
            <a:off x="6400800" y="6492240"/>
            <a:ext cx="5349240" cy="274320"/>
          </a:xfrm>
          <a:prstGeom prst="rect">
            <a:avLst/>
          </a:prstGeom>
          <a:noFill/>
          <a:ln/>
        </p:spPr>
        <p:txBody>
          <a:bodyPr wrap="square" lIns="0" tIns="0" rIns="0" bIns="0" rtlCol="0" anchor="ctr"/>
          <a:lstStyle/>
          <a:p>
            <a:pPr algn="r" indent="0" marL="0">
              <a:buNone/>
            </a:pPr>
            <a:r>
              <a:rPr lang="en-US" sz="1100" dirty="0">
                <a:solidFill>
                  <a:srgbClr val="1A1A1A"/>
                </a:solidFill>
                <a:latin typeface="Calibri" pitchFamily="34" charset="0"/>
                <a:ea typeface="Calibri" pitchFamily="34" charset="-122"/>
                <a:cs typeface="Calibri" pitchFamily="34" charset="-120"/>
              </a:rPr>
              <a:t>Department of Artificial Intelligence and Machine Learning</a:t>
            </a:r>
            <a:endParaRPr lang="en-US" sz="1100" dirty="0"/>
          </a:p>
        </p:txBody>
      </p:sp>
      <p:sp>
        <p:nvSpPr>
          <p:cNvPr id="9" name="Shape 6"/>
          <p:cNvSpPr/>
          <p:nvPr/>
        </p:nvSpPr>
        <p:spPr>
          <a:xfrm>
            <a:off x="548640" y="1600200"/>
            <a:ext cx="11064240" cy="4526280"/>
          </a:xfrm>
          <a:prstGeom prst="roundRect">
            <a:avLst>
              <a:gd name="adj" fmla="val 2020"/>
            </a:avLst>
          </a:prstGeom>
          <a:solidFill>
            <a:srgbClr val="F4F1F8"/>
          </a:solidFill>
          <a:ln w="12700">
            <a:solidFill>
              <a:srgbClr val="E3DCEF"/>
            </a:solidFill>
            <a:prstDash val="solid"/>
          </a:ln>
        </p:spPr>
      </p:sp>
      <p:sp>
        <p:nvSpPr>
          <p:cNvPr id="10" name="Shape 7"/>
          <p:cNvSpPr/>
          <p:nvPr/>
        </p:nvSpPr>
        <p:spPr>
          <a:xfrm>
            <a:off x="868680" y="1828800"/>
            <a:ext cx="2450592" cy="1508760"/>
          </a:xfrm>
          <a:prstGeom prst="roundRect">
            <a:avLst>
              <a:gd name="adj" fmla="val 7273"/>
            </a:avLst>
          </a:prstGeom>
          <a:solidFill>
            <a:srgbClr val="3D1F63"/>
          </a:solidFill>
          <a:ln/>
          <a:effectLst>
            <a:outerShdw sx="100000" sy="100000" kx="0" ky="0" algn="bl" rotWithShape="0" blurRad="1.153010099528655e+91" dist="3.8433669984288512e+90" dir="1.1845953345804043e+107">
              <a:srgbClr val="444444">
                <a:alpha val="1.800000000000001e+109"/>
              </a:srgbClr>
            </a:outerShdw>
          </a:effectLst>
        </p:spPr>
      </p:sp>
      <p:sp>
        <p:nvSpPr>
          <p:cNvPr id="11" name="Text 8"/>
          <p:cNvSpPr txBox="1"/>
          <p:nvPr/>
        </p:nvSpPr>
        <p:spPr>
          <a:xfrm>
            <a:off x="1033272" y="1965960"/>
            <a:ext cx="2148840" cy="457200"/>
          </a:xfrm>
          <a:prstGeom prst="rect">
            <a:avLst/>
          </a:prstGeom>
          <a:noFill/>
          <a:ln/>
        </p:spPr>
        <p:txBody>
          <a:bodyPr wrap="square" lIns="0" tIns="0" rIns="0" bIns="0" rtlCol="0" anchor="ctr"/>
          <a:lstStyle/>
          <a:p>
            <a:pPr indent="0" marL="0">
              <a:buNone/>
            </a:pPr>
            <a:r>
              <a:rPr lang="en-US" sz="1200" b="1" dirty="0">
                <a:solidFill>
                  <a:srgbClr val="F5C518"/>
                </a:solidFill>
                <a:latin typeface="Calibri" pitchFamily="34" charset="0"/>
                <a:ea typeface="Calibri" pitchFamily="34" charset="-122"/>
                <a:cs typeface="Calibri" pitchFamily="34" charset="-120"/>
              </a:rPr>
              <a:t>Completion rate</a:t>
            </a:r>
            <a:endParaRPr lang="en-US" sz="1200" dirty="0"/>
          </a:p>
        </p:txBody>
      </p:sp>
      <p:sp>
        <p:nvSpPr>
          <p:cNvPr id="12" name="Text 9"/>
          <p:cNvSpPr txBox="1"/>
          <p:nvPr/>
        </p:nvSpPr>
        <p:spPr>
          <a:xfrm>
            <a:off x="1033272" y="2395728"/>
            <a:ext cx="2148840" cy="82296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Runs reaching Complete or a clean Reject</a:t>
            </a:r>
            <a:endParaRPr lang="en-US" sz="1000" dirty="0"/>
          </a:p>
        </p:txBody>
      </p:sp>
      <p:sp>
        <p:nvSpPr>
          <p:cNvPr id="13" name="Shape 10"/>
          <p:cNvSpPr/>
          <p:nvPr/>
        </p:nvSpPr>
        <p:spPr>
          <a:xfrm>
            <a:off x="3502152" y="1828800"/>
            <a:ext cx="2450592" cy="1508760"/>
          </a:xfrm>
          <a:prstGeom prst="roundRect">
            <a:avLst>
              <a:gd name="adj" fmla="val 7273"/>
            </a:avLst>
          </a:prstGeom>
          <a:solidFill>
            <a:srgbClr val="3D1F63"/>
          </a:solidFill>
          <a:ln/>
          <a:effectLst>
            <a:outerShdw sx="100000" sy="100000" kx="0" ky="0" algn="bl" rotWithShape="0" blurRad="1.4643228264013918e+95" dist="4.8810760880046414e+94" dir="7.107572007482426e+111">
              <a:srgbClr val="444444">
                <a:alpha val="1.800000000000001e+114"/>
              </a:srgbClr>
            </a:outerShdw>
          </a:effectLst>
        </p:spPr>
      </p:sp>
      <p:sp>
        <p:nvSpPr>
          <p:cNvPr id="14" name="Text 11"/>
          <p:cNvSpPr txBox="1"/>
          <p:nvPr/>
        </p:nvSpPr>
        <p:spPr>
          <a:xfrm>
            <a:off x="3666744" y="1965960"/>
            <a:ext cx="2148840" cy="457200"/>
          </a:xfrm>
          <a:prstGeom prst="rect">
            <a:avLst/>
          </a:prstGeom>
          <a:noFill/>
          <a:ln/>
        </p:spPr>
        <p:txBody>
          <a:bodyPr wrap="square" lIns="0" tIns="0" rIns="0" bIns="0" rtlCol="0" anchor="ctr"/>
          <a:lstStyle/>
          <a:p>
            <a:pPr indent="0" marL="0">
              <a:buNone/>
            </a:pPr>
            <a:r>
              <a:rPr lang="en-US" sz="1200" b="1" dirty="0">
                <a:solidFill>
                  <a:srgbClr val="F5C518"/>
                </a:solidFill>
                <a:latin typeface="Calibri" pitchFamily="34" charset="0"/>
                <a:ea typeface="Calibri" pitchFamily="34" charset="-122"/>
                <a:cs typeface="Calibri" pitchFamily="34" charset="-120"/>
              </a:rPr>
              <a:t>Gate friction</a:t>
            </a:r>
            <a:endParaRPr lang="en-US" sz="1200" dirty="0"/>
          </a:p>
        </p:txBody>
      </p:sp>
      <p:sp>
        <p:nvSpPr>
          <p:cNvPr id="15" name="Text 12"/>
          <p:cNvSpPr txBox="1"/>
          <p:nvPr/>
        </p:nvSpPr>
        <p:spPr>
          <a:xfrm>
            <a:off x="3666744" y="2395728"/>
            <a:ext cx="2148840" cy="82296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Avg. Request-changes cycles per gate</a:t>
            </a:r>
            <a:endParaRPr lang="en-US" sz="1000" dirty="0"/>
          </a:p>
        </p:txBody>
      </p:sp>
      <p:sp>
        <p:nvSpPr>
          <p:cNvPr id="16" name="Shape 13"/>
          <p:cNvSpPr/>
          <p:nvPr/>
        </p:nvSpPr>
        <p:spPr>
          <a:xfrm>
            <a:off x="6135624" y="1828800"/>
            <a:ext cx="2450592" cy="1508760"/>
          </a:xfrm>
          <a:prstGeom prst="roundRect">
            <a:avLst>
              <a:gd name="adj" fmla="val 7273"/>
            </a:avLst>
          </a:prstGeom>
          <a:solidFill>
            <a:srgbClr val="3D1F63"/>
          </a:solidFill>
          <a:ln/>
          <a:effectLst>
            <a:outerShdw sx="100000" sy="100000" kx="0" ky="0" algn="bl" rotWithShape="0" blurRad="1.8596899895297677e+99" dist="6.198966631765894e+98" dir="4.2645432044894554e+116">
              <a:srgbClr val="444444">
                <a:alpha val="1.800000000000001e+119"/>
              </a:srgbClr>
            </a:outerShdw>
          </a:effectLst>
        </p:spPr>
      </p:sp>
      <p:sp>
        <p:nvSpPr>
          <p:cNvPr id="17" name="Text 14"/>
          <p:cNvSpPr txBox="1"/>
          <p:nvPr/>
        </p:nvSpPr>
        <p:spPr>
          <a:xfrm>
            <a:off x="6300216" y="1965960"/>
            <a:ext cx="2148840" cy="457200"/>
          </a:xfrm>
          <a:prstGeom prst="rect">
            <a:avLst/>
          </a:prstGeom>
          <a:noFill/>
          <a:ln/>
        </p:spPr>
        <p:txBody>
          <a:bodyPr wrap="square" lIns="0" tIns="0" rIns="0" bIns="0" rtlCol="0" anchor="ctr"/>
          <a:lstStyle/>
          <a:p>
            <a:pPr indent="0" marL="0">
              <a:buNone/>
            </a:pPr>
            <a:r>
              <a:rPr lang="en-US" sz="1200" b="1" dirty="0">
                <a:solidFill>
                  <a:srgbClr val="F5C518"/>
                </a:solidFill>
                <a:latin typeface="Calibri" pitchFamily="34" charset="0"/>
                <a:ea typeface="Calibri" pitchFamily="34" charset="-122"/>
                <a:cs typeface="Calibri" pitchFamily="34" charset="-120"/>
              </a:rPr>
              <a:t>Latency / tokens</a:t>
            </a:r>
            <a:endParaRPr lang="en-US" sz="1200" dirty="0"/>
          </a:p>
        </p:txBody>
      </p:sp>
      <p:sp>
        <p:nvSpPr>
          <p:cNvPr id="18" name="Text 15"/>
          <p:cNvSpPr txBox="1"/>
          <p:nvPr/>
        </p:nvSpPr>
        <p:spPr>
          <a:xfrm>
            <a:off x="6300216" y="2395728"/>
            <a:ext cx="2148840" cy="82296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Duration &amp; tokens per agent_steps row</a:t>
            </a:r>
            <a:endParaRPr lang="en-US" sz="1000" dirty="0"/>
          </a:p>
        </p:txBody>
      </p:sp>
      <p:sp>
        <p:nvSpPr>
          <p:cNvPr id="19" name="Shape 16"/>
          <p:cNvSpPr/>
          <p:nvPr/>
        </p:nvSpPr>
        <p:spPr>
          <a:xfrm>
            <a:off x="8769096" y="1828800"/>
            <a:ext cx="2450592" cy="1508760"/>
          </a:xfrm>
          <a:prstGeom prst="roundRect">
            <a:avLst>
              <a:gd name="adj" fmla="val 7273"/>
            </a:avLst>
          </a:prstGeom>
          <a:solidFill>
            <a:srgbClr val="3D1F63"/>
          </a:solidFill>
          <a:ln/>
          <a:effectLst>
            <a:outerShdw sx="100000" sy="100000" kx="0" ky="0" algn="bl" rotWithShape="0" blurRad="2.361806286702805e+103" dist="7.872687622342685e+102" dir="2.5587259226936733e+121">
              <a:srgbClr val="444444">
                <a:alpha val="1.800000000000001e+124"/>
              </a:srgbClr>
            </a:outerShdw>
          </a:effectLst>
        </p:spPr>
      </p:sp>
      <p:sp>
        <p:nvSpPr>
          <p:cNvPr id="20" name="Text 17"/>
          <p:cNvSpPr txBox="1"/>
          <p:nvPr/>
        </p:nvSpPr>
        <p:spPr>
          <a:xfrm>
            <a:off x="8933688" y="1965960"/>
            <a:ext cx="2148840" cy="457200"/>
          </a:xfrm>
          <a:prstGeom prst="rect">
            <a:avLst/>
          </a:prstGeom>
          <a:noFill/>
          <a:ln/>
        </p:spPr>
        <p:txBody>
          <a:bodyPr wrap="square" lIns="0" tIns="0" rIns="0" bIns="0" rtlCol="0" anchor="ctr"/>
          <a:lstStyle/>
          <a:p>
            <a:pPr indent="0" marL="0">
              <a:buNone/>
            </a:pPr>
            <a:r>
              <a:rPr lang="en-US" sz="1200" b="1" dirty="0">
                <a:solidFill>
                  <a:srgbClr val="F5C518"/>
                </a:solidFill>
                <a:latin typeface="Calibri" pitchFamily="34" charset="0"/>
                <a:ea typeface="Calibri" pitchFamily="34" charset="-122"/>
                <a:cs typeface="Calibri" pitchFamily="34" charset="-120"/>
              </a:rPr>
              <a:t>Traceability completeness</a:t>
            </a:r>
            <a:endParaRPr lang="en-US" sz="1200" dirty="0"/>
          </a:p>
        </p:txBody>
      </p:sp>
      <p:sp>
        <p:nvSpPr>
          <p:cNvPr id="21" name="Text 18"/>
          <p:cNvSpPr txBox="1"/>
          <p:nvPr/>
        </p:nvSpPr>
        <p:spPr>
          <a:xfrm>
            <a:off x="8933688" y="2395728"/>
            <a:ext cx="2148840" cy="82296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 runs with full requirement→deploy links</a:t>
            </a:r>
            <a:endParaRPr lang="en-US" sz="1000" dirty="0"/>
          </a:p>
        </p:txBody>
      </p:sp>
      <p:sp>
        <p:nvSpPr>
          <p:cNvPr id="22" name="Shape 19"/>
          <p:cNvSpPr/>
          <p:nvPr/>
        </p:nvSpPr>
        <p:spPr>
          <a:xfrm>
            <a:off x="868680" y="3520440"/>
            <a:ext cx="10424160" cy="2423160"/>
          </a:xfrm>
          <a:prstGeom prst="roundRect">
            <a:avLst>
              <a:gd name="adj" fmla="val 4528"/>
            </a:avLst>
          </a:prstGeom>
          <a:solidFill>
            <a:srgbClr val="FFFFFF"/>
          </a:solidFill>
          <a:ln/>
          <a:effectLst>
            <a:outerShdw sx="100000" sy="100000" kx="0" ky="0" algn="bl" rotWithShape="0" blurRad="2.999493984112562e+107" dist="9.998313280375211e+106" dir="1.535235553616204e+126">
              <a:srgbClr val="444444">
                <a:alpha val="1.800000000000001e+129"/>
              </a:srgbClr>
            </a:outerShdw>
          </a:effectLst>
        </p:spPr>
      </p:sp>
      <p:sp>
        <p:nvSpPr>
          <p:cNvPr id="23" name="Text 20"/>
          <p:cNvSpPr txBox="1"/>
          <p:nvPr/>
        </p:nvSpPr>
        <p:spPr>
          <a:xfrm>
            <a:off x="1097280" y="3730752"/>
            <a:ext cx="9966960" cy="2103120"/>
          </a:xfrm>
          <a:prstGeom prst="rect">
            <a:avLst/>
          </a:prstGeom>
          <a:noFill/>
          <a:ln/>
        </p:spPr>
        <p:txBody>
          <a:bodyPr wrap="square" lIns="0" tIns="0" rIns="0" bIns="0" rtlCol="0" anchor="t"/>
          <a:lstStyle/>
          <a:p>
            <a:pPr indent="0" marL="0">
              <a:lnSpc>
                <a:spcPct val="130000"/>
              </a:lnSpc>
              <a:buNone/>
            </a:pPr>
            <a:r>
              <a:rPr lang="en-US" sz="1250" b="1" dirty="0">
                <a:solidFill>
                  <a:srgbClr val="5B2D8E"/>
                </a:solidFill>
                <a:latin typeface="Calibri" pitchFamily="34" charset="0"/>
                <a:ea typeface="Calibri" pitchFamily="34" charset="-122"/>
                <a:cs typeface="Calibri" pitchFamily="34" charset="-120"/>
              </a:rPr>
              <a:t>Testing methodology:  </a:t>
            </a:r>
            <a:pPr indent="0" marL="0">
              <a:lnSpc>
                <a:spcPct val="130000"/>
              </a:lnSpc>
              <a:buNone/>
            </a:pPr>
            <a:r>
              <a:rPr lang="en-US" sz="1250" dirty="0">
                <a:solidFill>
                  <a:srgbClr val="2A2A2A"/>
                </a:solidFill>
                <a:latin typeface="Calibri" pitchFamily="34" charset="0"/>
                <a:ea typeface="Calibri" pitchFamily="34" charset="-122"/>
                <a:cs typeface="Calibri" pitchFamily="34" charset="-120"/>
              </a:rPr>
              <a:t>8–10 representative requests run multiple times, inspecting every gate and the activity log for correct agent ordering, visible shared context, correct halting on Reject, and one automatic retry before escalation on a second failure.
</a:t>
            </a:r>
            <a:pPr indent="0" marL="0">
              <a:lnSpc>
                <a:spcPct val="130000"/>
              </a:lnSpc>
              <a:buNone/>
            </a:pPr>
            <a:r>
              <a:rPr lang="en-US" sz="1250" b="1" dirty="0">
                <a:solidFill>
                  <a:srgbClr val="5B2D8E"/>
                </a:solidFill>
                <a:latin typeface="Calibri" pitchFamily="34" charset="0"/>
                <a:ea typeface="Calibri" pitchFamily="34" charset="-122"/>
                <a:cs typeface="Calibri" pitchFamily="34" charset="-120"/>
              </a:rPr>
              <a:t>Success achieved:  </a:t>
            </a:r>
            <a:pPr indent="0" marL="0">
              <a:lnSpc>
                <a:spcPct val="130000"/>
              </a:lnSpc>
              <a:buNone/>
            </a:pPr>
            <a:r>
              <a:rPr lang="en-US" sz="1250" dirty="0">
                <a:solidFill>
                  <a:srgbClr val="2A2A2A"/>
                </a:solidFill>
                <a:latin typeface="Calibri" pitchFamily="34" charset="0"/>
                <a:ea typeface="Calibri" pitchFamily="34" charset="-122"/>
                <a:cs typeface="Calibri" pitchFamily="34" charset="-120"/>
              </a:rPr>
              <a:t>the request → Gate 1 flow reliably produces well-formed stories and a design proposal, pauses and resumes correctly with all three gate decisions exercised, and logs a queryable activity_log entry for every agent action.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320040"/>
            <a:ext cx="914400" cy="914400"/>
          </a:xfrm>
          <a:prstGeom prst="ellipse">
            <a:avLst/>
          </a:prstGeom>
          <a:solidFill>
            <a:srgbClr val="F5C518"/>
          </a:solidFill>
          <a:ln/>
        </p:spPr>
      </p:sp>
      <p:sp>
        <p:nvSpPr>
          <p:cNvPr id="3" name="Text 1"/>
          <p:cNvSpPr txBox="1"/>
          <p:nvPr/>
        </p:nvSpPr>
        <p:spPr>
          <a:xfrm>
            <a:off x="411480" y="320040"/>
            <a:ext cx="914400" cy="914400"/>
          </a:xfrm>
          <a:prstGeom prst="rect">
            <a:avLst/>
          </a:prstGeom>
          <a:noFill/>
          <a:ln/>
        </p:spPr>
        <p:txBody>
          <a:bodyPr wrap="square" lIns="0" tIns="0" rIns="0" bIns="0" rtlCol="0" anchor="ctr"/>
          <a:lstStyle/>
          <a:p>
            <a:pPr algn="ctr" indent="0" marL="0">
              <a:buNone/>
            </a:pPr>
            <a:r>
              <a:rPr lang="en-US" sz="3000" b="1" dirty="0">
                <a:solidFill>
                  <a:srgbClr val="1A1A1A"/>
                </a:solidFill>
                <a:latin typeface="Calibri" pitchFamily="34" charset="0"/>
                <a:ea typeface="Calibri" pitchFamily="34" charset="-122"/>
                <a:cs typeface="Calibri" pitchFamily="34" charset="-120"/>
              </a:rPr>
              <a:t>12</a:t>
            </a:r>
            <a:endParaRPr lang="en-US" sz="3000" dirty="0"/>
          </a:p>
        </p:txBody>
      </p:sp>
      <p:sp>
        <p:nvSpPr>
          <p:cNvPr id="4" name="Text 2"/>
          <p:cNvSpPr txBox="1"/>
          <p:nvPr/>
        </p:nvSpPr>
        <p:spPr>
          <a:xfrm>
            <a:off x="1508760" y="301752"/>
            <a:ext cx="8503920" cy="685800"/>
          </a:xfrm>
          <a:prstGeom prst="rect">
            <a:avLst/>
          </a:prstGeom>
          <a:noFill/>
          <a:ln/>
        </p:spPr>
        <p:txBody>
          <a:bodyPr wrap="square" lIns="0" tIns="0" rIns="0" bIns="0" rtlCol="0" anchor="ctr"/>
          <a:lstStyle/>
          <a:p>
            <a:pPr indent="0" marL="0">
              <a:buNone/>
            </a:pPr>
            <a:r>
              <a:rPr lang="en-US" sz="2800" b="1" dirty="0">
                <a:solidFill>
                  <a:srgbClr val="5B2D8E"/>
                </a:solidFill>
                <a:latin typeface="Cambria" pitchFamily="34" charset="0"/>
                <a:ea typeface="Cambria" pitchFamily="34" charset="-122"/>
                <a:cs typeface="Cambria" pitchFamily="34" charset="-120"/>
              </a:rPr>
              <a:t>COMPARISON, INNOVATION AND SCALABILITY</a:t>
            </a:r>
            <a:endParaRPr lang="en-US" sz="2800" dirty="0"/>
          </a:p>
        </p:txBody>
      </p:sp>
      <p:sp>
        <p:nvSpPr>
          <p:cNvPr id="5" name="Shape 3"/>
          <p:cNvSpPr/>
          <p:nvPr/>
        </p:nvSpPr>
        <p:spPr>
          <a:xfrm>
            <a:off x="1536192" y="987552"/>
            <a:ext cx="1920240" cy="0"/>
          </a:xfrm>
          <a:prstGeom prst="line">
            <a:avLst/>
          </a:prstGeom>
          <a:noFill/>
          <a:ln w="38100">
            <a:solidFill>
              <a:srgbClr val="F5C518"/>
            </a:solidFill>
            <a:prstDash val="solid"/>
          </a:ln>
        </p:spPr>
      </p:sp>
      <p:pic>
        <p:nvPicPr>
          <p:cNvPr id="6" name="Image 0" descr="/home/claude/ppt_nexus_style/assets/logopage-000.png">    </p:cNvPr>
          <p:cNvPicPr>
            <a:picLocks noChangeAspect="1"/>
          </p:cNvPicPr>
          <p:nvPr/>
        </p:nvPicPr>
        <p:blipFill>
          <a:blip r:embed="rId1"/>
          <a:stretch>
            <a:fillRect/>
          </a:stretch>
        </p:blipFill>
        <p:spPr>
          <a:xfrm>
            <a:off x="10149840" y="256032"/>
            <a:ext cx="1600200" cy="768096"/>
          </a:xfrm>
          <a:prstGeom prst="rect">
            <a:avLst/>
          </a:prstGeom>
        </p:spPr>
      </p:pic>
      <p:sp>
        <p:nvSpPr>
          <p:cNvPr id="7" name="Text 4"/>
          <p:cNvSpPr txBox="1"/>
          <p:nvPr/>
        </p:nvSpPr>
        <p:spPr>
          <a:xfrm>
            <a:off x="457200" y="6492240"/>
            <a:ext cx="2743200" cy="2743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Final review</a:t>
            </a:r>
            <a:endParaRPr lang="en-US" sz="1100" dirty="0"/>
          </a:p>
        </p:txBody>
      </p:sp>
      <p:sp>
        <p:nvSpPr>
          <p:cNvPr id="8" name="Text 5"/>
          <p:cNvSpPr txBox="1"/>
          <p:nvPr/>
        </p:nvSpPr>
        <p:spPr>
          <a:xfrm>
            <a:off x="6400800" y="6492240"/>
            <a:ext cx="5349240" cy="274320"/>
          </a:xfrm>
          <a:prstGeom prst="rect">
            <a:avLst/>
          </a:prstGeom>
          <a:noFill/>
          <a:ln/>
        </p:spPr>
        <p:txBody>
          <a:bodyPr wrap="square" lIns="0" tIns="0" rIns="0" bIns="0" rtlCol="0" anchor="ctr"/>
          <a:lstStyle/>
          <a:p>
            <a:pPr algn="r" indent="0" marL="0">
              <a:buNone/>
            </a:pPr>
            <a:r>
              <a:rPr lang="en-US" sz="1100" dirty="0">
                <a:solidFill>
                  <a:srgbClr val="1A1A1A"/>
                </a:solidFill>
                <a:latin typeface="Calibri" pitchFamily="34" charset="0"/>
                <a:ea typeface="Calibri" pitchFamily="34" charset="-122"/>
                <a:cs typeface="Calibri" pitchFamily="34" charset="-120"/>
              </a:rPr>
              <a:t>Department of Artificial Intelligence and Machine Learning</a:t>
            </a:r>
            <a:endParaRPr lang="en-US" sz="1100" dirty="0"/>
          </a:p>
        </p:txBody>
      </p:sp>
      <p:sp>
        <p:nvSpPr>
          <p:cNvPr id="9" name="Shape 6"/>
          <p:cNvSpPr/>
          <p:nvPr/>
        </p:nvSpPr>
        <p:spPr>
          <a:xfrm>
            <a:off x="548640" y="1600200"/>
            <a:ext cx="11064240" cy="4526280"/>
          </a:xfrm>
          <a:prstGeom prst="roundRect">
            <a:avLst>
              <a:gd name="adj" fmla="val 2020"/>
            </a:avLst>
          </a:prstGeom>
          <a:solidFill>
            <a:srgbClr val="F4F1F8"/>
          </a:solidFill>
          <a:ln w="12700">
            <a:solidFill>
              <a:srgbClr val="E3DCEF"/>
            </a:solidFill>
            <a:prstDash val="solid"/>
          </a:ln>
        </p:spPr>
      </p:sp>
      <p:sp>
        <p:nvSpPr>
          <p:cNvPr id="10" name="Shape 7"/>
          <p:cNvSpPr/>
          <p:nvPr/>
        </p:nvSpPr>
        <p:spPr>
          <a:xfrm>
            <a:off x="868680" y="1920240"/>
            <a:ext cx="5074920" cy="1874520"/>
          </a:xfrm>
          <a:prstGeom prst="roundRect">
            <a:avLst>
              <a:gd name="adj" fmla="val 5854"/>
            </a:avLst>
          </a:prstGeom>
          <a:solidFill>
            <a:srgbClr val="FFFFFF"/>
          </a:solidFill>
          <a:ln/>
          <a:effectLst>
            <a:outerShdw sx="100000" sy="100000" kx="0" ky="0" algn="bl" rotWithShape="0" blurRad="3.809357359822954e+111" dist="1.2697857866076517e+111" dir="9.211413321697224e+130">
              <a:srgbClr val="444444">
                <a:alpha val="1.800000000000001e+134"/>
              </a:srgbClr>
            </a:outerShdw>
          </a:effectLst>
        </p:spPr>
      </p:sp>
      <p:sp>
        <p:nvSpPr>
          <p:cNvPr id="11" name="Text 8"/>
          <p:cNvSpPr txBox="1"/>
          <p:nvPr/>
        </p:nvSpPr>
        <p:spPr>
          <a:xfrm>
            <a:off x="1097280" y="2103120"/>
            <a:ext cx="4617720" cy="365760"/>
          </a:xfrm>
          <a:prstGeom prst="rect">
            <a:avLst/>
          </a:prstGeom>
          <a:noFill/>
          <a:ln/>
        </p:spPr>
        <p:txBody>
          <a:bodyPr wrap="square" lIns="0" tIns="0" rIns="0" bIns="0" rtlCol="0" anchor="ctr"/>
          <a:lstStyle/>
          <a:p>
            <a:pPr indent="0" marL="0">
              <a:buNone/>
            </a:pPr>
            <a:r>
              <a:rPr lang="en-US" sz="1300" b="1" dirty="0">
                <a:solidFill>
                  <a:srgbClr val="5B2D8E"/>
                </a:solidFill>
                <a:latin typeface="Calibri" pitchFamily="34" charset="0"/>
                <a:ea typeface="Calibri" pitchFamily="34" charset="-122"/>
                <a:cs typeface="Calibri" pitchFamily="34" charset="-120"/>
              </a:rPr>
              <a:t>Baseline: Single-Chat Prompting</a:t>
            </a:r>
            <a:endParaRPr lang="en-US" sz="1300" dirty="0"/>
          </a:p>
        </p:txBody>
      </p:sp>
      <p:sp>
        <p:nvSpPr>
          <p:cNvPr id="12" name="Text 9"/>
          <p:cNvSpPr txBox="1"/>
          <p:nvPr/>
        </p:nvSpPr>
        <p:spPr>
          <a:xfrm>
            <a:off x="1097280" y="2487168"/>
            <a:ext cx="4617720" cy="1280160"/>
          </a:xfrm>
          <a:prstGeom prst="rect">
            <a:avLst/>
          </a:prstGeom>
          <a:noFill/>
          <a:ln/>
        </p:spPr>
        <p:txBody>
          <a:bodyPr wrap="square" lIns="0" tIns="0" rIns="0" bIns="0" rtlCol="0" anchor="t"/>
          <a:lstStyle/>
          <a:p>
            <a:pPr indent="0" marL="0">
              <a:lnSpc>
                <a:spcPct val="125000"/>
              </a:lnSpc>
              <a:buNone/>
            </a:pPr>
            <a:r>
              <a:rPr lang="en-US" sz="1150" dirty="0">
                <a:solidFill>
                  <a:srgbClr val="2A2A2A"/>
                </a:solidFill>
                <a:latin typeface="Calibri" pitchFamily="34" charset="0"/>
                <a:ea typeface="Calibri" pitchFamily="34" charset="-122"/>
                <a:cs typeface="Calibri" pitchFamily="34" charset="-120"/>
              </a:rPr>
              <a:t>No persistent record of which output came from which step, no enforced approval points, no cap on runaway generation — all coordination left to the human operating the chat.</a:t>
            </a:r>
            <a:endParaRPr lang="en-US" sz="1150" dirty="0"/>
          </a:p>
        </p:txBody>
      </p:sp>
      <p:sp>
        <p:nvSpPr>
          <p:cNvPr id="13" name="Shape 10"/>
          <p:cNvSpPr/>
          <p:nvPr/>
        </p:nvSpPr>
        <p:spPr>
          <a:xfrm>
            <a:off x="6217920" y="1920240"/>
            <a:ext cx="5394960" cy="1874520"/>
          </a:xfrm>
          <a:prstGeom prst="roundRect">
            <a:avLst>
              <a:gd name="adj" fmla="val 5854"/>
            </a:avLst>
          </a:prstGeom>
          <a:solidFill>
            <a:srgbClr val="5B2D8E"/>
          </a:solidFill>
          <a:ln/>
          <a:effectLst>
            <a:outerShdw sx="100000" sy="100000" kx="0" ky="0" algn="bl" rotWithShape="0" blurRad="4.837883846975152e+115" dist="1.6126279489917177e+115" dir="5.526847993018334e+135">
              <a:srgbClr val="444444">
                <a:alpha val="1.800000000000001e+139"/>
              </a:srgbClr>
            </a:outerShdw>
          </a:effectLst>
        </p:spPr>
      </p:sp>
      <p:sp>
        <p:nvSpPr>
          <p:cNvPr id="14" name="Text 11"/>
          <p:cNvSpPr txBox="1"/>
          <p:nvPr/>
        </p:nvSpPr>
        <p:spPr>
          <a:xfrm>
            <a:off x="6492240" y="2103120"/>
            <a:ext cx="4846320" cy="365760"/>
          </a:xfrm>
          <a:prstGeom prst="rect">
            <a:avLst/>
          </a:prstGeom>
          <a:noFill/>
          <a:ln/>
        </p:spPr>
        <p:txBody>
          <a:bodyPr wrap="square" lIns="0" tIns="0" rIns="0" bIns="0" rtlCol="0" anchor="ctr"/>
          <a:lstStyle/>
          <a:p>
            <a:pPr indent="0" marL="0">
              <a:buNone/>
            </a:pPr>
            <a:r>
              <a:rPr lang="en-US" sz="1300" b="1" dirty="0">
                <a:solidFill>
                  <a:srgbClr val="F5C518"/>
                </a:solidFill>
                <a:latin typeface="Calibri" pitchFamily="34" charset="0"/>
                <a:ea typeface="Calibri" pitchFamily="34" charset="-122"/>
                <a:cs typeface="Calibri" pitchFamily="34" charset="-120"/>
              </a:rPr>
              <a:t>AgentFlow</a:t>
            </a:r>
            <a:endParaRPr lang="en-US" sz="1300" dirty="0"/>
          </a:p>
        </p:txBody>
      </p:sp>
      <p:sp>
        <p:nvSpPr>
          <p:cNvPr id="15" name="Text 12"/>
          <p:cNvSpPr txBox="1"/>
          <p:nvPr/>
        </p:nvSpPr>
        <p:spPr>
          <a:xfrm>
            <a:off x="6492240" y="2487168"/>
            <a:ext cx="4846320" cy="1280160"/>
          </a:xfrm>
          <a:prstGeom prst="rect">
            <a:avLst/>
          </a:prstGeom>
          <a:noFill/>
          <a:ln/>
        </p:spPr>
        <p:txBody>
          <a:bodyPr wrap="square" lIns="0" tIns="0" rIns="0" bIns="0" rtlCol="0" anchor="t"/>
          <a:lstStyle/>
          <a:p>
            <a:pPr indent="0" marL="0">
              <a:lnSpc>
                <a:spcPct val="125000"/>
              </a:lnSpc>
              <a:buNone/>
            </a:pPr>
            <a:r>
              <a:rPr lang="en-US" sz="1150" dirty="0">
                <a:solidFill>
                  <a:srgbClr val="FFFFFF"/>
                </a:solidFill>
                <a:latin typeface="Calibri" pitchFamily="34" charset="0"/>
                <a:ea typeface="Calibri" pitchFamily="34" charset="-122"/>
                <a:cs typeface="Calibri" pitchFamily="34" charset="-120"/>
              </a:rPr>
              <a:t>Specialised agents, traceability by construction, bounded autonomy (step budget + two-strikes escalation), and human authority preserved at every gate.</a:t>
            </a:r>
            <a:endParaRPr lang="en-US" sz="1150" dirty="0"/>
          </a:p>
        </p:txBody>
      </p:sp>
      <p:sp>
        <p:nvSpPr>
          <p:cNvPr id="16" name="Shape 13"/>
          <p:cNvSpPr/>
          <p:nvPr/>
        </p:nvSpPr>
        <p:spPr>
          <a:xfrm>
            <a:off x="1005840" y="4160520"/>
            <a:ext cx="457200" cy="457200"/>
          </a:xfrm>
          <a:prstGeom prst="ellipse">
            <a:avLst/>
          </a:prstGeom>
          <a:solidFill>
            <a:srgbClr val="F5C518"/>
          </a:solidFill>
          <a:ln/>
        </p:spPr>
      </p:sp>
      <p:sp>
        <p:nvSpPr>
          <p:cNvPr id="17" name="Text 14"/>
          <p:cNvSpPr txBox="1"/>
          <p:nvPr/>
        </p:nvSpPr>
        <p:spPr>
          <a:xfrm>
            <a:off x="1005840" y="4160520"/>
            <a:ext cx="45720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1</a:t>
            </a:r>
            <a:endParaRPr lang="en-US" sz="1500" dirty="0"/>
          </a:p>
        </p:txBody>
      </p:sp>
      <p:sp>
        <p:nvSpPr>
          <p:cNvPr id="18" name="Text 15"/>
          <p:cNvSpPr txBox="1"/>
          <p:nvPr/>
        </p:nvSpPr>
        <p:spPr>
          <a:xfrm>
            <a:off x="1005840" y="4727448"/>
            <a:ext cx="3291840" cy="411480"/>
          </a:xfrm>
          <a:prstGeom prst="rect">
            <a:avLst/>
          </a:prstGeom>
          <a:noFill/>
          <a:ln/>
        </p:spPr>
        <p:txBody>
          <a:bodyPr wrap="square" lIns="0" tIns="0" rIns="0" bIns="0" rtlCol="0" anchor="ctr"/>
          <a:lstStyle/>
          <a:p>
            <a:pPr indent="0" marL="0">
              <a:buNone/>
            </a:pPr>
            <a:r>
              <a:rPr lang="en-US" sz="1250" b="1" dirty="0">
                <a:solidFill>
                  <a:srgbClr val="5B2D8E"/>
                </a:solidFill>
                <a:latin typeface="Calibri" pitchFamily="34" charset="0"/>
                <a:ea typeface="Calibri" pitchFamily="34" charset="-122"/>
                <a:cs typeface="Calibri" pitchFamily="34" charset="-120"/>
              </a:rPr>
              <a:t>Innovation</a:t>
            </a:r>
            <a:endParaRPr lang="en-US" sz="1250" dirty="0"/>
          </a:p>
        </p:txBody>
      </p:sp>
      <p:sp>
        <p:nvSpPr>
          <p:cNvPr id="19" name="Text 16"/>
          <p:cNvSpPr txBox="1"/>
          <p:nvPr/>
        </p:nvSpPr>
        <p:spPr>
          <a:xfrm>
            <a:off x="1005840" y="5120640"/>
            <a:ext cx="3291840" cy="1463040"/>
          </a:xfrm>
          <a:prstGeom prst="rect">
            <a:avLst/>
          </a:prstGeom>
          <a:noFill/>
          <a:ln/>
        </p:spPr>
        <p:txBody>
          <a:bodyPr wrap="square" lIns="0" tIns="0" rIns="0" bIns="0" rtlCol="0" anchor="t"/>
          <a:lstStyle/>
          <a:p>
            <a:pPr indent="0" marL="0">
              <a:lnSpc>
                <a:spcPct val="120000"/>
              </a:lnSpc>
              <a:buNone/>
            </a:pPr>
            <a:r>
              <a:rPr lang="en-US" sz="1050" dirty="0">
                <a:solidFill>
                  <a:srgbClr val="2A2A2A"/>
                </a:solidFill>
                <a:latin typeface="Calibri" pitchFamily="34" charset="0"/>
                <a:ea typeface="Calibri" pitchFamily="34" charset="-122"/>
                <a:cs typeface="Calibri" pitchFamily="34" charset="-120"/>
              </a:rPr>
              <a:t>Fixed six-agent pipeline + role-based Stakeholder View + first-class Traceability over the same live schema.</a:t>
            </a:r>
            <a:endParaRPr lang="en-US" sz="1050" dirty="0"/>
          </a:p>
        </p:txBody>
      </p:sp>
      <p:sp>
        <p:nvSpPr>
          <p:cNvPr id="20" name="Shape 17"/>
          <p:cNvSpPr/>
          <p:nvPr/>
        </p:nvSpPr>
        <p:spPr>
          <a:xfrm>
            <a:off x="4572000" y="4160520"/>
            <a:ext cx="457200" cy="457200"/>
          </a:xfrm>
          <a:prstGeom prst="ellipse">
            <a:avLst/>
          </a:prstGeom>
          <a:solidFill>
            <a:srgbClr val="F5C518"/>
          </a:solidFill>
          <a:ln/>
        </p:spPr>
      </p:sp>
      <p:sp>
        <p:nvSpPr>
          <p:cNvPr id="21" name="Text 18"/>
          <p:cNvSpPr txBox="1"/>
          <p:nvPr/>
        </p:nvSpPr>
        <p:spPr>
          <a:xfrm>
            <a:off x="4572000" y="4160520"/>
            <a:ext cx="45720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2</a:t>
            </a:r>
            <a:endParaRPr lang="en-US" sz="1500" dirty="0"/>
          </a:p>
        </p:txBody>
      </p:sp>
      <p:sp>
        <p:nvSpPr>
          <p:cNvPr id="22" name="Text 19"/>
          <p:cNvSpPr txBox="1"/>
          <p:nvPr/>
        </p:nvSpPr>
        <p:spPr>
          <a:xfrm>
            <a:off x="4572000" y="4727448"/>
            <a:ext cx="3291840" cy="411480"/>
          </a:xfrm>
          <a:prstGeom prst="rect">
            <a:avLst/>
          </a:prstGeom>
          <a:noFill/>
          <a:ln/>
        </p:spPr>
        <p:txBody>
          <a:bodyPr wrap="square" lIns="0" tIns="0" rIns="0" bIns="0" rtlCol="0" anchor="ctr"/>
          <a:lstStyle/>
          <a:p>
            <a:pPr indent="0" marL="0">
              <a:buNone/>
            </a:pPr>
            <a:r>
              <a:rPr lang="en-US" sz="1250" b="1" dirty="0">
                <a:solidFill>
                  <a:srgbClr val="5B2D8E"/>
                </a:solidFill>
                <a:latin typeface="Calibri" pitchFamily="34" charset="0"/>
                <a:ea typeface="Calibri" pitchFamily="34" charset="-122"/>
                <a:cs typeface="Calibri" pitchFamily="34" charset="-120"/>
              </a:rPr>
              <a:t>Scalability</a:t>
            </a:r>
            <a:endParaRPr lang="en-US" sz="1250" dirty="0"/>
          </a:p>
        </p:txBody>
      </p:sp>
      <p:sp>
        <p:nvSpPr>
          <p:cNvPr id="23" name="Text 20"/>
          <p:cNvSpPr txBox="1"/>
          <p:nvPr/>
        </p:nvSpPr>
        <p:spPr>
          <a:xfrm>
            <a:off x="4572000" y="5120640"/>
            <a:ext cx="3291840" cy="1463040"/>
          </a:xfrm>
          <a:prstGeom prst="rect">
            <a:avLst/>
          </a:prstGeom>
          <a:noFill/>
          <a:ln/>
        </p:spPr>
        <p:txBody>
          <a:bodyPr wrap="square" lIns="0" tIns="0" rIns="0" bIns="0" rtlCol="0" anchor="t"/>
          <a:lstStyle/>
          <a:p>
            <a:pPr indent="0" marL="0">
              <a:lnSpc>
                <a:spcPct val="120000"/>
              </a:lnSpc>
              <a:buNone/>
            </a:pPr>
            <a:r>
              <a:rPr lang="en-US" sz="1050" dirty="0">
                <a:solidFill>
                  <a:srgbClr val="2A2A2A"/>
                </a:solidFill>
                <a:latin typeface="Calibri" pitchFamily="34" charset="0"/>
                <a:ea typeface="Calibri" pitchFamily="34" charset="-122"/>
                <a:cs typeface="Calibri" pitchFamily="34" charset="-120"/>
              </a:rPr>
              <a:t>Stateless Edge Functions + DB-assembled context scale horizontally with Supabase; new agents or roles extend, not redesign.</a:t>
            </a:r>
            <a:endParaRPr lang="en-US" sz="1050" dirty="0"/>
          </a:p>
        </p:txBody>
      </p:sp>
      <p:sp>
        <p:nvSpPr>
          <p:cNvPr id="24" name="Shape 21"/>
          <p:cNvSpPr/>
          <p:nvPr/>
        </p:nvSpPr>
        <p:spPr>
          <a:xfrm>
            <a:off x="8138160" y="4160520"/>
            <a:ext cx="457200" cy="457200"/>
          </a:xfrm>
          <a:prstGeom prst="ellipse">
            <a:avLst/>
          </a:prstGeom>
          <a:solidFill>
            <a:srgbClr val="F5C518"/>
          </a:solidFill>
          <a:ln/>
        </p:spPr>
      </p:sp>
      <p:sp>
        <p:nvSpPr>
          <p:cNvPr id="25" name="Text 22"/>
          <p:cNvSpPr txBox="1"/>
          <p:nvPr/>
        </p:nvSpPr>
        <p:spPr>
          <a:xfrm>
            <a:off x="8138160" y="4160520"/>
            <a:ext cx="45720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3</a:t>
            </a:r>
            <a:endParaRPr lang="en-US" sz="1500" dirty="0"/>
          </a:p>
        </p:txBody>
      </p:sp>
      <p:sp>
        <p:nvSpPr>
          <p:cNvPr id="26" name="Text 23"/>
          <p:cNvSpPr txBox="1"/>
          <p:nvPr/>
        </p:nvSpPr>
        <p:spPr>
          <a:xfrm>
            <a:off x="8138160" y="4727448"/>
            <a:ext cx="3291840" cy="411480"/>
          </a:xfrm>
          <a:prstGeom prst="rect">
            <a:avLst/>
          </a:prstGeom>
          <a:noFill/>
          <a:ln/>
        </p:spPr>
        <p:txBody>
          <a:bodyPr wrap="square" lIns="0" tIns="0" rIns="0" bIns="0" rtlCol="0" anchor="ctr"/>
          <a:lstStyle/>
          <a:p>
            <a:pPr indent="0" marL="0">
              <a:buNone/>
            </a:pPr>
            <a:r>
              <a:rPr lang="en-US" sz="1250" b="1" dirty="0">
                <a:solidFill>
                  <a:srgbClr val="5B2D8E"/>
                </a:solidFill>
                <a:latin typeface="Calibri" pitchFamily="34" charset="0"/>
                <a:ea typeface="Calibri" pitchFamily="34" charset="-122"/>
                <a:cs typeface="Calibri" pitchFamily="34" charset="-120"/>
              </a:rPr>
              <a:t>Real-world fit</a:t>
            </a:r>
            <a:endParaRPr lang="en-US" sz="1250" dirty="0"/>
          </a:p>
        </p:txBody>
      </p:sp>
      <p:sp>
        <p:nvSpPr>
          <p:cNvPr id="27" name="Text 24"/>
          <p:cNvSpPr txBox="1"/>
          <p:nvPr/>
        </p:nvSpPr>
        <p:spPr>
          <a:xfrm>
            <a:off x="8138160" y="5120640"/>
            <a:ext cx="3291840" cy="1463040"/>
          </a:xfrm>
          <a:prstGeom prst="rect">
            <a:avLst/>
          </a:prstGeom>
          <a:noFill/>
          <a:ln/>
        </p:spPr>
        <p:txBody>
          <a:bodyPr wrap="square" lIns="0" tIns="0" rIns="0" bIns="0" rtlCol="0" anchor="t"/>
          <a:lstStyle/>
          <a:p>
            <a:pPr indent="0" marL="0">
              <a:lnSpc>
                <a:spcPct val="120000"/>
              </a:lnSpc>
              <a:buNone/>
            </a:pPr>
            <a:r>
              <a:rPr lang="en-US" sz="1050" dirty="0">
                <a:solidFill>
                  <a:srgbClr val="2A2A2A"/>
                </a:solidFill>
                <a:latin typeface="Calibri" pitchFamily="34" charset="0"/>
                <a:ea typeface="Calibri" pitchFamily="34" charset="-122"/>
                <a:cs typeface="Calibri" pitchFamily="34" charset="-120"/>
              </a:rPr>
              <a:t>Gates mirror sign-offs that already exist informally — they make an existing process explicit and logged.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320040"/>
            <a:ext cx="914400" cy="914400"/>
          </a:xfrm>
          <a:prstGeom prst="ellipse">
            <a:avLst/>
          </a:prstGeom>
          <a:solidFill>
            <a:srgbClr val="F5C518"/>
          </a:solidFill>
          <a:ln/>
        </p:spPr>
      </p:sp>
      <p:sp>
        <p:nvSpPr>
          <p:cNvPr id="3" name="Text 1"/>
          <p:cNvSpPr txBox="1"/>
          <p:nvPr/>
        </p:nvSpPr>
        <p:spPr>
          <a:xfrm>
            <a:off x="411480" y="320040"/>
            <a:ext cx="914400" cy="914400"/>
          </a:xfrm>
          <a:prstGeom prst="rect">
            <a:avLst/>
          </a:prstGeom>
          <a:noFill/>
          <a:ln/>
        </p:spPr>
        <p:txBody>
          <a:bodyPr wrap="square" lIns="0" tIns="0" rIns="0" bIns="0" rtlCol="0" anchor="ctr"/>
          <a:lstStyle/>
          <a:p>
            <a:pPr algn="ctr" indent="0" marL="0">
              <a:buNone/>
            </a:pPr>
            <a:r>
              <a:rPr lang="en-US" sz="3000" b="1" dirty="0">
                <a:solidFill>
                  <a:srgbClr val="1A1A1A"/>
                </a:solidFill>
                <a:latin typeface="Calibri" pitchFamily="34" charset="0"/>
                <a:ea typeface="Calibri" pitchFamily="34" charset="-122"/>
                <a:cs typeface="Calibri" pitchFamily="34" charset="-120"/>
              </a:rPr>
              <a:t>13</a:t>
            </a:r>
            <a:endParaRPr lang="en-US" sz="3000" dirty="0"/>
          </a:p>
        </p:txBody>
      </p:sp>
      <p:sp>
        <p:nvSpPr>
          <p:cNvPr id="4" name="Text 2"/>
          <p:cNvSpPr txBox="1"/>
          <p:nvPr/>
        </p:nvSpPr>
        <p:spPr>
          <a:xfrm>
            <a:off x="1508760" y="301752"/>
            <a:ext cx="8503920" cy="685800"/>
          </a:xfrm>
          <a:prstGeom prst="rect">
            <a:avLst/>
          </a:prstGeom>
          <a:noFill/>
          <a:ln/>
        </p:spPr>
        <p:txBody>
          <a:bodyPr wrap="square" lIns="0" tIns="0" rIns="0" bIns="0" rtlCol="0" anchor="ctr"/>
          <a:lstStyle/>
          <a:p>
            <a:pPr indent="0" marL="0">
              <a:buNone/>
            </a:pPr>
            <a:r>
              <a:rPr lang="en-US" sz="2800" b="1" dirty="0">
                <a:solidFill>
                  <a:srgbClr val="5B2D8E"/>
                </a:solidFill>
                <a:latin typeface="Cambria" pitchFamily="34" charset="0"/>
                <a:ea typeface="Cambria" pitchFamily="34" charset="-122"/>
                <a:cs typeface="Cambria" pitchFamily="34" charset="-120"/>
              </a:rPr>
              <a:t>CONCLUSION AND FUTURE WORK</a:t>
            </a:r>
            <a:endParaRPr lang="en-US" sz="2800" dirty="0"/>
          </a:p>
        </p:txBody>
      </p:sp>
      <p:sp>
        <p:nvSpPr>
          <p:cNvPr id="5" name="Shape 3"/>
          <p:cNvSpPr/>
          <p:nvPr/>
        </p:nvSpPr>
        <p:spPr>
          <a:xfrm>
            <a:off x="1536192" y="987552"/>
            <a:ext cx="1920240" cy="0"/>
          </a:xfrm>
          <a:prstGeom prst="line">
            <a:avLst/>
          </a:prstGeom>
          <a:noFill/>
          <a:ln w="38100">
            <a:solidFill>
              <a:srgbClr val="F5C518"/>
            </a:solidFill>
            <a:prstDash val="solid"/>
          </a:ln>
        </p:spPr>
      </p:sp>
      <p:pic>
        <p:nvPicPr>
          <p:cNvPr id="6" name="Image 0" descr="/home/claude/ppt_nexus_style/assets/logopage-000.png">    </p:cNvPr>
          <p:cNvPicPr>
            <a:picLocks noChangeAspect="1"/>
          </p:cNvPicPr>
          <p:nvPr/>
        </p:nvPicPr>
        <p:blipFill>
          <a:blip r:embed="rId1"/>
          <a:stretch>
            <a:fillRect/>
          </a:stretch>
        </p:blipFill>
        <p:spPr>
          <a:xfrm>
            <a:off x="10149840" y="256032"/>
            <a:ext cx="1600200" cy="768096"/>
          </a:xfrm>
          <a:prstGeom prst="rect">
            <a:avLst/>
          </a:prstGeom>
        </p:spPr>
      </p:pic>
      <p:sp>
        <p:nvSpPr>
          <p:cNvPr id="7" name="Text 4"/>
          <p:cNvSpPr txBox="1"/>
          <p:nvPr/>
        </p:nvSpPr>
        <p:spPr>
          <a:xfrm>
            <a:off x="457200" y="6492240"/>
            <a:ext cx="2743200" cy="2743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Final review</a:t>
            </a:r>
            <a:endParaRPr lang="en-US" sz="1100" dirty="0"/>
          </a:p>
        </p:txBody>
      </p:sp>
      <p:sp>
        <p:nvSpPr>
          <p:cNvPr id="8" name="Text 5"/>
          <p:cNvSpPr txBox="1"/>
          <p:nvPr/>
        </p:nvSpPr>
        <p:spPr>
          <a:xfrm>
            <a:off x="6400800" y="6492240"/>
            <a:ext cx="5349240" cy="274320"/>
          </a:xfrm>
          <a:prstGeom prst="rect">
            <a:avLst/>
          </a:prstGeom>
          <a:noFill/>
          <a:ln/>
        </p:spPr>
        <p:txBody>
          <a:bodyPr wrap="square" lIns="0" tIns="0" rIns="0" bIns="0" rtlCol="0" anchor="ctr"/>
          <a:lstStyle/>
          <a:p>
            <a:pPr algn="r" indent="0" marL="0">
              <a:buNone/>
            </a:pPr>
            <a:r>
              <a:rPr lang="en-US" sz="1100" dirty="0">
                <a:solidFill>
                  <a:srgbClr val="1A1A1A"/>
                </a:solidFill>
                <a:latin typeface="Calibri" pitchFamily="34" charset="0"/>
                <a:ea typeface="Calibri" pitchFamily="34" charset="-122"/>
                <a:cs typeface="Calibri" pitchFamily="34" charset="-120"/>
              </a:rPr>
              <a:t>Department of Artificial Intelligence and Machine Learning</a:t>
            </a:r>
            <a:endParaRPr lang="en-US" sz="1100" dirty="0"/>
          </a:p>
        </p:txBody>
      </p:sp>
      <p:sp>
        <p:nvSpPr>
          <p:cNvPr id="9" name="Shape 6"/>
          <p:cNvSpPr/>
          <p:nvPr/>
        </p:nvSpPr>
        <p:spPr>
          <a:xfrm>
            <a:off x="548640" y="1600200"/>
            <a:ext cx="11064240" cy="4526280"/>
          </a:xfrm>
          <a:prstGeom prst="roundRect">
            <a:avLst>
              <a:gd name="adj" fmla="val 2020"/>
            </a:avLst>
          </a:prstGeom>
          <a:solidFill>
            <a:srgbClr val="3D1F63"/>
          </a:solidFill>
          <a:ln w="12700">
            <a:solidFill>
              <a:srgbClr val="E3DCEF"/>
            </a:solidFill>
            <a:prstDash val="solid"/>
          </a:ln>
        </p:spPr>
      </p:sp>
      <p:sp>
        <p:nvSpPr>
          <p:cNvPr id="10" name="Text 7"/>
          <p:cNvSpPr txBox="1"/>
          <p:nvPr/>
        </p:nvSpPr>
        <p:spPr>
          <a:xfrm>
            <a:off x="868680" y="1828800"/>
            <a:ext cx="10424160" cy="914400"/>
          </a:xfrm>
          <a:prstGeom prst="rect">
            <a:avLst/>
          </a:prstGeom>
          <a:noFill/>
          <a:ln/>
        </p:spPr>
        <p:txBody>
          <a:bodyPr wrap="square" lIns="0" tIns="0" rIns="0" bIns="0" rtlCol="0" anchor="t"/>
          <a:lstStyle/>
          <a:p>
            <a:pPr indent="0" marL="0">
              <a:lnSpc>
                <a:spcPct val="130000"/>
              </a:lnSpc>
              <a:buNone/>
            </a:pPr>
            <a:r>
              <a:rPr lang="en-US" sz="1350" i="1" dirty="0">
                <a:solidFill>
                  <a:srgbClr val="D9CCEC"/>
                </a:solidFill>
                <a:latin typeface="Calibri" pitchFamily="34" charset="0"/>
                <a:ea typeface="Calibri" pitchFamily="34" charset="-122"/>
                <a:cs typeface="Calibri" pitchFamily="34" charset="-120"/>
              </a:rPr>
              <a:t>The first working slice validates the core pattern end to end: a plain-English request flows through the Requirement and Design Agents and pauses correctly for human approval at Gate 1, with every step recorded for later traceability.</a:t>
            </a:r>
            <a:endParaRPr lang="en-US" sz="1350" dirty="0"/>
          </a:p>
        </p:txBody>
      </p:sp>
      <p:sp>
        <p:nvSpPr>
          <p:cNvPr id="11" name="Shape 8"/>
          <p:cNvSpPr/>
          <p:nvPr/>
        </p:nvSpPr>
        <p:spPr>
          <a:xfrm>
            <a:off x="868680" y="2880360"/>
            <a:ext cx="10424160" cy="3063240"/>
          </a:xfrm>
          <a:prstGeom prst="roundRect">
            <a:avLst>
              <a:gd name="adj" fmla="val 3582"/>
            </a:avLst>
          </a:prstGeom>
          <a:solidFill>
            <a:srgbClr val="4A2873"/>
          </a:solidFill>
          <a:ln/>
          <a:effectLst>
            <a:outerShdw sx="100000" sy="100000" kx="0" ky="0" algn="bl" rotWithShape="0" blurRad="6.144112485658443e+119" dist="2.0480374952194813e+119" dir="3.3161087958110005e+140">
              <a:srgbClr val="444444">
                <a:alpha val="1.800000000000001e+144"/>
              </a:srgbClr>
            </a:outerShdw>
          </a:effectLst>
        </p:spPr>
      </p:sp>
      <p:sp>
        <p:nvSpPr>
          <p:cNvPr id="12" name="Text 9"/>
          <p:cNvSpPr txBox="1"/>
          <p:nvPr/>
        </p:nvSpPr>
        <p:spPr>
          <a:xfrm>
            <a:off x="1097280" y="3063240"/>
            <a:ext cx="4572000" cy="365760"/>
          </a:xfrm>
          <a:prstGeom prst="rect">
            <a:avLst/>
          </a:prstGeom>
          <a:noFill/>
          <a:ln/>
        </p:spPr>
        <p:txBody>
          <a:bodyPr wrap="square" lIns="0" tIns="0" rIns="0" bIns="0" rtlCol="0" anchor="ctr"/>
          <a:lstStyle/>
          <a:p>
            <a:pPr indent="0" marL="0">
              <a:buNone/>
            </a:pPr>
            <a:r>
              <a:rPr lang="en-US" sz="1400" b="1" dirty="0">
                <a:solidFill>
                  <a:srgbClr val="F5C518"/>
                </a:solidFill>
                <a:latin typeface="Calibri" pitchFamily="34" charset="0"/>
                <a:ea typeface="Calibri" pitchFamily="34" charset="-122"/>
                <a:cs typeface="Calibri" pitchFamily="34" charset="-120"/>
              </a:rPr>
              <a:t>Future Work</a:t>
            </a:r>
            <a:endParaRPr lang="en-US" sz="1400" dirty="0"/>
          </a:p>
        </p:txBody>
      </p:sp>
      <p:sp>
        <p:nvSpPr>
          <p:cNvPr id="13" name="Text 10"/>
          <p:cNvSpPr txBox="1"/>
          <p:nvPr/>
        </p:nvSpPr>
        <p:spPr>
          <a:xfrm>
            <a:off x="1097280" y="3493008"/>
            <a:ext cx="9966960" cy="2286000"/>
          </a:xfrm>
          <a:prstGeom prst="rect">
            <a:avLst/>
          </a:prstGeom>
          <a:noFill/>
          <a:ln/>
        </p:spPr>
        <p:txBody>
          <a:bodyPr wrap="square" lIns="0" tIns="0" rIns="0" bIns="0" rtlCol="0" anchor="t"/>
          <a:lstStyle/>
          <a:p>
            <a:pPr marL="342900" indent="-342900">
              <a:lnSpc>
                <a:spcPct val="130000"/>
              </a:lnSpc>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Complete the Coding, Testing, Review and DevOps agents and Gates 2 &amp; 3 to close the loop to deployment</a:t>
            </a:r>
            <a:endParaRPr lang="en-US" sz="1300" dirty="0"/>
          </a:p>
          <a:p>
            <a:pPr marL="342900" indent="-342900">
              <a:lnSpc>
                <a:spcPct val="130000"/>
              </a:lnSpc>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Add a traceability graph view with export, and anomaly detection over the activity log</a:t>
            </a:r>
            <a:endParaRPr lang="en-US" sz="1300" dirty="0"/>
          </a:p>
          <a:p>
            <a:pPr marL="342900" indent="-342900">
              <a:lnSpc>
                <a:spcPct val="130000"/>
              </a:lnSpc>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Move shared-memory retrieval toward embedding-based similarity search as it grows</a:t>
            </a:r>
            <a:endParaRPr lang="en-US" sz="1300" dirty="0"/>
          </a:p>
          <a:p>
            <a:pPr marL="342900" indent="-342900">
              <a:lnSpc>
                <a:spcPct val="130000"/>
              </a:lnSpc>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Support multiple concurrent requests per project with design-conflict detection</a:t>
            </a:r>
            <a:endParaRPr lang="en-US" sz="1300" dirty="0"/>
          </a:p>
          <a:p>
            <a:pPr marL="342900" indent="-342900">
              <a:lnSpc>
                <a:spcPct val="130000"/>
              </a:lnSpc>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Pilot on a small real team to evaluate gate friction and traceability in practice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D1F63"/>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5C518"/>
          </a:solidFill>
          <a:ln/>
        </p:spPr>
      </p:sp>
      <p:sp>
        <p:nvSpPr>
          <p:cNvPr id="3" name="Shape 1"/>
          <p:cNvSpPr/>
          <p:nvPr/>
        </p:nvSpPr>
        <p:spPr>
          <a:xfrm>
            <a:off x="0" y="6693408"/>
            <a:ext cx="12191695" cy="164592"/>
          </a:xfrm>
          <a:prstGeom prst="rect">
            <a:avLst/>
          </a:prstGeom>
          <a:solidFill>
            <a:srgbClr val="F5C518"/>
          </a:solidFill>
          <a:ln/>
        </p:spPr>
      </p:sp>
      <p:pic>
        <p:nvPicPr>
          <p:cNvPr id="4" name="Image 0" descr="/home/claude/ppt_nexus_style/assets/logopage-000.png">    </p:cNvPr>
          <p:cNvPicPr>
            <a:picLocks noChangeAspect="1"/>
          </p:cNvPicPr>
          <p:nvPr/>
        </p:nvPicPr>
        <p:blipFill>
          <a:blip r:embed="rId1"/>
          <a:stretch>
            <a:fillRect/>
          </a:stretch>
        </p:blipFill>
        <p:spPr>
          <a:xfrm>
            <a:off x="9692640" y="457200"/>
            <a:ext cx="1920240" cy="914400"/>
          </a:xfrm>
          <a:prstGeom prst="rect">
            <a:avLst/>
          </a:prstGeom>
        </p:spPr>
      </p:pic>
      <p:sp>
        <p:nvSpPr>
          <p:cNvPr id="5" name="Text 2"/>
          <p:cNvSpPr txBox="1"/>
          <p:nvPr/>
        </p:nvSpPr>
        <p:spPr>
          <a:xfrm>
            <a:off x="731520" y="2651760"/>
            <a:ext cx="10058400" cy="109728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THANK YOU</a:t>
            </a:r>
            <a:endParaRPr lang="en-US" sz="5600" dirty="0"/>
          </a:p>
        </p:txBody>
      </p:sp>
      <p:sp>
        <p:nvSpPr>
          <p:cNvPr id="6" name="Shape 3"/>
          <p:cNvSpPr/>
          <p:nvPr/>
        </p:nvSpPr>
        <p:spPr>
          <a:xfrm>
            <a:off x="777240" y="3794760"/>
            <a:ext cx="2926080" cy="0"/>
          </a:xfrm>
          <a:prstGeom prst="line">
            <a:avLst/>
          </a:prstGeom>
          <a:noFill/>
          <a:ln w="38100">
            <a:solidFill>
              <a:srgbClr val="F5C518"/>
            </a:solidFill>
            <a:prstDash val="solid"/>
          </a:ln>
        </p:spPr>
      </p:sp>
      <p:sp>
        <p:nvSpPr>
          <p:cNvPr id="7" name="Text 4"/>
          <p:cNvSpPr txBox="1"/>
          <p:nvPr/>
        </p:nvSpPr>
        <p:spPr>
          <a:xfrm>
            <a:off x="731520" y="3977640"/>
            <a:ext cx="9144000" cy="457200"/>
          </a:xfrm>
          <a:prstGeom prst="rect">
            <a:avLst/>
          </a:prstGeom>
          <a:noFill/>
          <a:ln/>
        </p:spPr>
        <p:txBody>
          <a:bodyPr wrap="square" lIns="0" tIns="0" rIns="0" bIns="0" rtlCol="0" anchor="ctr"/>
          <a:lstStyle/>
          <a:p>
            <a:pPr indent="0" marL="0">
              <a:buNone/>
            </a:pPr>
            <a:r>
              <a:rPr lang="en-US" sz="1500" i="1" dirty="0">
                <a:solidFill>
                  <a:srgbClr val="D9CCEC"/>
                </a:solidFill>
                <a:latin typeface="Calibri" pitchFamily="34" charset="0"/>
                <a:ea typeface="Calibri" pitchFamily="34" charset="-122"/>
                <a:cs typeface="Calibri" pitchFamily="34" charset="-120"/>
              </a:rPr>
              <a:t>AgentFlow — A Multi-Agent System for the Software Development Lifecycle</a:t>
            </a:r>
            <a:endParaRPr lang="en-US" sz="1500" dirty="0"/>
          </a:p>
        </p:txBody>
      </p:sp>
      <p:sp>
        <p:nvSpPr>
          <p:cNvPr id="8" name="Text 5"/>
          <p:cNvSpPr txBox="1"/>
          <p:nvPr/>
        </p:nvSpPr>
        <p:spPr>
          <a:xfrm>
            <a:off x="731520" y="6035040"/>
            <a:ext cx="9144000" cy="365760"/>
          </a:xfrm>
          <a:prstGeom prst="rect">
            <a:avLst/>
          </a:prstGeom>
          <a:noFill/>
          <a:ln/>
        </p:spPr>
        <p:txBody>
          <a:bodyPr wrap="square" lIns="0" tIns="0" rIns="0" bIns="0" rtlCol="0" anchor="ctr"/>
          <a:lstStyle/>
          <a:p>
            <a:pPr indent="0" marL="0">
              <a:buNone/>
            </a:pPr>
            <a:r>
              <a:rPr lang="en-US" sz="1200" dirty="0">
                <a:solidFill>
                  <a:srgbClr val="C9B8E0"/>
                </a:solidFill>
                <a:latin typeface="Calibri" pitchFamily="34" charset="0"/>
                <a:ea typeface="Calibri" pitchFamily="34" charset="-122"/>
                <a:cs typeface="Calibri" pitchFamily="34" charset="-120"/>
              </a:rPr>
              <a:t>ISHANA SABRISH  ·  231501063  ·  Department of Artificial Intelligence and Machine Learning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2026-10-05T14:06:52Z</dcterms:created>
  <dcterms:modified xsi:type="dcterms:W3CDTF">2026-10-05T14:06:52Z</dcterms:modified>
</cp:coreProperties>
</file>